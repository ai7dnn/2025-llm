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1" r:id="rId17"/>
    <p:sldId id="270" r:id="rId18"/>
    <p:sldId id="272" r:id="rId19"/>
  </p:sldIdLst>
  <p:sldSz cx="12192000" cy="6927850"/>
  <p:notesSz cx="12192000" cy="6927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654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71499" y="0"/>
                </a:moveTo>
                <a:lnTo>
                  <a:pt x="0" y="0"/>
                </a:lnTo>
                <a:lnTo>
                  <a:pt x="0" y="571499"/>
                </a:lnTo>
                <a:lnTo>
                  <a:pt x="42039" y="569951"/>
                </a:lnTo>
                <a:lnTo>
                  <a:pt x="83855" y="565314"/>
                </a:lnTo>
                <a:lnTo>
                  <a:pt x="125219" y="557611"/>
                </a:lnTo>
                <a:lnTo>
                  <a:pt x="165898" y="546887"/>
                </a:lnTo>
                <a:lnTo>
                  <a:pt x="205674" y="533210"/>
                </a:lnTo>
                <a:lnTo>
                  <a:pt x="244347" y="516631"/>
                </a:lnTo>
                <a:lnTo>
                  <a:pt x="281694" y="497251"/>
                </a:lnTo>
                <a:lnTo>
                  <a:pt x="317510" y="475183"/>
                </a:lnTo>
                <a:lnTo>
                  <a:pt x="351602" y="450542"/>
                </a:lnTo>
                <a:lnTo>
                  <a:pt x="383797" y="423452"/>
                </a:lnTo>
                <a:lnTo>
                  <a:pt x="413911" y="394072"/>
                </a:lnTo>
                <a:lnTo>
                  <a:pt x="441775" y="362559"/>
                </a:lnTo>
                <a:lnTo>
                  <a:pt x="467246" y="329080"/>
                </a:lnTo>
                <a:lnTo>
                  <a:pt x="490191" y="293806"/>
                </a:lnTo>
                <a:lnTo>
                  <a:pt x="510479" y="256948"/>
                </a:lnTo>
                <a:lnTo>
                  <a:pt x="527997" y="218706"/>
                </a:lnTo>
                <a:lnTo>
                  <a:pt x="542654" y="179273"/>
                </a:lnTo>
                <a:lnTo>
                  <a:pt x="554373" y="138863"/>
                </a:lnTo>
                <a:lnTo>
                  <a:pt x="563086" y="97701"/>
                </a:lnTo>
                <a:lnTo>
                  <a:pt x="568746" y="56019"/>
                </a:lnTo>
                <a:lnTo>
                  <a:pt x="571327" y="14030"/>
                </a:lnTo>
                <a:lnTo>
                  <a:pt x="571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620499" y="6286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71499" y="0"/>
                </a:moveTo>
                <a:lnTo>
                  <a:pt x="529460" y="1548"/>
                </a:lnTo>
                <a:lnTo>
                  <a:pt x="487643" y="6183"/>
                </a:lnTo>
                <a:lnTo>
                  <a:pt x="446278" y="13884"/>
                </a:lnTo>
                <a:lnTo>
                  <a:pt x="405599" y="24606"/>
                </a:lnTo>
                <a:lnTo>
                  <a:pt x="365823" y="38291"/>
                </a:lnTo>
                <a:lnTo>
                  <a:pt x="327153" y="54869"/>
                </a:lnTo>
                <a:lnTo>
                  <a:pt x="289807" y="74244"/>
                </a:lnTo>
                <a:lnTo>
                  <a:pt x="253987" y="96311"/>
                </a:lnTo>
                <a:lnTo>
                  <a:pt x="219893" y="120954"/>
                </a:lnTo>
                <a:lnTo>
                  <a:pt x="187701" y="148045"/>
                </a:lnTo>
                <a:lnTo>
                  <a:pt x="157589" y="177429"/>
                </a:lnTo>
                <a:lnTo>
                  <a:pt x="129717" y="208944"/>
                </a:lnTo>
                <a:lnTo>
                  <a:pt x="104255" y="242420"/>
                </a:lnTo>
                <a:lnTo>
                  <a:pt x="81306" y="277687"/>
                </a:lnTo>
                <a:lnTo>
                  <a:pt x="61022" y="314549"/>
                </a:lnTo>
                <a:lnTo>
                  <a:pt x="43497" y="352797"/>
                </a:lnTo>
                <a:lnTo>
                  <a:pt x="28849" y="392224"/>
                </a:lnTo>
                <a:lnTo>
                  <a:pt x="17125" y="432634"/>
                </a:lnTo>
                <a:lnTo>
                  <a:pt x="8408" y="473798"/>
                </a:lnTo>
                <a:lnTo>
                  <a:pt x="2755" y="515481"/>
                </a:lnTo>
                <a:lnTo>
                  <a:pt x="171" y="557470"/>
                </a:lnTo>
                <a:lnTo>
                  <a:pt x="0" y="571499"/>
                </a:lnTo>
                <a:lnTo>
                  <a:pt x="571499" y="571499"/>
                </a:lnTo>
                <a:lnTo>
                  <a:pt x="571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2571" y="757300"/>
            <a:ext cx="7970520" cy="1090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56565"/>
                </a:solidFill>
                <a:latin typeface="Georgia"/>
                <a:cs typeface="Georgia"/>
              </a:defRPr>
            </a:lvl1pPr>
          </a:lstStyle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56565"/>
                </a:solidFill>
                <a:latin typeface="Georgia"/>
                <a:cs typeface="Georgia"/>
              </a:defRPr>
            </a:lvl1pPr>
          </a:lstStyle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35100" y="2270825"/>
            <a:ext cx="4111625" cy="360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35792" y="2269067"/>
            <a:ext cx="3715384" cy="4314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56565"/>
                </a:solidFill>
                <a:latin typeface="Georgia"/>
                <a:cs typeface="Georgia"/>
              </a:defRPr>
            </a:lvl1pPr>
          </a:lstStyle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56565"/>
                </a:solidFill>
                <a:latin typeface="Georgia"/>
                <a:cs typeface="Georgia"/>
              </a:defRPr>
            </a:lvl1pPr>
          </a:lstStyle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56565"/>
                </a:solidFill>
                <a:latin typeface="Georgia"/>
                <a:cs typeface="Georgia"/>
              </a:defRPr>
            </a:lvl1pPr>
          </a:lstStyle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300" y="525829"/>
            <a:ext cx="9350375" cy="1004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3925" y="1790700"/>
            <a:ext cx="10344150" cy="3971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41075" y="6474282"/>
            <a:ext cx="776604" cy="229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656565"/>
                </a:solidFill>
                <a:latin typeface="Georgia"/>
                <a:cs typeface="Georgia"/>
              </a:defRPr>
            </a:lvl1pPr>
          </a:lstStyle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‹#›</a:t>
            </a:fld>
            <a:r>
              <a:rPr spc="-20" dirty="0"/>
              <a:t>/18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5.png"/><Relationship Id="rId5" Type="http://schemas.openxmlformats.org/officeDocument/2006/relationships/image" Target="../media/image79.png"/><Relationship Id="rId4" Type="http://schemas.openxmlformats.org/officeDocument/2006/relationships/image" Target="../media/image8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300" dirty="0">
                <a:latin typeface="Californian FB"/>
                <a:cs typeface="Californian FB"/>
              </a:rPr>
              <a:t>AI</a:t>
            </a:r>
            <a:r>
              <a:rPr sz="6300" spc="-5" dirty="0">
                <a:latin typeface="Californian FB"/>
                <a:cs typeface="Californian FB"/>
              </a:rPr>
              <a:t> </a:t>
            </a:r>
            <a:r>
              <a:rPr sz="6950" spc="-1185" dirty="0"/>
              <a:t>활용</a:t>
            </a:r>
            <a:r>
              <a:rPr sz="6950" spc="-785" dirty="0"/>
              <a:t> </a:t>
            </a:r>
            <a:r>
              <a:rPr sz="6900" spc="-1185" dirty="0"/>
              <a:t>심</a:t>
            </a:r>
            <a:r>
              <a:rPr sz="6950" spc="-1185" dirty="0"/>
              <a:t>리치</a:t>
            </a:r>
            <a:r>
              <a:rPr sz="6900" spc="-1185" dirty="0"/>
              <a:t>료</a:t>
            </a:r>
            <a:r>
              <a:rPr sz="6900" spc="-770" dirty="0"/>
              <a:t> </a:t>
            </a:r>
            <a:r>
              <a:rPr sz="6950" spc="-1235" dirty="0"/>
              <a:t>서비스</a:t>
            </a:r>
            <a:endParaRPr sz="6950">
              <a:latin typeface="Californian FB"/>
              <a:cs typeface="Californian F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2571" y="3396289"/>
            <a:ext cx="4187825" cy="882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90"/>
              </a:spcBef>
            </a:pPr>
            <a:r>
              <a:rPr sz="2550" spc="-405" dirty="0">
                <a:latin typeface="Batang"/>
                <a:cs typeface="Batang"/>
              </a:rPr>
              <a:t>시공간의</a:t>
            </a:r>
            <a:r>
              <a:rPr sz="2550" spc="-260" dirty="0">
                <a:latin typeface="Batang"/>
                <a:cs typeface="Batang"/>
              </a:rPr>
              <a:t> </a:t>
            </a:r>
            <a:r>
              <a:rPr sz="2550" spc="-390" dirty="0">
                <a:latin typeface="Batang"/>
                <a:cs typeface="Batang"/>
              </a:rPr>
              <a:t>제약</a:t>
            </a:r>
            <a:r>
              <a:rPr sz="2550" spc="-254" dirty="0">
                <a:latin typeface="Batang"/>
                <a:cs typeface="Batang"/>
              </a:rPr>
              <a:t> </a:t>
            </a:r>
            <a:r>
              <a:rPr sz="2550" spc="-390" dirty="0">
                <a:latin typeface="Batang"/>
                <a:cs typeface="Batang"/>
              </a:rPr>
              <a:t>없이</a:t>
            </a:r>
            <a:r>
              <a:rPr sz="2550" spc="-250" dirty="0">
                <a:latin typeface="Batang"/>
                <a:cs typeface="Batang"/>
              </a:rPr>
              <a:t> </a:t>
            </a:r>
            <a:r>
              <a:rPr sz="2550" spc="-400" dirty="0">
                <a:latin typeface="Batang"/>
                <a:cs typeface="Batang"/>
              </a:rPr>
              <a:t>마음을</a:t>
            </a:r>
            <a:r>
              <a:rPr sz="2550" spc="-250" dirty="0">
                <a:latin typeface="Batang"/>
                <a:cs typeface="Batang"/>
              </a:rPr>
              <a:t> </a:t>
            </a:r>
            <a:r>
              <a:rPr sz="2500" spc="-405" dirty="0">
                <a:latin typeface="Batang"/>
                <a:cs typeface="Batang"/>
              </a:rPr>
              <a:t>돌</a:t>
            </a:r>
            <a:r>
              <a:rPr sz="2550" spc="-405" dirty="0">
                <a:latin typeface="Batang"/>
                <a:cs typeface="Batang"/>
              </a:rPr>
              <a:t>보는 </a:t>
            </a:r>
            <a:r>
              <a:rPr sz="2350" spc="-225" dirty="0">
                <a:latin typeface="Franklin Gothic Demi"/>
                <a:cs typeface="Franklin Gothic Demi"/>
              </a:rPr>
              <a:t>AI</a:t>
            </a:r>
            <a:r>
              <a:rPr sz="2550" spc="-225" dirty="0">
                <a:latin typeface="Batang"/>
                <a:cs typeface="Batang"/>
              </a:rPr>
              <a:t>기반</a:t>
            </a:r>
            <a:r>
              <a:rPr sz="2550" spc="-235" dirty="0">
                <a:latin typeface="Batang"/>
                <a:cs typeface="Batang"/>
              </a:rPr>
              <a:t> </a:t>
            </a:r>
            <a:r>
              <a:rPr sz="2550" spc="-405" dirty="0">
                <a:latin typeface="Batang"/>
                <a:cs typeface="Batang"/>
              </a:rPr>
              <a:t>심리상담</a:t>
            </a:r>
            <a:r>
              <a:rPr sz="2550" spc="-235" dirty="0">
                <a:latin typeface="Batang"/>
                <a:cs typeface="Batang"/>
              </a:rPr>
              <a:t> </a:t>
            </a:r>
            <a:r>
              <a:rPr sz="2550" spc="-405" dirty="0">
                <a:latin typeface="Batang"/>
                <a:cs typeface="Batang"/>
              </a:rPr>
              <a:t>플랫</a:t>
            </a:r>
            <a:r>
              <a:rPr sz="2500" spc="-405" dirty="0">
                <a:latin typeface="Batang"/>
                <a:cs typeface="Batang"/>
              </a:rPr>
              <a:t>폼</a:t>
            </a:r>
            <a:endParaRPr sz="2500">
              <a:latin typeface="Batang"/>
              <a:cs typeface="Batang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800" y="2057400"/>
            <a:ext cx="2286000" cy="2286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1</a:t>
            </a:fld>
            <a:r>
              <a:rPr spc="-20" dirty="0"/>
              <a:t>/18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FCA24E-15CD-4A3A-82BB-BEBB56BD2B78}"/>
              </a:ext>
            </a:extLst>
          </p:cNvPr>
          <p:cNvSpPr txBox="1"/>
          <p:nvPr/>
        </p:nvSpPr>
        <p:spPr>
          <a:xfrm>
            <a:off x="962571" y="5368925"/>
            <a:ext cx="467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20252364 </a:t>
            </a:r>
            <a:r>
              <a:rPr lang="ko-KR" altLang="en-US" dirty="0" err="1"/>
              <a:t>강한서</a:t>
            </a:r>
            <a:r>
              <a:rPr lang="ko-KR" altLang="en-US" dirty="0"/>
              <a:t> </a:t>
            </a:r>
            <a:r>
              <a:rPr lang="en-US" altLang="ko-KR" dirty="0"/>
              <a:t>20251236 </a:t>
            </a:r>
            <a:r>
              <a:rPr lang="ko-KR" altLang="en-US" dirty="0" err="1"/>
              <a:t>박주언</a:t>
            </a:r>
            <a:r>
              <a:rPr lang="ko-KR" altLang="en-US" dirty="0"/>
              <a:t> </a:t>
            </a:r>
            <a:r>
              <a:rPr lang="en-US" altLang="ko-KR" dirty="0"/>
              <a:t>C</a:t>
            </a:r>
            <a:r>
              <a:rPr lang="ko-KR" altLang="en-US" dirty="0"/>
              <a:t>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0499" y="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71499" y="0"/>
                </a:moveTo>
                <a:lnTo>
                  <a:pt x="0" y="0"/>
                </a:lnTo>
                <a:lnTo>
                  <a:pt x="171" y="14030"/>
                </a:lnTo>
                <a:lnTo>
                  <a:pt x="2755" y="56019"/>
                </a:lnTo>
                <a:lnTo>
                  <a:pt x="8408" y="97701"/>
                </a:lnTo>
                <a:lnTo>
                  <a:pt x="17125" y="138863"/>
                </a:lnTo>
                <a:lnTo>
                  <a:pt x="28849" y="179273"/>
                </a:lnTo>
                <a:lnTo>
                  <a:pt x="43497" y="218706"/>
                </a:lnTo>
                <a:lnTo>
                  <a:pt x="61022" y="256948"/>
                </a:lnTo>
                <a:lnTo>
                  <a:pt x="81306" y="293806"/>
                </a:lnTo>
                <a:lnTo>
                  <a:pt x="104255" y="329078"/>
                </a:lnTo>
                <a:lnTo>
                  <a:pt x="129717" y="362559"/>
                </a:lnTo>
                <a:lnTo>
                  <a:pt x="157589" y="394072"/>
                </a:lnTo>
                <a:lnTo>
                  <a:pt x="187701" y="423452"/>
                </a:lnTo>
                <a:lnTo>
                  <a:pt x="219893" y="450542"/>
                </a:lnTo>
                <a:lnTo>
                  <a:pt x="253987" y="475183"/>
                </a:lnTo>
                <a:lnTo>
                  <a:pt x="289807" y="497251"/>
                </a:lnTo>
                <a:lnTo>
                  <a:pt x="327153" y="516631"/>
                </a:lnTo>
                <a:lnTo>
                  <a:pt x="365823" y="533210"/>
                </a:lnTo>
                <a:lnTo>
                  <a:pt x="405599" y="546887"/>
                </a:lnTo>
                <a:lnTo>
                  <a:pt x="446278" y="557611"/>
                </a:lnTo>
                <a:lnTo>
                  <a:pt x="487643" y="565314"/>
                </a:lnTo>
                <a:lnTo>
                  <a:pt x="529460" y="569951"/>
                </a:lnTo>
                <a:lnTo>
                  <a:pt x="571499" y="571499"/>
                </a:lnTo>
                <a:lnTo>
                  <a:pt x="571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38175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0" y="476249"/>
                </a:lnTo>
                <a:lnTo>
                  <a:pt x="476249" y="476249"/>
                </a:lnTo>
                <a:lnTo>
                  <a:pt x="473957" y="429567"/>
                </a:lnTo>
                <a:lnTo>
                  <a:pt x="467097" y="383336"/>
                </a:lnTo>
                <a:lnTo>
                  <a:pt x="455742" y="337999"/>
                </a:lnTo>
                <a:lnTo>
                  <a:pt x="439995" y="293994"/>
                </a:lnTo>
                <a:lnTo>
                  <a:pt x="420013" y="251748"/>
                </a:lnTo>
                <a:lnTo>
                  <a:pt x="395987" y="211658"/>
                </a:lnTo>
                <a:lnTo>
                  <a:pt x="368146" y="174119"/>
                </a:lnTo>
                <a:lnTo>
                  <a:pt x="336758" y="139486"/>
                </a:lnTo>
                <a:lnTo>
                  <a:pt x="302130" y="108103"/>
                </a:lnTo>
                <a:lnTo>
                  <a:pt x="264591" y="80262"/>
                </a:lnTo>
                <a:lnTo>
                  <a:pt x="224501" y="56231"/>
                </a:lnTo>
                <a:lnTo>
                  <a:pt x="182255" y="36249"/>
                </a:lnTo>
                <a:lnTo>
                  <a:pt x="138245" y="20507"/>
                </a:lnTo>
                <a:lnTo>
                  <a:pt x="92913" y="9152"/>
                </a:lnTo>
                <a:lnTo>
                  <a:pt x="46682" y="2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0600" y="593725"/>
            <a:ext cx="9350375" cy="822833"/>
          </a:xfrm>
          <a:prstGeom prst="rect">
            <a:avLst/>
          </a:prstGeom>
        </p:spPr>
        <p:txBody>
          <a:bodyPr vert="horz" wrap="square" lIns="0" tIns="235755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25"/>
              </a:spcBef>
            </a:pPr>
            <a:r>
              <a:rPr lang="en-US" sz="3800" spc="894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 </a:t>
            </a:r>
            <a:r>
              <a:rPr sz="3800" spc="894" dirty="0" err="1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프로젝트</a:t>
            </a:r>
            <a:r>
              <a:rPr sz="3800" spc="30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 </a:t>
            </a:r>
            <a:r>
              <a:rPr sz="3800" spc="320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배경</a:t>
            </a:r>
            <a:r>
              <a:rPr sz="3800" spc="-355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 </a:t>
            </a:r>
            <a:r>
              <a:rPr sz="3800" spc="295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및</a:t>
            </a:r>
            <a:r>
              <a:rPr sz="3800" spc="-365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 </a:t>
            </a:r>
            <a:r>
              <a:rPr sz="3800" spc="630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필요성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  <a:cs typeface="Tahoma" panose="020B060403050404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4125" y="2286000"/>
            <a:ext cx="342900" cy="3429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85924" y="2886546"/>
            <a:ext cx="122555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125" dirty="0">
                <a:latin typeface="Batang"/>
                <a:cs typeface="Batang"/>
              </a:rPr>
              <a:t>사회</a:t>
            </a:r>
            <a:r>
              <a:rPr sz="1700" spc="125" dirty="0">
                <a:latin typeface="Batang"/>
                <a:cs typeface="Batang"/>
              </a:rPr>
              <a:t>적</a:t>
            </a:r>
            <a:r>
              <a:rPr sz="1700" spc="-114" dirty="0">
                <a:latin typeface="Batang"/>
                <a:cs typeface="Batang"/>
              </a:rPr>
              <a:t> </a:t>
            </a:r>
            <a:r>
              <a:rPr sz="1650" spc="110" dirty="0">
                <a:latin typeface="Batang"/>
                <a:cs typeface="Batang"/>
              </a:rPr>
              <a:t>배경</a:t>
            </a:r>
            <a:endParaRPr sz="1650">
              <a:latin typeface="Batang"/>
              <a:cs typeface="Batang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0780" y="3290570"/>
            <a:ext cx="2680335" cy="1663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27699"/>
              </a:lnSpc>
              <a:spcBef>
                <a:spcPts val="125"/>
              </a:spcBef>
            </a:pPr>
            <a:r>
              <a:rPr sz="1400" dirty="0">
                <a:latin typeface="Malgun Gothic"/>
                <a:cs typeface="Malgun Gothic"/>
              </a:rPr>
              <a:t>현대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사회는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스트레스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50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우울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불안 </a:t>
            </a:r>
            <a:r>
              <a:rPr sz="1400" dirty="0">
                <a:latin typeface="Malgun Gothic"/>
                <a:cs typeface="Malgun Gothic"/>
              </a:rPr>
              <a:t>등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다양한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정신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건강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문제의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증가 </a:t>
            </a:r>
            <a:r>
              <a:rPr sz="1400" dirty="0">
                <a:latin typeface="Malgun Gothic"/>
                <a:cs typeface="Malgun Gothic"/>
              </a:rPr>
              <a:t>를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겪고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있습니다</a:t>
            </a:r>
            <a:r>
              <a:rPr sz="1400" dirty="0">
                <a:latin typeface="Arial"/>
                <a:cs typeface="Arial"/>
              </a:rPr>
              <a:t>.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이러한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문제들 </a:t>
            </a:r>
            <a:r>
              <a:rPr sz="1400" dirty="0">
                <a:latin typeface="Malgun Gothic"/>
                <a:cs typeface="Malgun Gothic"/>
              </a:rPr>
              <a:t>은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개인의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삶의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질을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저하시킬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뿐 </a:t>
            </a:r>
            <a:r>
              <a:rPr sz="1400" dirty="0">
                <a:latin typeface="Malgun Gothic"/>
                <a:cs typeface="Malgun Gothic"/>
              </a:rPr>
              <a:t>만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아니라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사회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전반에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걸쳐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부정 </a:t>
            </a:r>
            <a:r>
              <a:rPr sz="1400" dirty="0">
                <a:latin typeface="Malgun Gothic"/>
                <a:cs typeface="Malgun Gothic"/>
              </a:rPr>
              <a:t>적인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영향을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미치고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있습니다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6925" y="2286000"/>
            <a:ext cx="428625" cy="3429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83072" y="2886546"/>
            <a:ext cx="122555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140" dirty="0">
                <a:latin typeface="Batang"/>
                <a:cs typeface="Batang"/>
              </a:rPr>
              <a:t>기</a:t>
            </a:r>
            <a:r>
              <a:rPr sz="1600" spc="140" dirty="0">
                <a:latin typeface="Batang"/>
                <a:cs typeface="Batang"/>
              </a:rPr>
              <a:t>술</a:t>
            </a:r>
            <a:r>
              <a:rPr sz="1700" spc="140" dirty="0">
                <a:latin typeface="Batang"/>
                <a:cs typeface="Batang"/>
              </a:rPr>
              <a:t>적</a:t>
            </a:r>
            <a:r>
              <a:rPr sz="1700" spc="-114" dirty="0">
                <a:latin typeface="Batang"/>
                <a:cs typeface="Batang"/>
              </a:rPr>
              <a:t> </a:t>
            </a:r>
            <a:r>
              <a:rPr sz="1650" spc="110" dirty="0">
                <a:latin typeface="Batang"/>
                <a:cs typeface="Batang"/>
              </a:rPr>
              <a:t>배경</a:t>
            </a:r>
            <a:endParaRPr sz="1650">
              <a:latin typeface="Batang"/>
              <a:cs typeface="Batang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17943" y="3290570"/>
            <a:ext cx="2710180" cy="1663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27699"/>
              </a:lnSpc>
              <a:spcBef>
                <a:spcPts val="125"/>
              </a:spcBef>
            </a:pPr>
            <a:r>
              <a:rPr sz="1400" dirty="0">
                <a:latin typeface="Malgun Gothic"/>
                <a:cs typeface="Malgun Gothic"/>
              </a:rPr>
              <a:t>최근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자연어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</a:t>
            </a:r>
            <a:r>
              <a:rPr sz="1400" dirty="0">
                <a:latin typeface="Arial"/>
                <a:cs typeface="Arial"/>
              </a:rPr>
              <a:t>(NLP)</a:t>
            </a:r>
            <a:r>
              <a:rPr sz="1400" spc="50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기술과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생 </a:t>
            </a:r>
            <a:r>
              <a:rPr sz="1400" dirty="0">
                <a:latin typeface="Malgun Gothic"/>
                <a:cs typeface="Malgun Gothic"/>
              </a:rPr>
              <a:t>성형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Arial"/>
                <a:cs typeface="Arial"/>
              </a:rPr>
              <a:t>AI</a:t>
            </a:r>
            <a:r>
              <a:rPr sz="1400" dirty="0">
                <a:latin typeface="Malgun Gothic"/>
                <a:cs typeface="Malgun Gothic"/>
              </a:rPr>
              <a:t>의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발전은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인간과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유사한 </a:t>
            </a:r>
            <a:r>
              <a:rPr sz="1400" dirty="0">
                <a:latin typeface="Malgun Gothic"/>
                <a:cs typeface="Malgun Gothic"/>
              </a:rPr>
              <a:t>자연스러운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대화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구현이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가능해지 </a:t>
            </a:r>
            <a:r>
              <a:rPr sz="1400" dirty="0">
                <a:latin typeface="Malgun Gothic"/>
                <a:cs typeface="Malgun Gothic"/>
              </a:rPr>
              <a:t>면서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심리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상담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분야에서의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활용 </a:t>
            </a:r>
            <a:r>
              <a:rPr sz="1400" dirty="0">
                <a:latin typeface="Malgun Gothic"/>
                <a:cs typeface="Malgun Gothic"/>
              </a:rPr>
              <a:t>가능성이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크게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부각되고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있습니 다</a:t>
            </a:r>
            <a:r>
              <a:rPr sz="1400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7350" y="2286000"/>
            <a:ext cx="428625" cy="3429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994673" y="2886322"/>
            <a:ext cx="99695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135" dirty="0">
                <a:latin typeface="Batang"/>
                <a:cs typeface="Batang"/>
              </a:rPr>
              <a:t>문</a:t>
            </a:r>
            <a:r>
              <a:rPr sz="1700" spc="135" dirty="0">
                <a:latin typeface="Batang"/>
                <a:cs typeface="Batang"/>
              </a:rPr>
              <a:t>제</a:t>
            </a:r>
            <a:r>
              <a:rPr sz="1700" spc="-114" dirty="0">
                <a:latin typeface="Batang"/>
                <a:cs typeface="Batang"/>
              </a:rPr>
              <a:t> </a:t>
            </a:r>
            <a:r>
              <a:rPr sz="1650" spc="80" dirty="0">
                <a:latin typeface="Batang"/>
                <a:cs typeface="Batang"/>
              </a:rPr>
              <a:t>인</a:t>
            </a:r>
            <a:r>
              <a:rPr sz="1700" spc="80" dirty="0">
                <a:latin typeface="Batang"/>
                <a:cs typeface="Batang"/>
              </a:rPr>
              <a:t>식</a:t>
            </a:r>
            <a:endParaRPr sz="1700">
              <a:latin typeface="Batang"/>
              <a:cs typeface="Batang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2</a:t>
            </a:fld>
            <a:r>
              <a:rPr spc="-20" dirty="0"/>
              <a:t>/18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15245" y="3290570"/>
            <a:ext cx="2629535" cy="1930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27200"/>
              </a:lnSpc>
              <a:spcBef>
                <a:spcPts val="130"/>
              </a:spcBef>
            </a:pPr>
            <a:r>
              <a:rPr sz="1400" dirty="0">
                <a:latin typeface="Malgun Gothic"/>
                <a:cs typeface="Malgun Gothic"/>
              </a:rPr>
              <a:t>기존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심리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상담의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높은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비용과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시 </a:t>
            </a:r>
            <a:r>
              <a:rPr sz="1400" dirty="0">
                <a:latin typeface="Malgun Gothic"/>
                <a:cs typeface="Malgun Gothic"/>
              </a:rPr>
              <a:t>간적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부담은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많은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사람들이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상담 </a:t>
            </a:r>
            <a:r>
              <a:rPr sz="1400" dirty="0">
                <a:latin typeface="Malgun Gothic"/>
                <a:cs typeface="Malgun Gothic"/>
              </a:rPr>
              <a:t>을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주저하게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만드는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요인입니다</a:t>
            </a:r>
            <a:r>
              <a:rPr sz="1400" spc="-10" dirty="0">
                <a:latin typeface="Arial"/>
                <a:cs typeface="Arial"/>
              </a:rPr>
              <a:t>. </a:t>
            </a:r>
            <a:r>
              <a:rPr sz="1400" dirty="0">
                <a:latin typeface="Arial"/>
                <a:cs typeface="Arial"/>
              </a:rPr>
              <a:t>AI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기반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심리케어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서비스는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Arial"/>
                <a:cs typeface="Arial"/>
              </a:rPr>
              <a:t>24</a:t>
            </a:r>
            <a:r>
              <a:rPr sz="1400" spc="-25" dirty="0">
                <a:latin typeface="Malgun Gothic"/>
                <a:cs typeface="Malgun Gothic"/>
              </a:rPr>
              <a:t>시 </a:t>
            </a:r>
            <a:r>
              <a:rPr sz="1400" dirty="0">
                <a:latin typeface="Malgun Gothic"/>
                <a:cs typeface="Malgun Gothic"/>
              </a:rPr>
              <a:t>간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언제든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어디서든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접근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가능한 </a:t>
            </a:r>
            <a:r>
              <a:rPr sz="1400" dirty="0">
                <a:latin typeface="Malgun Gothic"/>
                <a:cs typeface="Malgun Gothic"/>
              </a:rPr>
              <a:t>저비용의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상담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서비스를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제공할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9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있습니다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14375" cy="714375"/>
          </a:xfrm>
          <a:custGeom>
            <a:avLst/>
            <a:gdLst/>
            <a:ahLst/>
            <a:cxnLst/>
            <a:rect l="l" t="t" r="r" b="b"/>
            <a:pathLst>
              <a:path w="714375" h="714375">
                <a:moveTo>
                  <a:pt x="714374" y="0"/>
                </a:moveTo>
                <a:lnTo>
                  <a:pt x="0" y="0"/>
                </a:lnTo>
                <a:lnTo>
                  <a:pt x="0" y="714374"/>
                </a:lnTo>
                <a:lnTo>
                  <a:pt x="52546" y="712440"/>
                </a:lnTo>
                <a:lnTo>
                  <a:pt x="104819" y="706642"/>
                </a:lnTo>
                <a:lnTo>
                  <a:pt x="156526" y="697015"/>
                </a:lnTo>
                <a:lnTo>
                  <a:pt x="207371" y="683615"/>
                </a:lnTo>
                <a:lnTo>
                  <a:pt x="257093" y="666506"/>
                </a:lnTo>
                <a:lnTo>
                  <a:pt x="305435" y="645788"/>
                </a:lnTo>
                <a:lnTo>
                  <a:pt x="352117" y="621562"/>
                </a:lnTo>
                <a:lnTo>
                  <a:pt x="396885" y="593978"/>
                </a:lnTo>
                <a:lnTo>
                  <a:pt x="439502" y="563175"/>
                </a:lnTo>
                <a:lnTo>
                  <a:pt x="479745" y="529315"/>
                </a:lnTo>
                <a:lnTo>
                  <a:pt x="517386" y="492588"/>
                </a:lnTo>
                <a:lnTo>
                  <a:pt x="552216" y="453199"/>
                </a:lnTo>
                <a:lnTo>
                  <a:pt x="584058" y="411345"/>
                </a:lnTo>
                <a:lnTo>
                  <a:pt x="612740" y="367263"/>
                </a:lnTo>
                <a:lnTo>
                  <a:pt x="638101" y="321184"/>
                </a:lnTo>
                <a:lnTo>
                  <a:pt x="659998" y="273380"/>
                </a:lnTo>
                <a:lnTo>
                  <a:pt x="678315" y="224091"/>
                </a:lnTo>
                <a:lnTo>
                  <a:pt x="692965" y="173578"/>
                </a:lnTo>
                <a:lnTo>
                  <a:pt x="703857" y="122126"/>
                </a:lnTo>
                <a:lnTo>
                  <a:pt x="710937" y="70014"/>
                </a:lnTo>
                <a:lnTo>
                  <a:pt x="714160" y="17535"/>
                </a:lnTo>
                <a:lnTo>
                  <a:pt x="7143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20499" y="6286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71499" y="0"/>
                </a:moveTo>
                <a:lnTo>
                  <a:pt x="529460" y="1548"/>
                </a:lnTo>
                <a:lnTo>
                  <a:pt x="487643" y="6183"/>
                </a:lnTo>
                <a:lnTo>
                  <a:pt x="446278" y="13884"/>
                </a:lnTo>
                <a:lnTo>
                  <a:pt x="405599" y="24606"/>
                </a:lnTo>
                <a:lnTo>
                  <a:pt x="365823" y="38291"/>
                </a:lnTo>
                <a:lnTo>
                  <a:pt x="327153" y="54869"/>
                </a:lnTo>
                <a:lnTo>
                  <a:pt x="289807" y="74244"/>
                </a:lnTo>
                <a:lnTo>
                  <a:pt x="253987" y="96311"/>
                </a:lnTo>
                <a:lnTo>
                  <a:pt x="219893" y="120954"/>
                </a:lnTo>
                <a:lnTo>
                  <a:pt x="187701" y="148045"/>
                </a:lnTo>
                <a:lnTo>
                  <a:pt x="157589" y="177429"/>
                </a:lnTo>
                <a:lnTo>
                  <a:pt x="129717" y="208944"/>
                </a:lnTo>
                <a:lnTo>
                  <a:pt x="104255" y="242420"/>
                </a:lnTo>
                <a:lnTo>
                  <a:pt x="81306" y="277687"/>
                </a:lnTo>
                <a:lnTo>
                  <a:pt x="61022" y="314549"/>
                </a:lnTo>
                <a:lnTo>
                  <a:pt x="43497" y="352797"/>
                </a:lnTo>
                <a:lnTo>
                  <a:pt x="28849" y="392224"/>
                </a:lnTo>
                <a:lnTo>
                  <a:pt x="17125" y="432634"/>
                </a:lnTo>
                <a:lnTo>
                  <a:pt x="8408" y="473798"/>
                </a:lnTo>
                <a:lnTo>
                  <a:pt x="2755" y="515481"/>
                </a:lnTo>
                <a:lnTo>
                  <a:pt x="171" y="557470"/>
                </a:lnTo>
                <a:lnTo>
                  <a:pt x="0" y="571499"/>
                </a:lnTo>
                <a:lnTo>
                  <a:pt x="571499" y="571499"/>
                </a:lnTo>
                <a:lnTo>
                  <a:pt x="571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3453" y="526410"/>
            <a:ext cx="9350375" cy="822833"/>
          </a:xfrm>
          <a:prstGeom prst="rect">
            <a:avLst/>
          </a:prstGeom>
        </p:spPr>
        <p:txBody>
          <a:bodyPr vert="horz" wrap="square" lIns="0" tIns="235755" rIns="0" bIns="0" rtlCol="0">
            <a:spAutoFit/>
          </a:bodyPr>
          <a:lstStyle/>
          <a:p>
            <a:pPr marL="1436370">
              <a:lnSpc>
                <a:spcPct val="100000"/>
              </a:lnSpc>
              <a:spcBef>
                <a:spcPts val="125"/>
              </a:spcBef>
            </a:pPr>
            <a:r>
              <a:rPr lang="en-US" sz="3800" spc="1160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 </a:t>
            </a:r>
            <a:r>
              <a:rPr sz="3800" spc="1160" dirty="0" err="1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프로젝트</a:t>
            </a:r>
            <a:r>
              <a:rPr sz="3800" spc="25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 </a:t>
            </a:r>
            <a:r>
              <a:rPr sz="3800" spc="865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목표</a:t>
            </a:r>
            <a:r>
              <a:rPr sz="3800" spc="-40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 </a:t>
            </a:r>
            <a:r>
              <a:rPr sz="3800" spc="295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및</a:t>
            </a:r>
            <a:r>
              <a:rPr sz="3800" spc="-370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 </a:t>
            </a:r>
            <a:r>
              <a:rPr sz="3800" spc="480" dirty="0"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기대효과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  <a:cs typeface="Tahoma" panose="020B060403050404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085975"/>
            <a:ext cx="257175" cy="2571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01775" y="2048253"/>
            <a:ext cx="53975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320" dirty="0">
                <a:latin typeface="Batang"/>
                <a:cs typeface="Batang"/>
              </a:rPr>
              <a:t>목</a:t>
            </a:r>
            <a:r>
              <a:rPr sz="1500" spc="320" dirty="0">
                <a:latin typeface="Batang"/>
                <a:cs typeface="Batang"/>
              </a:rPr>
              <a:t>표</a:t>
            </a:r>
            <a:endParaRPr sz="1500">
              <a:latin typeface="Batang"/>
              <a:cs typeface="Batang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875" y="2733675"/>
            <a:ext cx="285750" cy="3048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92291" y="2509520"/>
            <a:ext cx="3766185" cy="1177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AI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300" spc="114" dirty="0">
                <a:latin typeface="Batang"/>
                <a:cs typeface="Batang"/>
              </a:rPr>
              <a:t>챗봇</a:t>
            </a:r>
            <a:r>
              <a:rPr sz="1300" spc="-30" dirty="0">
                <a:latin typeface="Batang"/>
                <a:cs typeface="Batang"/>
              </a:rPr>
              <a:t> </a:t>
            </a:r>
            <a:r>
              <a:rPr sz="1350" spc="40" dirty="0">
                <a:latin typeface="Batang"/>
                <a:cs typeface="Batang"/>
              </a:rPr>
              <a:t>개발</a:t>
            </a:r>
            <a:endParaRPr sz="135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0">
              <a:latin typeface="Batang"/>
              <a:cs typeface="Batang"/>
            </a:endParaRPr>
          </a:p>
          <a:p>
            <a:pPr marL="12700" marR="5080" algn="just">
              <a:lnSpc>
                <a:spcPct val="127200"/>
              </a:lnSpc>
            </a:pPr>
            <a:r>
              <a:rPr sz="1400" dirty="0">
                <a:latin typeface="Malgun Gothic"/>
                <a:cs typeface="Malgun Gothic"/>
              </a:rPr>
              <a:t>사용자와의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대화를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통해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감정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상태를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정확하게 </a:t>
            </a:r>
            <a:r>
              <a:rPr sz="1400" dirty="0">
                <a:latin typeface="Malgun Gothic"/>
                <a:cs typeface="Malgun Gothic"/>
              </a:rPr>
              <a:t>파악하고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50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이에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기반하여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위로와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조언을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제공하 </a:t>
            </a:r>
            <a:r>
              <a:rPr sz="1400" dirty="0">
                <a:latin typeface="Malgun Gothic"/>
                <a:cs typeface="Malgun Gothic"/>
              </a:rPr>
              <a:t>는</a:t>
            </a:r>
            <a:r>
              <a:rPr sz="1400" spc="-80" dirty="0">
                <a:latin typeface="Malgun Gothic"/>
                <a:cs typeface="Malgun Gothic"/>
              </a:rPr>
              <a:t> </a:t>
            </a:r>
            <a:r>
              <a:rPr sz="1400" dirty="0">
                <a:latin typeface="Arial"/>
                <a:cs typeface="Arial"/>
              </a:rPr>
              <a:t>AI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챗봇을</a:t>
            </a:r>
            <a:r>
              <a:rPr sz="1400" spc="-8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개발합니다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4450" y="4143375"/>
            <a:ext cx="228600" cy="3048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92291" y="3931346"/>
            <a:ext cx="3816350" cy="1165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350" spc="65" dirty="0">
                <a:latin typeface="Batang"/>
                <a:cs typeface="Batang"/>
              </a:rPr>
              <a:t>감정</a:t>
            </a:r>
            <a:r>
              <a:rPr sz="1350" spc="-55" dirty="0">
                <a:latin typeface="Batang"/>
                <a:cs typeface="Batang"/>
              </a:rPr>
              <a:t> </a:t>
            </a:r>
            <a:r>
              <a:rPr sz="1350" spc="90" dirty="0">
                <a:latin typeface="Batang"/>
                <a:cs typeface="Batang"/>
              </a:rPr>
              <a:t>변</a:t>
            </a:r>
            <a:r>
              <a:rPr sz="1300" spc="90" dirty="0">
                <a:latin typeface="Batang"/>
                <a:cs typeface="Batang"/>
              </a:rPr>
              <a:t>화</a:t>
            </a:r>
            <a:r>
              <a:rPr sz="1300" spc="-35" dirty="0">
                <a:latin typeface="Batang"/>
                <a:cs typeface="Batang"/>
              </a:rPr>
              <a:t> </a:t>
            </a:r>
            <a:r>
              <a:rPr sz="1300" spc="75" dirty="0">
                <a:latin typeface="Batang"/>
                <a:cs typeface="Batang"/>
              </a:rPr>
              <a:t>시</a:t>
            </a:r>
            <a:r>
              <a:rPr sz="1350" spc="75" dirty="0">
                <a:latin typeface="Batang"/>
                <a:cs typeface="Batang"/>
              </a:rPr>
              <a:t>각</a:t>
            </a:r>
            <a:r>
              <a:rPr sz="1300" spc="75" dirty="0">
                <a:latin typeface="Batang"/>
                <a:cs typeface="Batang"/>
              </a:rPr>
              <a:t>화</a:t>
            </a:r>
            <a:endParaRPr sz="13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50" dirty="0">
              <a:latin typeface="Batang"/>
              <a:cs typeface="Batang"/>
            </a:endParaRPr>
          </a:p>
          <a:p>
            <a:pPr marL="12700" marR="5080" algn="just">
              <a:lnSpc>
                <a:spcPct val="127200"/>
              </a:lnSpc>
            </a:pPr>
            <a:r>
              <a:rPr sz="1400" dirty="0">
                <a:latin typeface="Malgun Gothic"/>
                <a:cs typeface="Malgun Gothic"/>
              </a:rPr>
              <a:t>대화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기록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및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심리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검사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결과를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바탕으로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사용자 </a:t>
            </a:r>
            <a:r>
              <a:rPr sz="1400" dirty="0">
                <a:latin typeface="Malgun Gothic"/>
                <a:cs typeface="Malgun Gothic"/>
              </a:rPr>
              <a:t>의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감정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변화를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그래프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등의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형태로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시각화하여 제공합니다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4450" y="5553075"/>
            <a:ext cx="228600" cy="3048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92295" y="5342430"/>
            <a:ext cx="3685540" cy="1164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5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300" spc="114" dirty="0">
                <a:latin typeface="Batang"/>
                <a:cs typeface="Batang"/>
              </a:rPr>
              <a:t>자기</a:t>
            </a:r>
            <a:r>
              <a:rPr sz="1300" spc="-35" dirty="0">
                <a:latin typeface="Batang"/>
                <a:cs typeface="Batang"/>
              </a:rPr>
              <a:t> </a:t>
            </a:r>
            <a:r>
              <a:rPr sz="1300" spc="90" dirty="0">
                <a:latin typeface="Batang"/>
                <a:cs typeface="Batang"/>
              </a:rPr>
              <a:t>돌봄</a:t>
            </a:r>
            <a:r>
              <a:rPr sz="1300" spc="-35" dirty="0">
                <a:latin typeface="Batang"/>
                <a:cs typeface="Batang"/>
              </a:rPr>
              <a:t> </a:t>
            </a:r>
            <a:r>
              <a:rPr sz="1300" spc="180" dirty="0">
                <a:latin typeface="Batang"/>
                <a:cs typeface="Batang"/>
              </a:rPr>
              <a:t>콘텐츠</a:t>
            </a:r>
            <a:r>
              <a:rPr sz="1300" spc="35" dirty="0">
                <a:latin typeface="Batang"/>
                <a:cs typeface="Batang"/>
              </a:rPr>
              <a:t> </a:t>
            </a:r>
            <a:r>
              <a:rPr sz="1300" spc="65" dirty="0">
                <a:latin typeface="Batang"/>
                <a:cs typeface="Batang"/>
              </a:rPr>
              <a:t>제공</a:t>
            </a:r>
            <a:endParaRPr sz="13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50" dirty="0">
              <a:latin typeface="Batang"/>
              <a:cs typeface="Batang"/>
            </a:endParaRPr>
          </a:p>
          <a:p>
            <a:pPr marL="12700" marR="5080" algn="just">
              <a:lnSpc>
                <a:spcPct val="127200"/>
              </a:lnSpc>
              <a:spcBef>
                <a:spcPts val="5"/>
              </a:spcBef>
            </a:pPr>
            <a:r>
              <a:rPr sz="1400" dirty="0">
                <a:latin typeface="Malgun Gothic"/>
                <a:cs typeface="Malgun Gothic"/>
              </a:rPr>
              <a:t>스트레스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해소를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위한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명상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음악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추천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등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간단 </a:t>
            </a:r>
            <a:r>
              <a:rPr sz="1400" dirty="0">
                <a:latin typeface="Malgun Gothic"/>
                <a:cs typeface="Malgun Gothic"/>
              </a:rPr>
              <a:t>한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자기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돌봄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콘텐츠와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함께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개인별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맞춤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개선 </a:t>
            </a:r>
            <a:r>
              <a:rPr sz="1400" dirty="0">
                <a:latin typeface="Malgun Gothic"/>
                <a:cs typeface="Malgun Gothic"/>
              </a:rPr>
              <a:t>사항을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제안합니다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77000" y="2085975"/>
            <a:ext cx="285750" cy="25717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64350" y="2042727"/>
            <a:ext cx="105410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155" dirty="0">
                <a:latin typeface="Batang"/>
                <a:cs typeface="Batang"/>
              </a:rPr>
              <a:t>기대</a:t>
            </a:r>
            <a:r>
              <a:rPr sz="1650" spc="155" dirty="0">
                <a:latin typeface="Batang"/>
                <a:cs typeface="Batang"/>
              </a:rPr>
              <a:t>효</a:t>
            </a:r>
            <a:r>
              <a:rPr sz="1900" spc="155" dirty="0">
                <a:latin typeface="Batang"/>
                <a:cs typeface="Batang"/>
              </a:rPr>
              <a:t>과</a:t>
            </a:r>
            <a:endParaRPr sz="1900">
              <a:latin typeface="Batang"/>
              <a:cs typeface="Batang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38925" y="2733675"/>
            <a:ext cx="257175" cy="3048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226295" y="2509520"/>
            <a:ext cx="3816350" cy="1177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50" spc="75" dirty="0">
                <a:latin typeface="Batang"/>
                <a:cs typeface="Batang"/>
              </a:rPr>
              <a:t>저</a:t>
            </a:r>
            <a:r>
              <a:rPr sz="1300" spc="75" dirty="0">
                <a:latin typeface="Batang"/>
                <a:cs typeface="Batang"/>
              </a:rPr>
              <a:t>비용</a:t>
            </a:r>
            <a:r>
              <a:rPr sz="1400" b="1" spc="75" dirty="0">
                <a:latin typeface="Arial"/>
                <a:cs typeface="Arial"/>
              </a:rPr>
              <a:t>·</a:t>
            </a:r>
            <a:r>
              <a:rPr sz="1350" spc="75" dirty="0">
                <a:latin typeface="Batang"/>
                <a:cs typeface="Batang"/>
              </a:rPr>
              <a:t>고접</a:t>
            </a:r>
            <a:r>
              <a:rPr sz="1300" spc="75" dirty="0">
                <a:latin typeface="Batang"/>
                <a:cs typeface="Batang"/>
              </a:rPr>
              <a:t>근성</a:t>
            </a:r>
            <a:r>
              <a:rPr sz="1300" spc="-35" dirty="0">
                <a:latin typeface="Batang"/>
                <a:cs typeface="Batang"/>
              </a:rPr>
              <a:t> </a:t>
            </a:r>
            <a:r>
              <a:rPr sz="1350" spc="90" dirty="0">
                <a:latin typeface="Batang"/>
                <a:cs typeface="Batang"/>
              </a:rPr>
              <a:t>심</a:t>
            </a:r>
            <a:r>
              <a:rPr sz="1300" spc="90" dirty="0">
                <a:latin typeface="Batang"/>
                <a:cs typeface="Batang"/>
              </a:rPr>
              <a:t>리상</a:t>
            </a:r>
            <a:r>
              <a:rPr sz="1350" spc="90" dirty="0">
                <a:latin typeface="Batang"/>
                <a:cs typeface="Batang"/>
              </a:rPr>
              <a:t>담</a:t>
            </a:r>
            <a:r>
              <a:rPr sz="1350" spc="-50" dirty="0">
                <a:latin typeface="Batang"/>
                <a:cs typeface="Batang"/>
              </a:rPr>
              <a:t> </a:t>
            </a:r>
            <a:r>
              <a:rPr sz="1300" spc="90" dirty="0">
                <a:latin typeface="Batang"/>
                <a:cs typeface="Batang"/>
              </a:rPr>
              <a:t>서비스</a:t>
            </a:r>
            <a:endParaRPr sz="13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0">
              <a:latin typeface="Batang"/>
              <a:cs typeface="Batang"/>
            </a:endParaRPr>
          </a:p>
          <a:p>
            <a:pPr marL="12700" marR="5080">
              <a:lnSpc>
                <a:spcPct val="127200"/>
              </a:lnSpc>
            </a:pPr>
            <a:r>
              <a:rPr sz="1400" dirty="0">
                <a:latin typeface="Malgun Gothic"/>
                <a:cs typeface="Malgun Gothic"/>
              </a:rPr>
              <a:t>기존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상담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서비스의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비용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및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시간적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제약을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극복 </a:t>
            </a:r>
            <a:r>
              <a:rPr sz="1400" dirty="0">
                <a:latin typeface="Malgun Gothic"/>
                <a:cs typeface="Malgun Gothic"/>
              </a:rPr>
              <a:t>하여</a:t>
            </a:r>
            <a:r>
              <a:rPr sz="1400" spc="-7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누구나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쉽게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접근할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있는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심리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상담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서 </a:t>
            </a:r>
            <a:r>
              <a:rPr sz="1400" dirty="0">
                <a:latin typeface="Malgun Gothic"/>
                <a:cs typeface="Malgun Gothic"/>
              </a:rPr>
              <a:t>비스를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제공합니다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48450" y="4143375"/>
            <a:ext cx="228600" cy="3048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226296" y="3931346"/>
            <a:ext cx="3766185" cy="1165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350" spc="65" dirty="0">
                <a:latin typeface="Batang"/>
                <a:cs typeface="Batang"/>
              </a:rPr>
              <a:t>감정</a:t>
            </a:r>
            <a:r>
              <a:rPr sz="1350" spc="-65" dirty="0">
                <a:latin typeface="Batang"/>
                <a:cs typeface="Batang"/>
              </a:rPr>
              <a:t> </a:t>
            </a:r>
            <a:r>
              <a:rPr sz="1050" spc="240" dirty="0">
                <a:latin typeface="Batang"/>
                <a:cs typeface="Batang"/>
              </a:rPr>
              <a:t>표</a:t>
            </a:r>
            <a:r>
              <a:rPr sz="1300" spc="240" dirty="0">
                <a:latin typeface="Batang"/>
                <a:cs typeface="Batang"/>
              </a:rPr>
              <a:t>현</a:t>
            </a:r>
            <a:r>
              <a:rPr sz="1300" spc="-35" dirty="0">
                <a:latin typeface="Batang"/>
                <a:cs typeface="Batang"/>
              </a:rPr>
              <a:t> </a:t>
            </a:r>
            <a:r>
              <a:rPr sz="1350" spc="65" dirty="0">
                <a:latin typeface="Batang"/>
                <a:cs typeface="Batang"/>
              </a:rPr>
              <a:t>및</a:t>
            </a:r>
            <a:r>
              <a:rPr sz="1350" spc="-50" dirty="0">
                <a:latin typeface="Batang"/>
                <a:cs typeface="Batang"/>
              </a:rPr>
              <a:t> </a:t>
            </a:r>
            <a:r>
              <a:rPr sz="1300" spc="114" dirty="0">
                <a:latin typeface="Batang"/>
                <a:cs typeface="Batang"/>
              </a:rPr>
              <a:t>자기</a:t>
            </a:r>
            <a:r>
              <a:rPr sz="1300" spc="-35" dirty="0">
                <a:latin typeface="Batang"/>
                <a:cs typeface="Batang"/>
              </a:rPr>
              <a:t> </a:t>
            </a:r>
            <a:r>
              <a:rPr sz="1300" spc="90" dirty="0">
                <a:latin typeface="Batang"/>
                <a:cs typeface="Batang"/>
              </a:rPr>
              <a:t>이</a:t>
            </a:r>
            <a:r>
              <a:rPr sz="1350" spc="90" dirty="0">
                <a:latin typeface="Batang"/>
                <a:cs typeface="Batang"/>
              </a:rPr>
              <a:t>해</a:t>
            </a:r>
            <a:r>
              <a:rPr sz="1350" spc="-50" dirty="0">
                <a:latin typeface="Batang"/>
                <a:cs typeface="Batang"/>
              </a:rPr>
              <a:t> </a:t>
            </a:r>
            <a:r>
              <a:rPr sz="1300" spc="90" dirty="0">
                <a:latin typeface="Batang"/>
                <a:cs typeface="Batang"/>
              </a:rPr>
              <a:t>능</a:t>
            </a:r>
            <a:r>
              <a:rPr sz="1350" spc="90" dirty="0">
                <a:latin typeface="Batang"/>
                <a:cs typeface="Batang"/>
              </a:rPr>
              <a:t>력</a:t>
            </a:r>
            <a:r>
              <a:rPr sz="1350" spc="-50" dirty="0">
                <a:latin typeface="Batang"/>
                <a:cs typeface="Batang"/>
              </a:rPr>
              <a:t> </a:t>
            </a:r>
            <a:r>
              <a:rPr sz="1350" spc="65" dirty="0">
                <a:latin typeface="Batang"/>
                <a:cs typeface="Batang"/>
              </a:rPr>
              <a:t>향</a:t>
            </a:r>
            <a:r>
              <a:rPr sz="1300" spc="65" dirty="0">
                <a:latin typeface="Batang"/>
                <a:cs typeface="Batang"/>
              </a:rPr>
              <a:t>상</a:t>
            </a:r>
            <a:endParaRPr sz="13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50">
              <a:latin typeface="Batang"/>
              <a:cs typeface="Batang"/>
            </a:endParaRPr>
          </a:p>
          <a:p>
            <a:pPr marL="12700" marR="5080" algn="just">
              <a:lnSpc>
                <a:spcPct val="127200"/>
              </a:lnSpc>
            </a:pPr>
            <a:r>
              <a:rPr sz="1400" dirty="0">
                <a:latin typeface="Malgun Gothic"/>
                <a:cs typeface="Malgun Gothic"/>
              </a:rPr>
              <a:t>사용자가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자신의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감정을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자유롭게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표현하고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AI </a:t>
            </a:r>
            <a:r>
              <a:rPr sz="1400" dirty="0">
                <a:latin typeface="Malgun Gothic"/>
                <a:cs typeface="Malgun Gothic"/>
              </a:rPr>
              <a:t>의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피드백을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통해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자기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이해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능력을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향상시키는 </a:t>
            </a:r>
            <a:r>
              <a:rPr sz="1400" dirty="0">
                <a:latin typeface="Malgun Gothic"/>
                <a:cs typeface="Malgun Gothic"/>
              </a:rPr>
              <a:t>데</a:t>
            </a:r>
            <a:r>
              <a:rPr sz="1400" spc="-9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기여합니다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19875" y="5553075"/>
            <a:ext cx="285750" cy="3048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226300" y="5328920"/>
            <a:ext cx="3816350" cy="911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50" spc="65" dirty="0">
                <a:latin typeface="Batang"/>
                <a:cs typeface="Batang"/>
              </a:rPr>
              <a:t>학</a:t>
            </a:r>
            <a:r>
              <a:rPr sz="1300" spc="65" dirty="0">
                <a:latin typeface="Batang"/>
                <a:cs typeface="Batang"/>
              </a:rPr>
              <a:t>교</a:t>
            </a:r>
            <a:r>
              <a:rPr sz="1400" b="1" spc="65" dirty="0">
                <a:latin typeface="Arial"/>
                <a:cs typeface="Arial"/>
              </a:rPr>
              <a:t>·</a:t>
            </a:r>
            <a:r>
              <a:rPr sz="1300" spc="65" dirty="0">
                <a:latin typeface="Batang"/>
                <a:cs typeface="Batang"/>
              </a:rPr>
              <a:t>단체</a:t>
            </a:r>
            <a:r>
              <a:rPr sz="1300" spc="-30" dirty="0">
                <a:latin typeface="Batang"/>
                <a:cs typeface="Batang"/>
              </a:rPr>
              <a:t> </a:t>
            </a:r>
            <a:r>
              <a:rPr sz="1300" spc="114" dirty="0">
                <a:latin typeface="Batang"/>
                <a:cs typeface="Batang"/>
              </a:rPr>
              <a:t>멘탈케어</a:t>
            </a:r>
            <a:r>
              <a:rPr sz="1300" spc="-25" dirty="0">
                <a:latin typeface="Batang"/>
                <a:cs typeface="Batang"/>
              </a:rPr>
              <a:t> </a:t>
            </a:r>
            <a:r>
              <a:rPr sz="1300" spc="114" dirty="0">
                <a:latin typeface="Batang"/>
                <a:cs typeface="Batang"/>
              </a:rPr>
              <a:t>서비스</a:t>
            </a:r>
            <a:r>
              <a:rPr sz="1300" spc="-30" dirty="0">
                <a:latin typeface="Batang"/>
                <a:cs typeface="Batang"/>
              </a:rPr>
              <a:t> </a:t>
            </a:r>
            <a:r>
              <a:rPr sz="1300" spc="90" dirty="0">
                <a:latin typeface="Batang"/>
                <a:cs typeface="Batang"/>
              </a:rPr>
              <a:t>활용</a:t>
            </a:r>
            <a:endParaRPr sz="13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">
              <a:latin typeface="Batang"/>
              <a:cs typeface="Batang"/>
            </a:endParaRPr>
          </a:p>
          <a:p>
            <a:pPr marL="12700" marR="5080">
              <a:lnSpc>
                <a:spcPct val="129500"/>
              </a:lnSpc>
            </a:pPr>
            <a:r>
              <a:rPr sz="1400" dirty="0">
                <a:latin typeface="Malgun Gothic"/>
                <a:cs typeface="Malgun Gothic"/>
              </a:rPr>
              <a:t>학교나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기업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등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단체에서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구성원들의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멘탈케어 </a:t>
            </a:r>
            <a:r>
              <a:rPr sz="1400" dirty="0">
                <a:latin typeface="Malgun Gothic"/>
                <a:cs typeface="Malgun Gothic"/>
              </a:rPr>
              <a:t>를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위한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보조적인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서비스로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활용될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있습니다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3</a:t>
            </a:fld>
            <a:r>
              <a:rPr spc="-20" dirty="0"/>
              <a:t>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0499" y="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71499" y="0"/>
                </a:moveTo>
                <a:lnTo>
                  <a:pt x="0" y="0"/>
                </a:lnTo>
                <a:lnTo>
                  <a:pt x="171" y="14030"/>
                </a:lnTo>
                <a:lnTo>
                  <a:pt x="2755" y="56019"/>
                </a:lnTo>
                <a:lnTo>
                  <a:pt x="8408" y="97701"/>
                </a:lnTo>
                <a:lnTo>
                  <a:pt x="17125" y="138863"/>
                </a:lnTo>
                <a:lnTo>
                  <a:pt x="28849" y="179273"/>
                </a:lnTo>
                <a:lnTo>
                  <a:pt x="43497" y="218706"/>
                </a:lnTo>
                <a:lnTo>
                  <a:pt x="61022" y="256948"/>
                </a:lnTo>
                <a:lnTo>
                  <a:pt x="81306" y="293806"/>
                </a:lnTo>
                <a:lnTo>
                  <a:pt x="104255" y="329078"/>
                </a:lnTo>
                <a:lnTo>
                  <a:pt x="129717" y="362559"/>
                </a:lnTo>
                <a:lnTo>
                  <a:pt x="157589" y="394072"/>
                </a:lnTo>
                <a:lnTo>
                  <a:pt x="187701" y="423452"/>
                </a:lnTo>
                <a:lnTo>
                  <a:pt x="219893" y="450542"/>
                </a:lnTo>
                <a:lnTo>
                  <a:pt x="253987" y="475183"/>
                </a:lnTo>
                <a:lnTo>
                  <a:pt x="289807" y="497251"/>
                </a:lnTo>
                <a:lnTo>
                  <a:pt x="327153" y="516631"/>
                </a:lnTo>
                <a:lnTo>
                  <a:pt x="365823" y="533210"/>
                </a:lnTo>
                <a:lnTo>
                  <a:pt x="405599" y="546887"/>
                </a:lnTo>
                <a:lnTo>
                  <a:pt x="446278" y="557611"/>
                </a:lnTo>
                <a:lnTo>
                  <a:pt x="487643" y="565314"/>
                </a:lnTo>
                <a:lnTo>
                  <a:pt x="529460" y="569951"/>
                </a:lnTo>
                <a:lnTo>
                  <a:pt x="571499" y="571499"/>
                </a:lnTo>
                <a:lnTo>
                  <a:pt x="571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38175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0" y="476249"/>
                </a:lnTo>
                <a:lnTo>
                  <a:pt x="476249" y="476249"/>
                </a:lnTo>
                <a:lnTo>
                  <a:pt x="473957" y="429567"/>
                </a:lnTo>
                <a:lnTo>
                  <a:pt x="467097" y="383336"/>
                </a:lnTo>
                <a:lnTo>
                  <a:pt x="455742" y="337999"/>
                </a:lnTo>
                <a:lnTo>
                  <a:pt x="439995" y="293994"/>
                </a:lnTo>
                <a:lnTo>
                  <a:pt x="420013" y="251748"/>
                </a:lnTo>
                <a:lnTo>
                  <a:pt x="395987" y="211658"/>
                </a:lnTo>
                <a:lnTo>
                  <a:pt x="368146" y="174119"/>
                </a:lnTo>
                <a:lnTo>
                  <a:pt x="336758" y="139486"/>
                </a:lnTo>
                <a:lnTo>
                  <a:pt x="302130" y="108103"/>
                </a:lnTo>
                <a:lnTo>
                  <a:pt x="264591" y="80262"/>
                </a:lnTo>
                <a:lnTo>
                  <a:pt x="224501" y="56231"/>
                </a:lnTo>
                <a:lnTo>
                  <a:pt x="182255" y="36249"/>
                </a:lnTo>
                <a:lnTo>
                  <a:pt x="138245" y="20507"/>
                </a:lnTo>
                <a:lnTo>
                  <a:pt x="92913" y="9152"/>
                </a:lnTo>
                <a:lnTo>
                  <a:pt x="46682" y="2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96606" y="582359"/>
            <a:ext cx="9350375" cy="822833"/>
          </a:xfrm>
          <a:prstGeom prst="rect">
            <a:avLst/>
          </a:prstGeom>
        </p:spPr>
        <p:txBody>
          <a:bodyPr vert="horz" wrap="square" lIns="0" tIns="235755" rIns="0" bIns="0" rtlCol="0">
            <a:spAutoFit/>
          </a:bodyPr>
          <a:lstStyle/>
          <a:p>
            <a:pPr marL="1355725">
              <a:lnSpc>
                <a:spcPct val="100000"/>
              </a:lnSpc>
              <a:spcBef>
                <a:spcPts val="125"/>
              </a:spcBef>
            </a:pPr>
            <a:r>
              <a:rPr lang="en-US" sz="3800" spc="29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 </a:t>
            </a:r>
            <a:r>
              <a:rPr sz="3800" spc="295" dirty="0" err="1">
                <a:latin typeface="한컴산뜻돋움" panose="02000000000000000000" pitchFamily="2" charset="-127"/>
                <a:ea typeface="한컴산뜻돋움" panose="02000000000000000000" pitchFamily="2" charset="-127"/>
              </a:rPr>
              <a:t>핵심</a:t>
            </a:r>
            <a:r>
              <a:rPr sz="3800" spc="-37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34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아이디어</a:t>
            </a:r>
            <a:r>
              <a:rPr sz="3800" spc="-35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9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및</a:t>
            </a:r>
            <a:r>
              <a:rPr sz="3800" spc="-37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5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접근</a:t>
            </a:r>
            <a:r>
              <a:rPr sz="3800" spc="-204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7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방법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2147" y="1810385"/>
            <a:ext cx="840803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0" marR="5080" indent="-1403985">
              <a:lnSpc>
                <a:spcPct val="125000"/>
              </a:lnSpc>
              <a:spcBef>
                <a:spcPts val="100"/>
              </a:spcBef>
            </a:pPr>
            <a:r>
              <a:rPr sz="1650" dirty="0">
                <a:latin typeface="Malgun Gothic"/>
                <a:cs typeface="Malgun Gothic"/>
              </a:rPr>
              <a:t>본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dirty="0">
                <a:latin typeface="Malgun Gothic"/>
                <a:cs typeface="Malgun Gothic"/>
              </a:rPr>
              <a:t>프로젝트의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dirty="0">
                <a:latin typeface="Malgun Gothic"/>
                <a:cs typeface="Malgun Gothic"/>
              </a:rPr>
              <a:t>핵심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dirty="0">
                <a:latin typeface="Malgun Gothic"/>
                <a:cs typeface="Malgun Gothic"/>
              </a:rPr>
              <a:t>아이디어는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spc="-10" dirty="0">
                <a:latin typeface="Arial"/>
                <a:cs typeface="Arial"/>
              </a:rPr>
              <a:t>AI</a:t>
            </a:r>
            <a:r>
              <a:rPr sz="1650" spc="-10" dirty="0">
                <a:latin typeface="Malgun Gothic"/>
                <a:cs typeface="Malgun Gothic"/>
              </a:rPr>
              <a:t>가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dirty="0">
                <a:latin typeface="Malgun Gothic"/>
                <a:cs typeface="Malgun Gothic"/>
              </a:rPr>
              <a:t>사용자의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dirty="0">
                <a:latin typeface="Malgun Gothic"/>
                <a:cs typeface="Malgun Gothic"/>
              </a:rPr>
              <a:t>감정을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dirty="0">
                <a:latin typeface="Malgun Gothic"/>
                <a:cs typeface="Malgun Gothic"/>
              </a:rPr>
              <a:t>이해하고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dirty="0">
                <a:latin typeface="Malgun Gothic"/>
                <a:cs typeface="Malgun Gothic"/>
              </a:rPr>
              <a:t>공감하며</a:t>
            </a:r>
            <a:r>
              <a:rPr sz="1650" dirty="0">
                <a:latin typeface="Arial"/>
                <a:cs typeface="Arial"/>
              </a:rPr>
              <a:t>, </a:t>
            </a:r>
            <a:r>
              <a:rPr sz="1650" dirty="0">
                <a:latin typeface="Malgun Gothic"/>
                <a:cs typeface="Malgun Gothic"/>
              </a:rPr>
              <a:t>궁극적으로는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spc="-50" dirty="0">
                <a:latin typeface="Malgun Gothic"/>
                <a:cs typeface="Malgun Gothic"/>
              </a:rPr>
              <a:t>심 </a:t>
            </a:r>
            <a:r>
              <a:rPr sz="1650" dirty="0">
                <a:latin typeface="Malgun Gothic"/>
                <a:cs typeface="Malgun Gothic"/>
              </a:rPr>
              <a:t>리적</a:t>
            </a:r>
            <a:r>
              <a:rPr sz="1650" spc="-130" dirty="0">
                <a:latin typeface="Malgun Gothic"/>
                <a:cs typeface="Malgun Gothic"/>
              </a:rPr>
              <a:t> </a:t>
            </a:r>
            <a:r>
              <a:rPr sz="1650" dirty="0">
                <a:latin typeface="Malgun Gothic"/>
                <a:cs typeface="Malgun Gothic"/>
              </a:rPr>
              <a:t>회복을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dirty="0">
                <a:latin typeface="Malgun Gothic"/>
                <a:cs typeface="Malgun Gothic"/>
              </a:rPr>
              <a:t>돕는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dirty="0">
                <a:latin typeface="Arial"/>
                <a:cs typeface="Arial"/>
              </a:rPr>
              <a:t>'</a:t>
            </a:r>
            <a:r>
              <a:rPr sz="1650" dirty="0">
                <a:latin typeface="Malgun Gothic"/>
                <a:cs typeface="Malgun Gothic"/>
              </a:rPr>
              <a:t>디지털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dirty="0">
                <a:latin typeface="Malgun Gothic"/>
                <a:cs typeface="Malgun Gothic"/>
              </a:rPr>
              <a:t>상담사</a:t>
            </a:r>
            <a:r>
              <a:rPr sz="1650" dirty="0">
                <a:latin typeface="Arial"/>
                <a:cs typeface="Arial"/>
              </a:rPr>
              <a:t>' </a:t>
            </a:r>
            <a:r>
              <a:rPr sz="1650" dirty="0">
                <a:latin typeface="Malgun Gothic"/>
                <a:cs typeface="Malgun Gothic"/>
              </a:rPr>
              <a:t>역할을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dirty="0">
                <a:latin typeface="Malgun Gothic"/>
                <a:cs typeface="Malgun Gothic"/>
              </a:rPr>
              <a:t>수행하는</a:t>
            </a:r>
            <a:r>
              <a:rPr sz="1650" spc="-125" dirty="0">
                <a:latin typeface="Malgun Gothic"/>
                <a:cs typeface="Malgun Gothic"/>
              </a:rPr>
              <a:t> </a:t>
            </a:r>
            <a:r>
              <a:rPr sz="1650" spc="-10" dirty="0">
                <a:latin typeface="Malgun Gothic"/>
                <a:cs typeface="Malgun Gothic"/>
              </a:rPr>
              <a:t>것입니다</a:t>
            </a:r>
            <a:r>
              <a:rPr sz="1650" spc="-10" dirty="0">
                <a:latin typeface="Arial"/>
                <a:cs typeface="Arial"/>
              </a:rPr>
              <a:t>.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247" y="3158058"/>
            <a:ext cx="625475" cy="2901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100" dirty="0">
                <a:latin typeface="Comic Sans MS"/>
                <a:cs typeface="Comic Sans MS"/>
              </a:rPr>
              <a:t>4</a:t>
            </a:r>
            <a:r>
              <a:rPr sz="1650" spc="100" dirty="0">
                <a:latin typeface="Batang"/>
                <a:cs typeface="Batang"/>
              </a:rPr>
              <a:t>단계</a:t>
            </a:r>
            <a:endParaRPr sz="1650">
              <a:latin typeface="Batang"/>
              <a:cs typeface="Batang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8350" y="3657600"/>
            <a:ext cx="342900" cy="3429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531197" y="4246426"/>
            <a:ext cx="59690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70" dirty="0">
                <a:latin typeface="Batang"/>
                <a:cs typeface="Batang"/>
              </a:rPr>
              <a:t>시각화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88247" y="4585970"/>
            <a:ext cx="197103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대화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기록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및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감정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변화를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1F2937"/>
                </a:solidFill>
                <a:latin typeface="Malgun Gothic"/>
                <a:cs typeface="Malgun Gothic"/>
              </a:rPr>
              <a:t>시각적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으로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1F2937"/>
                </a:solidFill>
                <a:latin typeface="Malgun Gothic"/>
                <a:cs typeface="Malgun Gothic"/>
              </a:rPr>
              <a:t>보여줍니다</a:t>
            </a:r>
            <a:r>
              <a:rPr sz="1050" spc="-10" dirty="0">
                <a:solidFill>
                  <a:srgbClr val="1F2937"/>
                </a:solidFill>
                <a:latin typeface="Trebuchet MS"/>
                <a:cs typeface="Trebuchet MS"/>
              </a:rPr>
              <a:t>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0800" y="3158058"/>
            <a:ext cx="577850" cy="2901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65" dirty="0">
                <a:latin typeface="Comic Sans MS"/>
                <a:cs typeface="Comic Sans MS"/>
              </a:rPr>
              <a:t>1</a:t>
            </a:r>
            <a:r>
              <a:rPr sz="1650" spc="65" dirty="0">
                <a:latin typeface="Batang"/>
                <a:cs typeface="Batang"/>
              </a:rPr>
              <a:t>단계</a:t>
            </a:r>
            <a:endParaRPr sz="1650">
              <a:latin typeface="Batang"/>
              <a:cs typeface="Batang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1700" y="3657600"/>
            <a:ext cx="390525" cy="3429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40064" y="4246426"/>
            <a:ext cx="104457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110" dirty="0">
                <a:latin typeface="Batang"/>
                <a:cs typeface="Batang"/>
              </a:rPr>
              <a:t>사</a:t>
            </a:r>
            <a:r>
              <a:rPr sz="1350" spc="110" dirty="0">
                <a:latin typeface="Batang"/>
                <a:cs typeface="Batang"/>
              </a:rPr>
              <a:t>용</a:t>
            </a:r>
            <a:r>
              <a:rPr sz="1400" spc="110" dirty="0">
                <a:latin typeface="Batang"/>
                <a:cs typeface="Batang"/>
              </a:rPr>
              <a:t>자</a:t>
            </a:r>
            <a:r>
              <a:rPr sz="1400" spc="65" dirty="0">
                <a:latin typeface="Batang"/>
                <a:cs typeface="Batang"/>
              </a:rPr>
              <a:t> </a:t>
            </a:r>
            <a:r>
              <a:rPr sz="1400" spc="70" dirty="0">
                <a:latin typeface="Batang"/>
                <a:cs typeface="Batang"/>
              </a:rPr>
              <a:t>입력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0798" y="4585970"/>
            <a:ext cx="20199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사용자가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자신의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감정이나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1F2937"/>
                </a:solidFill>
                <a:latin typeface="Malgun Gothic"/>
                <a:cs typeface="Malgun Gothic"/>
              </a:rPr>
              <a:t>고민을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텍스트로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1F2937"/>
                </a:solidFill>
                <a:latin typeface="Malgun Gothic"/>
                <a:cs typeface="Malgun Gothic"/>
              </a:rPr>
              <a:t>입력합니다</a:t>
            </a:r>
            <a:r>
              <a:rPr sz="1050" spc="-10" dirty="0">
                <a:solidFill>
                  <a:srgbClr val="1F2937"/>
                </a:solidFill>
                <a:latin typeface="Trebuchet MS"/>
                <a:cs typeface="Trebuchet MS"/>
              </a:rPr>
              <a:t>.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09962" y="2952750"/>
            <a:ext cx="2557780" cy="2428875"/>
            <a:chOff x="3509962" y="2952750"/>
            <a:chExt cx="2557780" cy="242887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9962" y="3952875"/>
              <a:ext cx="142875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629025" y="2952750"/>
              <a:ext cx="2438400" cy="2428875"/>
            </a:xfrm>
            <a:custGeom>
              <a:avLst/>
              <a:gdLst/>
              <a:ahLst/>
              <a:cxnLst/>
              <a:rect l="l" t="t" r="r" b="b"/>
              <a:pathLst>
                <a:path w="2438400" h="2428875">
                  <a:moveTo>
                    <a:pt x="2331605" y="0"/>
                  </a:moveTo>
                  <a:lnTo>
                    <a:pt x="106794" y="0"/>
                  </a:lnTo>
                  <a:lnTo>
                    <a:pt x="99364" y="736"/>
                  </a:lnTo>
                  <a:lnTo>
                    <a:pt x="57035" y="15087"/>
                  </a:lnTo>
                  <a:lnTo>
                    <a:pt x="23431" y="44564"/>
                  </a:lnTo>
                  <a:lnTo>
                    <a:pt x="3657" y="84632"/>
                  </a:lnTo>
                  <a:lnTo>
                    <a:pt x="0" y="106794"/>
                  </a:lnTo>
                  <a:lnTo>
                    <a:pt x="0" y="2314575"/>
                  </a:lnTo>
                  <a:lnTo>
                    <a:pt x="0" y="2322080"/>
                  </a:lnTo>
                  <a:lnTo>
                    <a:pt x="11569" y="2365248"/>
                  </a:lnTo>
                  <a:lnTo>
                    <a:pt x="38785" y="2400706"/>
                  </a:lnTo>
                  <a:lnTo>
                    <a:pt x="77495" y="2423045"/>
                  </a:lnTo>
                  <a:lnTo>
                    <a:pt x="106794" y="2428875"/>
                  </a:lnTo>
                  <a:lnTo>
                    <a:pt x="2331605" y="2428875"/>
                  </a:lnTo>
                  <a:lnTo>
                    <a:pt x="2374773" y="2417305"/>
                  </a:lnTo>
                  <a:lnTo>
                    <a:pt x="2410231" y="2390089"/>
                  </a:lnTo>
                  <a:lnTo>
                    <a:pt x="2432570" y="2351379"/>
                  </a:lnTo>
                  <a:lnTo>
                    <a:pt x="2438400" y="2322080"/>
                  </a:lnTo>
                  <a:lnTo>
                    <a:pt x="2438400" y="106794"/>
                  </a:lnTo>
                  <a:lnTo>
                    <a:pt x="2426830" y="63627"/>
                  </a:lnTo>
                  <a:lnTo>
                    <a:pt x="2399614" y="28168"/>
                  </a:lnTo>
                  <a:lnTo>
                    <a:pt x="2360904" y="5829"/>
                  </a:lnTo>
                  <a:lnTo>
                    <a:pt x="2339035" y="736"/>
                  </a:lnTo>
                  <a:lnTo>
                    <a:pt x="2331605" y="0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09949" y="3158058"/>
            <a:ext cx="615950" cy="2901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75" dirty="0">
                <a:latin typeface="Comic Sans MS"/>
                <a:cs typeface="Comic Sans MS"/>
              </a:rPr>
              <a:t>2</a:t>
            </a:r>
            <a:r>
              <a:rPr sz="1650" spc="75" dirty="0">
                <a:latin typeface="Batang"/>
                <a:cs typeface="Batang"/>
              </a:rPr>
              <a:t>단계</a:t>
            </a:r>
            <a:endParaRPr sz="1650">
              <a:latin typeface="Batang"/>
              <a:cs typeface="Batang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76775" y="2952750"/>
            <a:ext cx="3886200" cy="2428875"/>
            <a:chOff x="4676775" y="2952750"/>
            <a:chExt cx="3886200" cy="242887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6775" y="3657600"/>
              <a:ext cx="342900" cy="3429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5987" y="4048125"/>
              <a:ext cx="142875" cy="2286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124575" y="2952750"/>
              <a:ext cx="2438400" cy="2428875"/>
            </a:xfrm>
            <a:custGeom>
              <a:avLst/>
              <a:gdLst/>
              <a:ahLst/>
              <a:cxnLst/>
              <a:rect l="l" t="t" r="r" b="b"/>
              <a:pathLst>
                <a:path w="2438400" h="2428875">
                  <a:moveTo>
                    <a:pt x="2331605" y="0"/>
                  </a:moveTo>
                  <a:lnTo>
                    <a:pt x="106794" y="0"/>
                  </a:lnTo>
                  <a:lnTo>
                    <a:pt x="99364" y="736"/>
                  </a:lnTo>
                  <a:lnTo>
                    <a:pt x="57035" y="15087"/>
                  </a:lnTo>
                  <a:lnTo>
                    <a:pt x="23431" y="44564"/>
                  </a:lnTo>
                  <a:lnTo>
                    <a:pt x="3657" y="84632"/>
                  </a:lnTo>
                  <a:lnTo>
                    <a:pt x="0" y="106794"/>
                  </a:lnTo>
                  <a:lnTo>
                    <a:pt x="0" y="2314575"/>
                  </a:lnTo>
                  <a:lnTo>
                    <a:pt x="0" y="2322080"/>
                  </a:lnTo>
                  <a:lnTo>
                    <a:pt x="11569" y="2365248"/>
                  </a:lnTo>
                  <a:lnTo>
                    <a:pt x="38785" y="2400706"/>
                  </a:lnTo>
                  <a:lnTo>
                    <a:pt x="77495" y="2423045"/>
                  </a:lnTo>
                  <a:lnTo>
                    <a:pt x="106794" y="2428875"/>
                  </a:lnTo>
                  <a:lnTo>
                    <a:pt x="2331605" y="2428875"/>
                  </a:lnTo>
                  <a:lnTo>
                    <a:pt x="2374773" y="2417305"/>
                  </a:lnTo>
                  <a:lnTo>
                    <a:pt x="2410231" y="2390089"/>
                  </a:lnTo>
                  <a:lnTo>
                    <a:pt x="2432570" y="2351379"/>
                  </a:lnTo>
                  <a:lnTo>
                    <a:pt x="2438400" y="2322080"/>
                  </a:lnTo>
                  <a:lnTo>
                    <a:pt x="2438400" y="106794"/>
                  </a:lnTo>
                  <a:lnTo>
                    <a:pt x="2426830" y="63627"/>
                  </a:lnTo>
                  <a:lnTo>
                    <a:pt x="2399614" y="28168"/>
                  </a:lnTo>
                  <a:lnTo>
                    <a:pt x="2360904" y="5829"/>
                  </a:lnTo>
                  <a:lnTo>
                    <a:pt x="2339035" y="736"/>
                  </a:lnTo>
                  <a:lnTo>
                    <a:pt x="2331605" y="0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424464" y="4246426"/>
            <a:ext cx="85407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95" dirty="0">
                <a:latin typeface="Batang"/>
                <a:cs typeface="Batang"/>
              </a:rPr>
              <a:t>감정</a:t>
            </a:r>
            <a:r>
              <a:rPr sz="1400" spc="60" dirty="0">
                <a:latin typeface="Batang"/>
                <a:cs typeface="Batang"/>
              </a:rPr>
              <a:t> </a:t>
            </a:r>
            <a:r>
              <a:rPr sz="1300" spc="120" dirty="0">
                <a:latin typeface="Batang"/>
                <a:cs typeface="Batang"/>
              </a:rPr>
              <a:t>분</a:t>
            </a:r>
            <a:r>
              <a:rPr sz="1400" spc="120" dirty="0">
                <a:latin typeface="Batang"/>
                <a:cs typeface="Batang"/>
              </a:rPr>
              <a:t>석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09949" y="4585970"/>
            <a:ext cx="206184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000"/>
              </a:lnSpc>
              <a:spcBef>
                <a:spcPts val="100"/>
              </a:spcBef>
            </a:pPr>
            <a:r>
              <a:rPr sz="1050" dirty="0">
                <a:solidFill>
                  <a:srgbClr val="1F2937"/>
                </a:solidFill>
                <a:latin typeface="Trebuchet MS"/>
                <a:cs typeface="Trebuchet MS"/>
              </a:rPr>
              <a:t>AI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가</a:t>
            </a:r>
            <a:r>
              <a:rPr sz="1050" spc="-1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입력된</a:t>
            </a:r>
            <a:r>
              <a:rPr sz="1050" spc="-1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텍스트를</a:t>
            </a:r>
            <a:r>
              <a:rPr sz="1050" spc="-1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분석하여</a:t>
            </a:r>
            <a:r>
              <a:rPr sz="1050" spc="-1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spc="-50" dirty="0">
                <a:solidFill>
                  <a:srgbClr val="1F2937"/>
                </a:solidFill>
                <a:latin typeface="Malgun Gothic"/>
                <a:cs typeface="Malgun Gothic"/>
              </a:rPr>
              <a:t>사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용자의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현재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감정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상태를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spc="-20" dirty="0">
                <a:solidFill>
                  <a:srgbClr val="1F2937"/>
                </a:solidFill>
                <a:latin typeface="Malgun Gothic"/>
                <a:cs typeface="Malgun Gothic"/>
              </a:rPr>
              <a:t>파악합니 </a:t>
            </a:r>
            <a:r>
              <a:rPr sz="1050" spc="-25" dirty="0">
                <a:solidFill>
                  <a:srgbClr val="1F2937"/>
                </a:solidFill>
                <a:latin typeface="Malgun Gothic"/>
                <a:cs typeface="Malgun Gothic"/>
              </a:rPr>
              <a:t>다</a:t>
            </a:r>
            <a:r>
              <a:rPr sz="1050" spc="-25" dirty="0">
                <a:solidFill>
                  <a:srgbClr val="1F2937"/>
                </a:solidFill>
                <a:latin typeface="Trebuchet MS"/>
                <a:cs typeface="Trebuchet MS"/>
              </a:rPr>
              <a:t>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99098" y="3158058"/>
            <a:ext cx="606425" cy="2901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50" dirty="0">
                <a:latin typeface="Comic Sans MS"/>
                <a:cs typeface="Comic Sans MS"/>
              </a:rPr>
              <a:t>3</a:t>
            </a:r>
            <a:r>
              <a:rPr sz="1650" spc="50" dirty="0">
                <a:latin typeface="Batang"/>
                <a:cs typeface="Batang"/>
              </a:rPr>
              <a:t>단계</a:t>
            </a:r>
            <a:endParaRPr sz="1650">
              <a:latin typeface="Batang"/>
              <a:cs typeface="Batang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124700" y="3657600"/>
            <a:ext cx="1510030" cy="619125"/>
            <a:chOff x="7124700" y="3657600"/>
            <a:chExt cx="1510030" cy="619125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24700" y="3657600"/>
              <a:ext cx="428625" cy="3429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91537" y="4048125"/>
              <a:ext cx="142875" cy="2286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299096" y="4235450"/>
            <a:ext cx="2061845" cy="947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1320">
              <a:lnSpc>
                <a:spcPct val="100000"/>
              </a:lnSpc>
              <a:spcBef>
                <a:spcPts val="100"/>
              </a:spcBef>
            </a:pPr>
            <a:r>
              <a:rPr sz="1350" spc="55" dirty="0">
                <a:latin typeface="Batang"/>
                <a:cs typeface="Batang"/>
              </a:rPr>
              <a:t>공</a:t>
            </a:r>
            <a:r>
              <a:rPr sz="1400" spc="55" dirty="0">
                <a:latin typeface="Batang"/>
                <a:cs typeface="Batang"/>
              </a:rPr>
              <a:t>감</a:t>
            </a:r>
            <a:r>
              <a:rPr sz="1500" b="1" spc="55" dirty="0">
                <a:latin typeface="Yu Gothic"/>
                <a:cs typeface="Yu Gothic"/>
              </a:rPr>
              <a:t>/</a:t>
            </a:r>
            <a:r>
              <a:rPr sz="1400" spc="55" dirty="0">
                <a:latin typeface="Batang"/>
                <a:cs typeface="Batang"/>
              </a:rPr>
              <a:t>조</a:t>
            </a:r>
            <a:r>
              <a:rPr sz="1350" spc="55" dirty="0">
                <a:latin typeface="Batang"/>
                <a:cs typeface="Batang"/>
              </a:rPr>
              <a:t>언</a:t>
            </a:r>
            <a:r>
              <a:rPr sz="1350" spc="85" dirty="0">
                <a:latin typeface="Batang"/>
                <a:cs typeface="Batang"/>
              </a:rPr>
              <a:t> </a:t>
            </a:r>
            <a:r>
              <a:rPr sz="1400" spc="70" dirty="0">
                <a:latin typeface="Batang"/>
                <a:cs typeface="Batang"/>
              </a:rPr>
              <a:t>생성</a:t>
            </a:r>
            <a:endParaRPr sz="14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50">
              <a:latin typeface="Batang"/>
              <a:cs typeface="Batang"/>
            </a:endParaRPr>
          </a:p>
          <a:p>
            <a:pPr marL="12700" marR="5080">
              <a:lnSpc>
                <a:spcPct val="119000"/>
              </a:lnSpc>
            </a:pP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분석된</a:t>
            </a:r>
            <a:r>
              <a:rPr sz="1050" spc="-5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감정을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바탕으로</a:t>
            </a:r>
            <a:r>
              <a:rPr sz="1050" spc="-4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spc="-20" dirty="0">
                <a:solidFill>
                  <a:srgbClr val="1F2937"/>
                </a:solidFill>
                <a:latin typeface="Malgun Gothic"/>
                <a:cs typeface="Malgun Gothic"/>
              </a:rPr>
              <a:t>공감하고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위로하며</a:t>
            </a:r>
            <a:r>
              <a:rPr sz="1050" dirty="0">
                <a:solidFill>
                  <a:srgbClr val="1F2937"/>
                </a:solidFill>
                <a:latin typeface="Trebuchet MS"/>
                <a:cs typeface="Trebuchet MS"/>
              </a:rPr>
              <a:t>,</a:t>
            </a:r>
            <a:r>
              <a:rPr sz="1050" spc="-5" dirty="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적절한</a:t>
            </a:r>
            <a:r>
              <a:rPr sz="1050" spc="-60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1F2937"/>
                </a:solidFill>
                <a:latin typeface="Malgun Gothic"/>
                <a:cs typeface="Malgun Gothic"/>
              </a:rPr>
              <a:t>조언을</a:t>
            </a:r>
            <a:r>
              <a:rPr sz="1050" spc="-55" dirty="0">
                <a:solidFill>
                  <a:srgbClr val="1F2937"/>
                </a:solidFill>
                <a:latin typeface="Malgun Gothic"/>
                <a:cs typeface="Malgun Gothic"/>
              </a:rPr>
              <a:t> </a:t>
            </a:r>
            <a:r>
              <a:rPr sz="1050" spc="-20" dirty="0">
                <a:solidFill>
                  <a:srgbClr val="1F2937"/>
                </a:solidFill>
                <a:latin typeface="Malgun Gothic"/>
                <a:cs typeface="Malgun Gothic"/>
              </a:rPr>
              <a:t>생성하여 </a:t>
            </a:r>
            <a:r>
              <a:rPr sz="1050" spc="-10" dirty="0">
                <a:solidFill>
                  <a:srgbClr val="1F2937"/>
                </a:solidFill>
                <a:latin typeface="Malgun Gothic"/>
                <a:cs typeface="Malgun Gothic"/>
              </a:rPr>
              <a:t>제공합니다</a:t>
            </a:r>
            <a:r>
              <a:rPr sz="1050" spc="-10" dirty="0">
                <a:solidFill>
                  <a:srgbClr val="1F2937"/>
                </a:solidFill>
                <a:latin typeface="Trebuchet MS"/>
                <a:cs typeface="Trebuchet MS"/>
              </a:rPr>
              <a:t>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4</a:t>
            </a:fld>
            <a:r>
              <a:rPr spc="-20" dirty="0"/>
              <a:t>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9500" y="0"/>
            <a:ext cx="952500" cy="952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143625"/>
            <a:ext cx="714375" cy="7143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3400" y="568325"/>
            <a:ext cx="9350375" cy="6001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89020">
              <a:lnSpc>
                <a:spcPct val="100000"/>
              </a:lnSpc>
              <a:spcBef>
                <a:spcPts val="120"/>
              </a:spcBef>
            </a:pPr>
            <a:r>
              <a:rPr sz="3800" spc="229" dirty="0" err="1">
                <a:latin typeface="한컴산뜻돋움" panose="02000000000000000000" pitchFamily="2" charset="-127"/>
                <a:ea typeface="한컴산뜻돋움" panose="02000000000000000000" pitchFamily="2" charset="-127"/>
              </a:rPr>
              <a:t>적용</a:t>
            </a:r>
            <a:r>
              <a:rPr sz="3800" spc="-27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85" dirty="0">
                <a:latin typeface="한컴산뜻돋움" panose="02000000000000000000" pitchFamily="2" charset="-127"/>
                <a:ea typeface="한컴산뜻돋움" panose="02000000000000000000" pitchFamily="2" charset="-127"/>
                <a:cs typeface="Microsoft YaHei"/>
              </a:rPr>
              <a:t>AI</a:t>
            </a:r>
            <a:r>
              <a:rPr sz="3800" spc="-170" dirty="0">
                <a:latin typeface="한컴산뜻돋움" panose="02000000000000000000" pitchFamily="2" charset="-127"/>
                <a:ea typeface="한컴산뜻돋움" panose="02000000000000000000" pitchFamily="2" charset="-127"/>
                <a:cs typeface="Microsoft YaHei"/>
              </a:rPr>
              <a:t> </a:t>
            </a:r>
            <a:r>
              <a:rPr sz="3800" spc="27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기술</a:t>
            </a:r>
            <a:r>
              <a:rPr sz="3800" spc="-254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4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개요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  <a:cs typeface="Microsoft YaHe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1350" y="1752600"/>
            <a:ext cx="342900" cy="3429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4239" y="2234247"/>
            <a:ext cx="4697730" cy="10763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30"/>
              </a:spcBef>
            </a:pPr>
            <a:r>
              <a:rPr sz="1550" spc="110" dirty="0">
                <a:latin typeface="Batang"/>
                <a:cs typeface="Batang"/>
              </a:rPr>
              <a:t>자</a:t>
            </a:r>
            <a:r>
              <a:rPr sz="1500" spc="110" dirty="0">
                <a:latin typeface="Batang"/>
                <a:cs typeface="Batang"/>
              </a:rPr>
              <a:t>연</a:t>
            </a:r>
            <a:r>
              <a:rPr sz="1550" spc="110" dirty="0">
                <a:latin typeface="Batang"/>
                <a:cs typeface="Batang"/>
              </a:rPr>
              <a:t>어</a:t>
            </a:r>
            <a:r>
              <a:rPr sz="1550" spc="-140" dirty="0">
                <a:latin typeface="Batang"/>
                <a:cs typeface="Batang"/>
              </a:rPr>
              <a:t> </a:t>
            </a:r>
            <a:r>
              <a:rPr sz="1550" spc="90" dirty="0">
                <a:latin typeface="Batang"/>
                <a:cs typeface="Batang"/>
              </a:rPr>
              <a:t>처리</a:t>
            </a:r>
            <a:r>
              <a:rPr sz="1550" spc="-140" dirty="0">
                <a:latin typeface="Batang"/>
                <a:cs typeface="Batang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(NLP)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5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25000"/>
              </a:lnSpc>
            </a:pP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사용자의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입력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텍스트에서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감정과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의도를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분석하는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데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Malgun Gothic"/>
                <a:cs typeface="Malgun Gothic"/>
              </a:rPr>
              <a:t>사용됩니다</a:t>
            </a:r>
            <a:r>
              <a:rPr sz="1200" spc="-10" dirty="0">
                <a:solidFill>
                  <a:srgbClr val="1B1B1B"/>
                </a:solidFill>
                <a:latin typeface="Arial"/>
                <a:cs typeface="Arial"/>
              </a:rPr>
              <a:t>. </a:t>
            </a:r>
            <a:r>
              <a:rPr sz="1200" spc="-25" dirty="0">
                <a:solidFill>
                  <a:srgbClr val="1B1B1B"/>
                </a:solidFill>
                <a:latin typeface="Arial"/>
                <a:cs typeface="Arial"/>
              </a:rPr>
              <a:t>KoBERT,</a:t>
            </a:r>
            <a:r>
              <a:rPr sz="1200" spc="1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Arial"/>
                <a:cs typeface="Arial"/>
              </a:rPr>
              <a:t>HuggingFace</a:t>
            </a:r>
            <a:r>
              <a:rPr sz="1200" spc="-10" dirty="0">
                <a:solidFill>
                  <a:srgbClr val="1B1B1B"/>
                </a:solidFill>
                <a:latin typeface="Malgun Gothic"/>
                <a:cs typeface="Malgun Gothic"/>
              </a:rPr>
              <a:t>에서</a:t>
            </a:r>
            <a:r>
              <a:rPr sz="1200" spc="-8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제공하는</a:t>
            </a:r>
            <a:r>
              <a:rPr sz="1200" spc="-8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사전</a:t>
            </a:r>
            <a:r>
              <a:rPr sz="1200" spc="-8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학습된</a:t>
            </a:r>
            <a:r>
              <a:rPr sz="1200" spc="-8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모델들을</a:t>
            </a:r>
            <a:r>
              <a:rPr sz="1200" spc="-8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1B1B1B"/>
                </a:solidFill>
                <a:latin typeface="Malgun Gothic"/>
                <a:cs typeface="Malgun Gothic"/>
              </a:rPr>
              <a:t>활용하여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한국어</a:t>
            </a:r>
            <a:r>
              <a:rPr sz="1200" spc="-10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텍스트의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감정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분류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및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의미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분석을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Malgun Gothic"/>
                <a:cs typeface="Malgun Gothic"/>
              </a:rPr>
              <a:t>수행합니다</a:t>
            </a:r>
            <a:r>
              <a:rPr sz="1200" spc="-10" dirty="0">
                <a:solidFill>
                  <a:srgbClr val="1B1B1B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29650" y="1752600"/>
            <a:ext cx="428625" cy="3429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23532" y="2234247"/>
            <a:ext cx="4631690" cy="10763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30"/>
              </a:spcBef>
            </a:pPr>
            <a:r>
              <a:rPr sz="1550" spc="90" dirty="0">
                <a:latin typeface="Batang"/>
                <a:cs typeface="Batang"/>
              </a:rPr>
              <a:t>생성형</a:t>
            </a:r>
            <a:r>
              <a:rPr sz="1550" spc="-140" dirty="0">
                <a:latin typeface="Batang"/>
                <a:cs typeface="Batang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AI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5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25000"/>
              </a:lnSpc>
            </a:pP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사용자의</a:t>
            </a:r>
            <a:r>
              <a:rPr sz="1200" spc="-10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감정에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공감하고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적절한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위로와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조언을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제공하는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대화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35" dirty="0">
                <a:solidFill>
                  <a:srgbClr val="1B1B1B"/>
                </a:solidFill>
                <a:latin typeface="Malgun Gothic"/>
                <a:cs typeface="Malgun Gothic"/>
              </a:rPr>
              <a:t>응답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을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생성합니다</a:t>
            </a:r>
            <a:r>
              <a:rPr sz="1200" dirty="0">
                <a:solidFill>
                  <a:srgbClr val="1B1B1B"/>
                </a:solidFill>
                <a:latin typeface="Arial"/>
                <a:cs typeface="Arial"/>
              </a:rPr>
              <a:t>. ChatGPT</a:t>
            </a:r>
            <a:r>
              <a:rPr sz="1200" spc="-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Arial"/>
                <a:cs typeface="Arial"/>
              </a:rPr>
              <a:t>API</a:t>
            </a:r>
            <a:r>
              <a:rPr sz="1200" spc="-10" dirty="0">
                <a:solidFill>
                  <a:srgbClr val="1B1B1B"/>
                </a:solidFill>
                <a:latin typeface="Malgun Gothic"/>
                <a:cs typeface="Malgun Gothic"/>
              </a:rPr>
              <a:t>를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활용하여</a:t>
            </a:r>
            <a:r>
              <a:rPr sz="1200" spc="-8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자연스럽고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맥락에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맞는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50" dirty="0">
                <a:solidFill>
                  <a:srgbClr val="1B1B1B"/>
                </a:solidFill>
                <a:latin typeface="Malgun Gothic"/>
                <a:cs typeface="Malgun Gothic"/>
              </a:rPr>
              <a:t>대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화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생성을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Malgun Gothic"/>
                <a:cs typeface="Malgun Gothic"/>
              </a:rPr>
              <a:t>구현합니다</a:t>
            </a:r>
            <a:r>
              <a:rPr sz="1200" spc="-10" dirty="0">
                <a:solidFill>
                  <a:srgbClr val="1B1B1B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81350" y="4095750"/>
            <a:ext cx="342900" cy="3429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49784" y="4599948"/>
            <a:ext cx="4606290" cy="1053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500" spc="90" dirty="0">
                <a:latin typeface="Batang"/>
                <a:cs typeface="Batang"/>
              </a:rPr>
              <a:t>감정</a:t>
            </a:r>
            <a:r>
              <a:rPr sz="1500" spc="-145" dirty="0">
                <a:latin typeface="Batang"/>
                <a:cs typeface="Batang"/>
              </a:rPr>
              <a:t> </a:t>
            </a:r>
            <a:r>
              <a:rPr sz="1500" spc="140" dirty="0">
                <a:latin typeface="Batang"/>
                <a:cs typeface="Batang"/>
              </a:rPr>
              <a:t>분석</a:t>
            </a:r>
            <a:r>
              <a:rPr sz="1500" spc="-140" dirty="0">
                <a:latin typeface="Batang"/>
                <a:cs typeface="Batang"/>
              </a:rPr>
              <a:t> </a:t>
            </a:r>
            <a:r>
              <a:rPr sz="1500" spc="270" dirty="0">
                <a:latin typeface="Batang"/>
                <a:cs typeface="Batang"/>
              </a:rPr>
              <a:t>모델</a:t>
            </a:r>
            <a:endParaRPr sz="15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50" dirty="0">
              <a:latin typeface="Batang"/>
              <a:cs typeface="Batang"/>
            </a:endParaRPr>
          </a:p>
          <a:p>
            <a:pPr marL="12065" marR="5080" algn="ctr">
              <a:lnSpc>
                <a:spcPct val="125000"/>
              </a:lnSpc>
            </a:pP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사용자의</a:t>
            </a:r>
            <a:r>
              <a:rPr sz="1200" spc="-9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텍스트에서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긍정</a:t>
            </a:r>
            <a:r>
              <a:rPr sz="1200" dirty="0">
                <a:solidFill>
                  <a:srgbClr val="1B1B1B"/>
                </a:solidFill>
                <a:latin typeface="Arial"/>
                <a:cs typeface="Arial"/>
              </a:rPr>
              <a:t>,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부정</a:t>
            </a:r>
            <a:r>
              <a:rPr sz="1200" dirty="0">
                <a:solidFill>
                  <a:srgbClr val="1B1B1B"/>
                </a:solidFill>
                <a:latin typeface="Arial"/>
                <a:cs typeface="Arial"/>
              </a:rPr>
              <a:t>,</a:t>
            </a:r>
            <a:r>
              <a:rPr sz="1200" spc="-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중립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등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다양한</a:t>
            </a:r>
            <a:r>
              <a:rPr sz="1200" spc="-9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감정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상태를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Malgun Gothic"/>
                <a:cs typeface="Malgun Gothic"/>
              </a:rPr>
              <a:t>식별합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니다</a:t>
            </a:r>
            <a:r>
              <a:rPr sz="1200" dirty="0">
                <a:solidFill>
                  <a:srgbClr val="1B1B1B"/>
                </a:solidFill>
                <a:latin typeface="Arial"/>
                <a:cs typeface="Arial"/>
              </a:rPr>
              <a:t>.</a:t>
            </a:r>
            <a:r>
              <a:rPr sz="1200" spc="-10" dirty="0">
                <a:solidFill>
                  <a:srgbClr val="1B1B1B"/>
                </a:solidFill>
                <a:latin typeface="Arial"/>
                <a:cs typeface="Arial"/>
              </a:rPr>
              <a:t> KoBERT</a:t>
            </a:r>
            <a:r>
              <a:rPr sz="1200" spc="-10" dirty="0">
                <a:solidFill>
                  <a:srgbClr val="1B1B1B"/>
                </a:solidFill>
                <a:latin typeface="Malgun Gothic"/>
                <a:cs typeface="Malgun Gothic"/>
              </a:rPr>
              <a:t>와</a:t>
            </a:r>
            <a:r>
              <a:rPr sz="1200" spc="-9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Arial"/>
                <a:cs typeface="Arial"/>
              </a:rPr>
              <a:t>HuggingFace</a:t>
            </a:r>
            <a:r>
              <a:rPr sz="1200" spc="-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모델을</a:t>
            </a:r>
            <a:r>
              <a:rPr sz="1200" spc="-9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기반으로</a:t>
            </a:r>
            <a:r>
              <a:rPr sz="1200" spc="-9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한국어</a:t>
            </a:r>
            <a:r>
              <a:rPr sz="1200" spc="-9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감정</a:t>
            </a:r>
            <a:r>
              <a:rPr sz="1200" spc="-9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Malgun Gothic"/>
                <a:cs typeface="Malgun Gothic"/>
              </a:rPr>
              <a:t>데이터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셋에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최적화된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모델을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Malgun Gothic"/>
                <a:cs typeface="Malgun Gothic"/>
              </a:rPr>
              <a:t>구축합니다</a:t>
            </a:r>
            <a:r>
              <a:rPr sz="1200" spc="-10" dirty="0">
                <a:solidFill>
                  <a:srgbClr val="1B1B1B"/>
                </a:solidFill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67750" y="4095750"/>
            <a:ext cx="342900" cy="3429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481114" y="4599948"/>
            <a:ext cx="4716145" cy="1053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550" spc="65" dirty="0">
                <a:latin typeface="Batang"/>
                <a:cs typeface="Batang"/>
              </a:rPr>
              <a:t>시각화</a:t>
            </a:r>
            <a:endParaRPr sz="15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50">
              <a:latin typeface="Batang"/>
              <a:cs typeface="Batang"/>
            </a:endParaRPr>
          </a:p>
          <a:p>
            <a:pPr marL="12700" marR="5080" algn="ctr">
              <a:lnSpc>
                <a:spcPct val="125000"/>
              </a:lnSpc>
            </a:pP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사용자의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감정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변화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추이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및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심리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검사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결과를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직관적인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그래프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Malgun Gothic"/>
                <a:cs typeface="Malgun Gothic"/>
              </a:rPr>
              <a:t>형태로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제공합니다</a:t>
            </a:r>
            <a:r>
              <a:rPr sz="1200" dirty="0">
                <a:solidFill>
                  <a:srgbClr val="1B1B1B"/>
                </a:solidFill>
                <a:latin typeface="Arial"/>
                <a:cs typeface="Arial"/>
              </a:rPr>
              <a:t>.</a:t>
            </a:r>
            <a:r>
              <a:rPr sz="1200" spc="-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B1B1B"/>
                </a:solidFill>
                <a:latin typeface="Arial"/>
                <a:cs typeface="Arial"/>
              </a:rPr>
              <a:t>Chart.js</a:t>
            </a:r>
            <a:r>
              <a:rPr sz="1200" spc="-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라이브러리를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활용하여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웹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기반의</a:t>
            </a:r>
            <a:r>
              <a:rPr sz="1200" spc="-9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동적인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B1B1B"/>
                </a:solidFill>
                <a:latin typeface="Malgun Gothic"/>
                <a:cs typeface="Malgun Gothic"/>
              </a:rPr>
              <a:t>그래프 </a:t>
            </a:r>
            <a:r>
              <a:rPr sz="1200" dirty="0">
                <a:solidFill>
                  <a:srgbClr val="1B1B1B"/>
                </a:solidFill>
                <a:latin typeface="Malgun Gothic"/>
                <a:cs typeface="Malgun Gothic"/>
              </a:rPr>
              <a:t>를</a:t>
            </a:r>
            <a:r>
              <a:rPr sz="1200" spc="-9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B1B1B"/>
                </a:solidFill>
                <a:latin typeface="Malgun Gothic"/>
                <a:cs typeface="Malgun Gothic"/>
              </a:rPr>
              <a:t>구현합니다</a:t>
            </a:r>
            <a:r>
              <a:rPr sz="1200" spc="-10" dirty="0">
                <a:solidFill>
                  <a:srgbClr val="1B1B1B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5</a:t>
            </a:fld>
            <a:r>
              <a:rPr spc="-20" dirty="0"/>
              <a:t>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0499" y="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71499" y="0"/>
                </a:moveTo>
                <a:lnTo>
                  <a:pt x="0" y="0"/>
                </a:lnTo>
                <a:lnTo>
                  <a:pt x="171" y="14030"/>
                </a:lnTo>
                <a:lnTo>
                  <a:pt x="2755" y="56019"/>
                </a:lnTo>
                <a:lnTo>
                  <a:pt x="8408" y="97701"/>
                </a:lnTo>
                <a:lnTo>
                  <a:pt x="17125" y="138863"/>
                </a:lnTo>
                <a:lnTo>
                  <a:pt x="28849" y="179273"/>
                </a:lnTo>
                <a:lnTo>
                  <a:pt x="43497" y="218706"/>
                </a:lnTo>
                <a:lnTo>
                  <a:pt x="61022" y="256948"/>
                </a:lnTo>
                <a:lnTo>
                  <a:pt x="81306" y="293806"/>
                </a:lnTo>
                <a:lnTo>
                  <a:pt x="104255" y="329078"/>
                </a:lnTo>
                <a:lnTo>
                  <a:pt x="129717" y="362559"/>
                </a:lnTo>
                <a:lnTo>
                  <a:pt x="157589" y="394072"/>
                </a:lnTo>
                <a:lnTo>
                  <a:pt x="187701" y="423452"/>
                </a:lnTo>
                <a:lnTo>
                  <a:pt x="219893" y="450542"/>
                </a:lnTo>
                <a:lnTo>
                  <a:pt x="253987" y="475183"/>
                </a:lnTo>
                <a:lnTo>
                  <a:pt x="289807" y="497251"/>
                </a:lnTo>
                <a:lnTo>
                  <a:pt x="327153" y="516631"/>
                </a:lnTo>
                <a:lnTo>
                  <a:pt x="365823" y="533210"/>
                </a:lnTo>
                <a:lnTo>
                  <a:pt x="405599" y="546887"/>
                </a:lnTo>
                <a:lnTo>
                  <a:pt x="446278" y="557611"/>
                </a:lnTo>
                <a:lnTo>
                  <a:pt x="487643" y="565314"/>
                </a:lnTo>
                <a:lnTo>
                  <a:pt x="529460" y="569951"/>
                </a:lnTo>
                <a:lnTo>
                  <a:pt x="571499" y="571499"/>
                </a:lnTo>
                <a:lnTo>
                  <a:pt x="571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38175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0" y="476249"/>
                </a:lnTo>
                <a:lnTo>
                  <a:pt x="476249" y="476249"/>
                </a:lnTo>
                <a:lnTo>
                  <a:pt x="473957" y="429567"/>
                </a:lnTo>
                <a:lnTo>
                  <a:pt x="467097" y="383336"/>
                </a:lnTo>
                <a:lnTo>
                  <a:pt x="455742" y="337999"/>
                </a:lnTo>
                <a:lnTo>
                  <a:pt x="439995" y="293994"/>
                </a:lnTo>
                <a:lnTo>
                  <a:pt x="420013" y="251748"/>
                </a:lnTo>
                <a:lnTo>
                  <a:pt x="395987" y="211658"/>
                </a:lnTo>
                <a:lnTo>
                  <a:pt x="368146" y="174119"/>
                </a:lnTo>
                <a:lnTo>
                  <a:pt x="336758" y="139486"/>
                </a:lnTo>
                <a:lnTo>
                  <a:pt x="302130" y="108103"/>
                </a:lnTo>
                <a:lnTo>
                  <a:pt x="264591" y="80262"/>
                </a:lnTo>
                <a:lnTo>
                  <a:pt x="224501" y="56231"/>
                </a:lnTo>
                <a:lnTo>
                  <a:pt x="182255" y="36249"/>
                </a:lnTo>
                <a:lnTo>
                  <a:pt x="138245" y="20507"/>
                </a:lnTo>
                <a:lnTo>
                  <a:pt x="92913" y="9152"/>
                </a:lnTo>
                <a:lnTo>
                  <a:pt x="46682" y="2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9300" y="525829"/>
            <a:ext cx="935037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800" spc="73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모델</a:t>
            </a:r>
            <a:r>
              <a:rPr sz="3800" spc="-29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84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구조</a:t>
            </a:r>
            <a:r>
              <a:rPr sz="3800" spc="-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3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및</a:t>
            </a:r>
            <a:r>
              <a:rPr sz="3800" spc="-34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34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알고리즘</a:t>
            </a:r>
            <a:r>
              <a:rPr sz="3800" spc="-27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30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설계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9800" y="1726505"/>
            <a:ext cx="122555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145" dirty="0">
                <a:latin typeface="Batang"/>
                <a:cs typeface="Batang"/>
              </a:rPr>
              <a:t>데이터</a:t>
            </a:r>
            <a:r>
              <a:rPr sz="1650" spc="-90" dirty="0">
                <a:latin typeface="Batang"/>
                <a:cs typeface="Batang"/>
              </a:rPr>
              <a:t> </a:t>
            </a:r>
            <a:r>
              <a:rPr sz="1400" spc="245" dirty="0">
                <a:latin typeface="Batang"/>
                <a:cs typeface="Batang"/>
              </a:rPr>
              <a:t>흐</a:t>
            </a:r>
            <a:r>
              <a:rPr sz="1650" spc="245" dirty="0">
                <a:latin typeface="Batang"/>
                <a:cs typeface="Batang"/>
              </a:rPr>
              <a:t>름</a:t>
            </a:r>
            <a:endParaRPr sz="1650">
              <a:latin typeface="Batang"/>
              <a:cs typeface="Batang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52500" y="2247900"/>
            <a:ext cx="2571750" cy="781050"/>
            <a:chOff x="952500" y="2247900"/>
            <a:chExt cx="2571750" cy="781050"/>
          </a:xfrm>
        </p:grpSpPr>
        <p:sp>
          <p:nvSpPr>
            <p:cNvPr id="7" name="object 7"/>
            <p:cNvSpPr/>
            <p:nvPr/>
          </p:nvSpPr>
          <p:spPr>
            <a:xfrm>
              <a:off x="952500" y="2266949"/>
              <a:ext cx="2571750" cy="762000"/>
            </a:xfrm>
            <a:custGeom>
              <a:avLst/>
              <a:gdLst/>
              <a:ahLst/>
              <a:cxnLst/>
              <a:rect l="l" t="t" r="r" b="b"/>
              <a:pathLst>
                <a:path w="2571750" h="762000">
                  <a:moveTo>
                    <a:pt x="2500553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685800"/>
                  </a:lnTo>
                  <a:lnTo>
                    <a:pt x="0" y="690803"/>
                  </a:lnTo>
                  <a:lnTo>
                    <a:pt x="15622" y="732294"/>
                  </a:lnTo>
                  <a:lnTo>
                    <a:pt x="51663" y="758113"/>
                  </a:lnTo>
                  <a:lnTo>
                    <a:pt x="71194" y="762000"/>
                  </a:lnTo>
                  <a:lnTo>
                    <a:pt x="2500553" y="762000"/>
                  </a:lnTo>
                  <a:lnTo>
                    <a:pt x="2542044" y="746379"/>
                  </a:lnTo>
                  <a:lnTo>
                    <a:pt x="2567863" y="710336"/>
                  </a:lnTo>
                  <a:lnTo>
                    <a:pt x="2571750" y="690803"/>
                  </a:lnTo>
                  <a:lnTo>
                    <a:pt x="2571750" y="71196"/>
                  </a:lnTo>
                  <a:lnTo>
                    <a:pt x="2556129" y="29705"/>
                  </a:lnTo>
                  <a:lnTo>
                    <a:pt x="2520086" y="3886"/>
                  </a:lnTo>
                  <a:lnTo>
                    <a:pt x="2505506" y="482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4550" y="2247900"/>
              <a:ext cx="257175" cy="3048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28571" y="2573473"/>
            <a:ext cx="1219835" cy="46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00" b="1" spc="-200" dirty="0">
                <a:latin typeface="Yu Gothic"/>
                <a:cs typeface="Yu Gothic"/>
              </a:rPr>
              <a:t>①</a:t>
            </a:r>
            <a:r>
              <a:rPr sz="1200" b="1" spc="85" dirty="0">
                <a:latin typeface="Yu Gothic"/>
                <a:cs typeface="Yu Gothic"/>
              </a:rPr>
              <a:t> </a:t>
            </a:r>
            <a:r>
              <a:rPr sz="1100" spc="95" dirty="0">
                <a:latin typeface="Batang"/>
                <a:cs typeface="Batang"/>
              </a:rPr>
              <a:t>사용자</a:t>
            </a:r>
            <a:r>
              <a:rPr sz="1100" spc="60" dirty="0">
                <a:latin typeface="Batang"/>
                <a:cs typeface="Batang"/>
              </a:rPr>
              <a:t> </a:t>
            </a:r>
            <a:r>
              <a:rPr sz="1100" spc="70" dirty="0">
                <a:latin typeface="Batang"/>
                <a:cs typeface="Batang"/>
              </a:rPr>
              <a:t>입력</a:t>
            </a:r>
            <a:endParaRPr sz="1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0">
              <a:latin typeface="Batang"/>
              <a:cs typeface="Batang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4B5462"/>
                </a:solidFill>
                <a:latin typeface="Malgun Gothic"/>
                <a:cs typeface="Malgun Gothic"/>
              </a:rPr>
              <a:t>감정</a:t>
            </a:r>
            <a:r>
              <a:rPr sz="1050" spc="-40" dirty="0">
                <a:solidFill>
                  <a:srgbClr val="4B5462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4B5462"/>
                </a:solidFill>
                <a:latin typeface="Malgun Gothic"/>
                <a:cs typeface="Malgun Gothic"/>
              </a:rPr>
              <a:t>및</a:t>
            </a:r>
            <a:r>
              <a:rPr sz="1050" spc="-40" dirty="0">
                <a:solidFill>
                  <a:srgbClr val="4B5462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4B5462"/>
                </a:solidFill>
                <a:latin typeface="Malgun Gothic"/>
                <a:cs typeface="Malgun Gothic"/>
              </a:rPr>
              <a:t>고민</a:t>
            </a:r>
            <a:r>
              <a:rPr sz="1050" spc="-40" dirty="0">
                <a:solidFill>
                  <a:srgbClr val="4B5462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4B5462"/>
                </a:solidFill>
                <a:latin typeface="Malgun Gothic"/>
                <a:cs typeface="Malgun Gothic"/>
              </a:rPr>
              <a:t>텍스트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24250" y="2247900"/>
            <a:ext cx="2571750" cy="781050"/>
            <a:chOff x="3524250" y="2247900"/>
            <a:chExt cx="2571750" cy="781050"/>
          </a:xfrm>
        </p:grpSpPr>
        <p:sp>
          <p:nvSpPr>
            <p:cNvPr id="11" name="object 11"/>
            <p:cNvSpPr/>
            <p:nvPr/>
          </p:nvSpPr>
          <p:spPr>
            <a:xfrm>
              <a:off x="3524250" y="2266949"/>
              <a:ext cx="2571750" cy="762000"/>
            </a:xfrm>
            <a:custGeom>
              <a:avLst/>
              <a:gdLst/>
              <a:ahLst/>
              <a:cxnLst/>
              <a:rect l="l" t="t" r="r" b="b"/>
              <a:pathLst>
                <a:path w="2571750" h="762000">
                  <a:moveTo>
                    <a:pt x="2500553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685800"/>
                  </a:lnTo>
                  <a:lnTo>
                    <a:pt x="0" y="690803"/>
                  </a:lnTo>
                  <a:lnTo>
                    <a:pt x="15621" y="732294"/>
                  </a:lnTo>
                  <a:lnTo>
                    <a:pt x="51663" y="758113"/>
                  </a:lnTo>
                  <a:lnTo>
                    <a:pt x="71196" y="762000"/>
                  </a:lnTo>
                  <a:lnTo>
                    <a:pt x="2500553" y="762000"/>
                  </a:lnTo>
                  <a:lnTo>
                    <a:pt x="2542044" y="746379"/>
                  </a:lnTo>
                  <a:lnTo>
                    <a:pt x="2567863" y="710336"/>
                  </a:lnTo>
                  <a:lnTo>
                    <a:pt x="2571750" y="690803"/>
                  </a:lnTo>
                  <a:lnTo>
                    <a:pt x="2571750" y="71196"/>
                  </a:lnTo>
                  <a:lnTo>
                    <a:pt x="2556129" y="29705"/>
                  </a:lnTo>
                  <a:lnTo>
                    <a:pt x="2520086" y="3886"/>
                  </a:lnTo>
                  <a:lnTo>
                    <a:pt x="2505506" y="482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5824" y="2247900"/>
              <a:ext cx="228600" cy="3048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375048" y="2573473"/>
            <a:ext cx="870585" cy="46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200" dirty="0">
                <a:latin typeface="Yu Gothic"/>
                <a:cs typeface="Yu Gothic"/>
              </a:rPr>
              <a:t>➁</a:t>
            </a:r>
            <a:r>
              <a:rPr sz="1200" b="1" spc="80" dirty="0">
                <a:latin typeface="Yu Gothic"/>
                <a:cs typeface="Yu Gothic"/>
              </a:rPr>
              <a:t> </a:t>
            </a:r>
            <a:r>
              <a:rPr sz="1100" spc="95" dirty="0">
                <a:latin typeface="Batang"/>
                <a:cs typeface="Batang"/>
              </a:rPr>
              <a:t>감정</a:t>
            </a:r>
            <a:r>
              <a:rPr sz="1100" spc="60" dirty="0">
                <a:latin typeface="Batang"/>
                <a:cs typeface="Batang"/>
              </a:rPr>
              <a:t> </a:t>
            </a:r>
            <a:r>
              <a:rPr sz="1050" spc="95" dirty="0">
                <a:latin typeface="Batang"/>
                <a:cs typeface="Batang"/>
              </a:rPr>
              <a:t>분</a:t>
            </a:r>
            <a:r>
              <a:rPr sz="1100" spc="95" dirty="0">
                <a:latin typeface="Batang"/>
                <a:cs typeface="Batang"/>
              </a:rPr>
              <a:t>석</a:t>
            </a:r>
            <a:endParaRPr sz="1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0">
              <a:latin typeface="Batang"/>
              <a:cs typeface="Batang"/>
            </a:endParaRPr>
          </a:p>
          <a:p>
            <a:pPr marL="29209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4B5462"/>
                </a:solidFill>
                <a:latin typeface="Gill Sans MT"/>
                <a:cs typeface="Gill Sans MT"/>
              </a:rPr>
              <a:t>KoBERT</a:t>
            </a:r>
            <a:r>
              <a:rPr sz="1050" spc="320" dirty="0">
                <a:solidFill>
                  <a:srgbClr val="4B5462"/>
                </a:solidFill>
                <a:latin typeface="Gill Sans MT"/>
                <a:cs typeface="Gill Sans MT"/>
              </a:rPr>
              <a:t> </a:t>
            </a:r>
            <a:r>
              <a:rPr sz="1050" spc="-25" dirty="0">
                <a:solidFill>
                  <a:srgbClr val="4B5462"/>
                </a:solidFill>
                <a:latin typeface="Malgun Gothic"/>
                <a:cs typeface="Malgun Gothic"/>
              </a:rPr>
              <a:t>모델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96000" y="2247900"/>
            <a:ext cx="2571750" cy="781050"/>
            <a:chOff x="6096000" y="2247900"/>
            <a:chExt cx="2571750" cy="781050"/>
          </a:xfrm>
        </p:grpSpPr>
        <p:sp>
          <p:nvSpPr>
            <p:cNvPr id="15" name="object 15"/>
            <p:cNvSpPr/>
            <p:nvPr/>
          </p:nvSpPr>
          <p:spPr>
            <a:xfrm>
              <a:off x="6096000" y="2266949"/>
              <a:ext cx="2571750" cy="762000"/>
            </a:xfrm>
            <a:custGeom>
              <a:avLst/>
              <a:gdLst/>
              <a:ahLst/>
              <a:cxnLst/>
              <a:rect l="l" t="t" r="r" b="b"/>
              <a:pathLst>
                <a:path w="2571750" h="762000">
                  <a:moveTo>
                    <a:pt x="2500553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685800"/>
                  </a:lnTo>
                  <a:lnTo>
                    <a:pt x="0" y="690803"/>
                  </a:lnTo>
                  <a:lnTo>
                    <a:pt x="15621" y="732294"/>
                  </a:lnTo>
                  <a:lnTo>
                    <a:pt x="51663" y="758113"/>
                  </a:lnTo>
                  <a:lnTo>
                    <a:pt x="71196" y="762000"/>
                  </a:lnTo>
                  <a:lnTo>
                    <a:pt x="2500553" y="762000"/>
                  </a:lnTo>
                  <a:lnTo>
                    <a:pt x="2542044" y="746379"/>
                  </a:lnTo>
                  <a:lnTo>
                    <a:pt x="2567863" y="710336"/>
                  </a:lnTo>
                  <a:lnTo>
                    <a:pt x="2571750" y="690803"/>
                  </a:lnTo>
                  <a:lnTo>
                    <a:pt x="2571750" y="71196"/>
                  </a:lnTo>
                  <a:lnTo>
                    <a:pt x="2556129" y="29705"/>
                  </a:lnTo>
                  <a:lnTo>
                    <a:pt x="2520086" y="3886"/>
                  </a:lnTo>
                  <a:lnTo>
                    <a:pt x="2505506" y="482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8999" y="2247900"/>
              <a:ext cx="285750" cy="3048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767766" y="2573473"/>
            <a:ext cx="1228090" cy="46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00" b="1" spc="-200" dirty="0">
                <a:latin typeface="Yu Gothic"/>
                <a:cs typeface="Yu Gothic"/>
              </a:rPr>
              <a:t>③</a:t>
            </a:r>
            <a:r>
              <a:rPr sz="1200" b="1" spc="80" dirty="0">
                <a:latin typeface="Yu Gothic"/>
                <a:cs typeface="Yu Gothic"/>
              </a:rPr>
              <a:t> </a:t>
            </a:r>
            <a:r>
              <a:rPr sz="1050" spc="120" dirty="0">
                <a:latin typeface="Batang"/>
                <a:cs typeface="Batang"/>
              </a:rPr>
              <a:t>공</a:t>
            </a:r>
            <a:r>
              <a:rPr sz="1100" spc="120" dirty="0">
                <a:latin typeface="Batang"/>
                <a:cs typeface="Batang"/>
              </a:rPr>
              <a:t>감</a:t>
            </a:r>
            <a:r>
              <a:rPr sz="1100" spc="55" dirty="0">
                <a:latin typeface="Batang"/>
                <a:cs typeface="Batang"/>
              </a:rPr>
              <a:t> </a:t>
            </a:r>
            <a:r>
              <a:rPr sz="1100" spc="95" dirty="0">
                <a:latin typeface="Batang"/>
                <a:cs typeface="Batang"/>
              </a:rPr>
              <a:t>응답</a:t>
            </a:r>
            <a:r>
              <a:rPr sz="1100" spc="60" dirty="0">
                <a:latin typeface="Batang"/>
                <a:cs typeface="Batang"/>
              </a:rPr>
              <a:t> </a:t>
            </a:r>
            <a:r>
              <a:rPr sz="1100" spc="70" dirty="0">
                <a:latin typeface="Batang"/>
                <a:cs typeface="Batang"/>
              </a:rPr>
              <a:t>생성</a:t>
            </a:r>
            <a:endParaRPr sz="1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0">
              <a:latin typeface="Batang"/>
              <a:cs typeface="Batang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50" spc="70" dirty="0">
                <a:solidFill>
                  <a:srgbClr val="4B5462"/>
                </a:solidFill>
                <a:latin typeface="Gill Sans MT"/>
                <a:cs typeface="Gill Sans MT"/>
              </a:rPr>
              <a:t>ChatGPT </a:t>
            </a:r>
            <a:r>
              <a:rPr sz="1050" spc="25" dirty="0">
                <a:solidFill>
                  <a:srgbClr val="4B5462"/>
                </a:solidFill>
                <a:latin typeface="Gill Sans MT"/>
                <a:cs typeface="Gill Sans MT"/>
              </a:rPr>
              <a:t>API</a:t>
            </a:r>
            <a:endParaRPr sz="1050">
              <a:latin typeface="Gill Sans MT"/>
              <a:cs typeface="Gill Sans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667750" y="2247900"/>
            <a:ext cx="2571750" cy="781050"/>
            <a:chOff x="8667750" y="2247900"/>
            <a:chExt cx="2571750" cy="781050"/>
          </a:xfrm>
        </p:grpSpPr>
        <p:sp>
          <p:nvSpPr>
            <p:cNvPr id="19" name="object 19"/>
            <p:cNvSpPr/>
            <p:nvPr/>
          </p:nvSpPr>
          <p:spPr>
            <a:xfrm>
              <a:off x="8667750" y="2266949"/>
              <a:ext cx="2571750" cy="762000"/>
            </a:xfrm>
            <a:custGeom>
              <a:avLst/>
              <a:gdLst/>
              <a:ahLst/>
              <a:cxnLst/>
              <a:rect l="l" t="t" r="r" b="b"/>
              <a:pathLst>
                <a:path w="2571750" h="762000">
                  <a:moveTo>
                    <a:pt x="2500553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685800"/>
                  </a:lnTo>
                  <a:lnTo>
                    <a:pt x="0" y="690803"/>
                  </a:lnTo>
                  <a:lnTo>
                    <a:pt x="15621" y="732294"/>
                  </a:lnTo>
                  <a:lnTo>
                    <a:pt x="51663" y="758113"/>
                  </a:lnTo>
                  <a:lnTo>
                    <a:pt x="71196" y="762000"/>
                  </a:lnTo>
                  <a:lnTo>
                    <a:pt x="2500553" y="762000"/>
                  </a:lnTo>
                  <a:lnTo>
                    <a:pt x="2542044" y="746379"/>
                  </a:lnTo>
                  <a:lnTo>
                    <a:pt x="2567863" y="710336"/>
                  </a:lnTo>
                  <a:lnTo>
                    <a:pt x="2571750" y="690803"/>
                  </a:lnTo>
                  <a:lnTo>
                    <a:pt x="2571750" y="71196"/>
                  </a:lnTo>
                  <a:lnTo>
                    <a:pt x="2556129" y="29705"/>
                  </a:lnTo>
                  <a:lnTo>
                    <a:pt x="2520086" y="3886"/>
                  </a:lnTo>
                  <a:lnTo>
                    <a:pt x="2505506" y="482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39324" y="2247900"/>
              <a:ext cx="228600" cy="3048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9621240" y="2573473"/>
            <a:ext cx="664845" cy="46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200" dirty="0">
                <a:latin typeface="Yu Gothic"/>
                <a:cs typeface="Yu Gothic"/>
              </a:rPr>
              <a:t>④</a:t>
            </a:r>
            <a:r>
              <a:rPr sz="1200" b="1" spc="80" dirty="0">
                <a:latin typeface="Yu Gothic"/>
                <a:cs typeface="Yu Gothic"/>
              </a:rPr>
              <a:t> </a:t>
            </a:r>
            <a:r>
              <a:rPr sz="1100" spc="70" dirty="0">
                <a:latin typeface="Batang"/>
                <a:cs typeface="Batang"/>
              </a:rPr>
              <a:t>시각화</a:t>
            </a:r>
            <a:endParaRPr sz="1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0">
              <a:latin typeface="Batang"/>
              <a:cs typeface="Batang"/>
            </a:endParaRPr>
          </a:p>
          <a:p>
            <a:pPr marL="74295">
              <a:lnSpc>
                <a:spcPct val="100000"/>
              </a:lnSpc>
              <a:spcBef>
                <a:spcPts val="5"/>
              </a:spcBef>
            </a:pPr>
            <a:r>
              <a:rPr sz="1050" spc="80" dirty="0">
                <a:solidFill>
                  <a:srgbClr val="4B5462"/>
                </a:solidFill>
                <a:latin typeface="Gill Sans MT"/>
                <a:cs typeface="Gill Sans MT"/>
              </a:rPr>
              <a:t>Chart.js</a:t>
            </a:r>
            <a:endParaRPr sz="1050">
              <a:latin typeface="Gill Sans MT"/>
              <a:cs typeface="Gill Sans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2500" y="2524125"/>
            <a:ext cx="228600" cy="228600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952500" y="5448300"/>
            <a:ext cx="3019425" cy="342900"/>
          </a:xfrm>
          <a:custGeom>
            <a:avLst/>
            <a:gdLst/>
            <a:ahLst/>
            <a:cxnLst/>
            <a:rect l="l" t="t" r="r" b="b"/>
            <a:pathLst>
              <a:path w="3019425" h="342900">
                <a:moveTo>
                  <a:pt x="2966021" y="0"/>
                </a:moveTo>
                <a:lnTo>
                  <a:pt x="53399" y="0"/>
                </a:lnTo>
                <a:lnTo>
                  <a:pt x="49678" y="368"/>
                </a:lnTo>
                <a:lnTo>
                  <a:pt x="14084" y="19392"/>
                </a:lnTo>
                <a:lnTo>
                  <a:pt x="0" y="53390"/>
                </a:lnTo>
                <a:lnTo>
                  <a:pt x="0" y="285750"/>
                </a:lnTo>
                <a:lnTo>
                  <a:pt x="0" y="289500"/>
                </a:lnTo>
                <a:lnTo>
                  <a:pt x="19392" y="328810"/>
                </a:lnTo>
                <a:lnTo>
                  <a:pt x="53399" y="342900"/>
                </a:lnTo>
                <a:lnTo>
                  <a:pt x="2966021" y="342900"/>
                </a:lnTo>
                <a:lnTo>
                  <a:pt x="3005340" y="323507"/>
                </a:lnTo>
                <a:lnTo>
                  <a:pt x="3019425" y="289500"/>
                </a:lnTo>
                <a:lnTo>
                  <a:pt x="3019425" y="53390"/>
                </a:lnTo>
                <a:lnTo>
                  <a:pt x="3000032" y="14084"/>
                </a:lnTo>
                <a:lnTo>
                  <a:pt x="2969742" y="368"/>
                </a:lnTo>
                <a:lnTo>
                  <a:pt x="2966021" y="0"/>
                </a:lnTo>
                <a:close/>
              </a:path>
            </a:pathLst>
          </a:custGeom>
          <a:solidFill>
            <a:srgbClr val="F3F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95525" y="3724275"/>
            <a:ext cx="342900" cy="34290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965223" y="4324821"/>
            <a:ext cx="99695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114" dirty="0">
                <a:latin typeface="Batang"/>
                <a:cs typeface="Batang"/>
              </a:rPr>
              <a:t>감</a:t>
            </a:r>
            <a:r>
              <a:rPr sz="1650" spc="114" dirty="0">
                <a:latin typeface="Batang"/>
                <a:cs typeface="Batang"/>
              </a:rPr>
              <a:t>정</a:t>
            </a:r>
            <a:r>
              <a:rPr sz="1650" spc="-100" dirty="0">
                <a:latin typeface="Batang"/>
                <a:cs typeface="Batang"/>
              </a:rPr>
              <a:t> </a:t>
            </a:r>
            <a:r>
              <a:rPr sz="1600" spc="110" dirty="0">
                <a:latin typeface="Batang"/>
                <a:cs typeface="Batang"/>
              </a:rPr>
              <a:t>분</a:t>
            </a:r>
            <a:r>
              <a:rPr sz="1700" spc="110" dirty="0">
                <a:latin typeface="Batang"/>
                <a:cs typeface="Batang"/>
              </a:rPr>
              <a:t>석</a:t>
            </a:r>
            <a:endParaRPr sz="1700">
              <a:latin typeface="Batang"/>
              <a:cs typeface="Batang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39798" y="4728845"/>
            <a:ext cx="2941320" cy="577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KoBERT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모델을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활용하여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사용자의 </a:t>
            </a:r>
            <a:r>
              <a:rPr sz="1400" dirty="0">
                <a:latin typeface="Malgun Gothic"/>
                <a:cs typeface="Malgun Gothic"/>
              </a:rPr>
              <a:t>텍스트에서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감정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상태를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분석합니다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6002" y="5521325"/>
            <a:ext cx="22980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170" dirty="0">
                <a:latin typeface="Batang"/>
                <a:cs typeface="Batang"/>
              </a:rPr>
              <a:t>주</a:t>
            </a:r>
            <a:r>
              <a:rPr sz="800" spc="170" dirty="0">
                <a:latin typeface="Batang"/>
                <a:cs typeface="Batang"/>
              </a:rPr>
              <a:t>요</a:t>
            </a:r>
            <a:r>
              <a:rPr sz="800" spc="100" dirty="0">
                <a:latin typeface="Batang"/>
                <a:cs typeface="Batang"/>
              </a:rPr>
              <a:t> </a:t>
            </a:r>
            <a:r>
              <a:rPr sz="950" spc="90" dirty="0">
                <a:latin typeface="Batang"/>
                <a:cs typeface="Batang"/>
              </a:rPr>
              <a:t>알고리즘</a:t>
            </a:r>
            <a:r>
              <a:rPr sz="1050" b="1" spc="90" dirty="0">
                <a:latin typeface="Yu Gothic"/>
                <a:cs typeface="Yu Gothic"/>
              </a:rPr>
              <a:t>:</a:t>
            </a:r>
            <a:r>
              <a:rPr sz="1050" b="1" spc="75" dirty="0">
                <a:latin typeface="Yu Gothic"/>
                <a:cs typeface="Yu Gothic"/>
              </a:rPr>
              <a:t> </a:t>
            </a:r>
            <a:r>
              <a:rPr sz="950" spc="95" dirty="0">
                <a:latin typeface="Batang"/>
                <a:cs typeface="Batang"/>
              </a:rPr>
              <a:t>감정</a:t>
            </a:r>
            <a:r>
              <a:rPr sz="950" spc="55" dirty="0">
                <a:latin typeface="Batang"/>
                <a:cs typeface="Batang"/>
              </a:rPr>
              <a:t> </a:t>
            </a:r>
            <a:r>
              <a:rPr sz="950" spc="75" dirty="0">
                <a:latin typeface="Batang"/>
                <a:cs typeface="Batang"/>
              </a:rPr>
              <a:t>분류</a:t>
            </a:r>
            <a:r>
              <a:rPr sz="1050" b="1" spc="75" dirty="0">
                <a:latin typeface="Yu Gothic"/>
                <a:cs typeface="Yu Gothic"/>
              </a:rPr>
              <a:t>(Softmax)</a:t>
            </a:r>
            <a:endParaRPr sz="1050">
              <a:latin typeface="Yu Gothic"/>
              <a:cs typeface="Yu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81525" y="5448300"/>
            <a:ext cx="3028950" cy="533400"/>
          </a:xfrm>
          <a:custGeom>
            <a:avLst/>
            <a:gdLst/>
            <a:ahLst/>
            <a:cxnLst/>
            <a:rect l="l" t="t" r="r" b="b"/>
            <a:pathLst>
              <a:path w="3028950" h="533400">
                <a:moveTo>
                  <a:pt x="2975546" y="0"/>
                </a:moveTo>
                <a:lnTo>
                  <a:pt x="53390" y="0"/>
                </a:lnTo>
                <a:lnTo>
                  <a:pt x="49682" y="368"/>
                </a:lnTo>
                <a:lnTo>
                  <a:pt x="14084" y="19392"/>
                </a:lnTo>
                <a:lnTo>
                  <a:pt x="0" y="53390"/>
                </a:lnTo>
                <a:lnTo>
                  <a:pt x="0" y="476250"/>
                </a:lnTo>
                <a:lnTo>
                  <a:pt x="0" y="480000"/>
                </a:lnTo>
                <a:lnTo>
                  <a:pt x="19392" y="519315"/>
                </a:lnTo>
                <a:lnTo>
                  <a:pt x="53390" y="533400"/>
                </a:lnTo>
                <a:lnTo>
                  <a:pt x="2975546" y="533400"/>
                </a:lnTo>
                <a:lnTo>
                  <a:pt x="3014865" y="514007"/>
                </a:lnTo>
                <a:lnTo>
                  <a:pt x="3028950" y="480000"/>
                </a:lnTo>
                <a:lnTo>
                  <a:pt x="3028950" y="53390"/>
                </a:lnTo>
                <a:lnTo>
                  <a:pt x="3009557" y="14084"/>
                </a:lnTo>
                <a:lnTo>
                  <a:pt x="2979267" y="368"/>
                </a:lnTo>
                <a:lnTo>
                  <a:pt x="2975546" y="0"/>
                </a:lnTo>
                <a:close/>
              </a:path>
            </a:pathLst>
          </a:custGeom>
          <a:solidFill>
            <a:srgbClr val="F3F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76925" y="3724275"/>
            <a:ext cx="428625" cy="34290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5597372" y="4324821"/>
            <a:ext cx="99695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145" dirty="0">
                <a:latin typeface="Batang"/>
                <a:cs typeface="Batang"/>
              </a:rPr>
              <a:t>대화</a:t>
            </a:r>
            <a:r>
              <a:rPr sz="1650" spc="-95" dirty="0">
                <a:latin typeface="Batang"/>
                <a:cs typeface="Batang"/>
              </a:rPr>
              <a:t> </a:t>
            </a:r>
            <a:r>
              <a:rPr sz="1650" spc="90" dirty="0">
                <a:latin typeface="Batang"/>
                <a:cs typeface="Batang"/>
              </a:rPr>
              <a:t>생</a:t>
            </a:r>
            <a:r>
              <a:rPr sz="1700" spc="90" dirty="0">
                <a:latin typeface="Batang"/>
                <a:cs typeface="Batang"/>
              </a:rPr>
              <a:t>성</a:t>
            </a:r>
            <a:endParaRPr sz="1700">
              <a:latin typeface="Batang"/>
              <a:cs typeface="Batang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71944" y="4728845"/>
            <a:ext cx="2888615" cy="577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ChatGPT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API</a:t>
            </a:r>
            <a:r>
              <a:rPr sz="1400" dirty="0">
                <a:latin typeface="Malgun Gothic"/>
                <a:cs typeface="Malgun Gothic"/>
              </a:rPr>
              <a:t>를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활용하여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감정에</a:t>
            </a:r>
            <a:r>
              <a:rPr sz="1400" spc="-50" dirty="0">
                <a:latin typeface="Malgun Gothic"/>
                <a:cs typeface="Malgun Gothic"/>
              </a:rPr>
              <a:t> 공 </a:t>
            </a:r>
            <a:r>
              <a:rPr sz="1400" dirty="0">
                <a:latin typeface="Malgun Gothic"/>
                <a:cs typeface="Malgun Gothic"/>
              </a:rPr>
              <a:t>감하고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적절한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조언을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생성합니다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48148" y="5490845"/>
            <a:ext cx="27260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950" spc="170" dirty="0">
                <a:latin typeface="Batang"/>
                <a:cs typeface="Batang"/>
              </a:rPr>
              <a:t>주</a:t>
            </a:r>
            <a:r>
              <a:rPr sz="800" spc="170" dirty="0">
                <a:latin typeface="Batang"/>
                <a:cs typeface="Batang"/>
              </a:rPr>
              <a:t>요</a:t>
            </a:r>
            <a:r>
              <a:rPr sz="800" spc="100" dirty="0">
                <a:latin typeface="Batang"/>
                <a:cs typeface="Batang"/>
              </a:rPr>
              <a:t> </a:t>
            </a:r>
            <a:r>
              <a:rPr sz="950" spc="90" dirty="0">
                <a:latin typeface="Batang"/>
                <a:cs typeface="Batang"/>
              </a:rPr>
              <a:t>알고리즘</a:t>
            </a:r>
            <a:r>
              <a:rPr sz="1050" b="1" spc="90" dirty="0">
                <a:latin typeface="Yu Gothic"/>
                <a:cs typeface="Yu Gothic"/>
              </a:rPr>
              <a:t>:</a:t>
            </a:r>
            <a:r>
              <a:rPr sz="1050" b="1" spc="75" dirty="0">
                <a:latin typeface="Yu Gothic"/>
                <a:cs typeface="Yu Gothic"/>
              </a:rPr>
              <a:t> </a:t>
            </a:r>
            <a:r>
              <a:rPr sz="950" spc="95" dirty="0">
                <a:latin typeface="Batang"/>
                <a:cs typeface="Batang"/>
              </a:rPr>
              <a:t>조건부</a:t>
            </a:r>
            <a:r>
              <a:rPr sz="950" spc="50" dirty="0">
                <a:latin typeface="Batang"/>
                <a:cs typeface="Batang"/>
              </a:rPr>
              <a:t> </a:t>
            </a:r>
            <a:r>
              <a:rPr sz="950" spc="229" dirty="0">
                <a:latin typeface="Batang"/>
                <a:cs typeface="Batang"/>
              </a:rPr>
              <a:t>텍</a:t>
            </a:r>
            <a:r>
              <a:rPr sz="750" spc="229" dirty="0">
                <a:latin typeface="Batang"/>
                <a:cs typeface="Batang"/>
              </a:rPr>
              <a:t>스트</a:t>
            </a:r>
            <a:r>
              <a:rPr sz="750" spc="125" dirty="0">
                <a:latin typeface="Batang"/>
                <a:cs typeface="Batang"/>
              </a:rPr>
              <a:t> </a:t>
            </a:r>
            <a:r>
              <a:rPr sz="950" spc="165" dirty="0">
                <a:latin typeface="Batang"/>
                <a:cs typeface="Batang"/>
              </a:rPr>
              <a:t>생성</a:t>
            </a:r>
            <a:r>
              <a:rPr sz="1050" b="1" spc="165" dirty="0">
                <a:latin typeface="Yu Gothic"/>
                <a:cs typeface="Yu Gothic"/>
              </a:rPr>
              <a:t>(</a:t>
            </a:r>
            <a:r>
              <a:rPr sz="750" spc="165" dirty="0">
                <a:latin typeface="Batang"/>
                <a:cs typeface="Batang"/>
              </a:rPr>
              <a:t>프</a:t>
            </a:r>
            <a:r>
              <a:rPr sz="950" spc="165" dirty="0">
                <a:latin typeface="Batang"/>
                <a:cs typeface="Batang"/>
              </a:rPr>
              <a:t>롬</a:t>
            </a:r>
            <a:r>
              <a:rPr sz="750" spc="165" dirty="0">
                <a:latin typeface="Batang"/>
                <a:cs typeface="Batang"/>
              </a:rPr>
              <a:t>프트 </a:t>
            </a:r>
            <a:r>
              <a:rPr sz="950" spc="55" dirty="0">
                <a:latin typeface="Batang"/>
                <a:cs typeface="Batang"/>
              </a:rPr>
              <a:t>기반</a:t>
            </a:r>
            <a:r>
              <a:rPr sz="1050" b="1" spc="55" dirty="0">
                <a:latin typeface="Yu Gothic"/>
                <a:cs typeface="Yu Gothic"/>
              </a:rPr>
              <a:t>)</a:t>
            </a:r>
            <a:endParaRPr sz="1050">
              <a:latin typeface="Yu Gothic"/>
              <a:cs typeface="Yu Gothic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220075" y="5448300"/>
            <a:ext cx="3019425" cy="342900"/>
          </a:xfrm>
          <a:custGeom>
            <a:avLst/>
            <a:gdLst/>
            <a:ahLst/>
            <a:cxnLst/>
            <a:rect l="l" t="t" r="r" b="b"/>
            <a:pathLst>
              <a:path w="3019425" h="342900">
                <a:moveTo>
                  <a:pt x="2966021" y="0"/>
                </a:moveTo>
                <a:lnTo>
                  <a:pt x="53403" y="0"/>
                </a:lnTo>
                <a:lnTo>
                  <a:pt x="49682" y="368"/>
                </a:lnTo>
                <a:lnTo>
                  <a:pt x="14084" y="19392"/>
                </a:lnTo>
                <a:lnTo>
                  <a:pt x="0" y="53390"/>
                </a:lnTo>
                <a:lnTo>
                  <a:pt x="0" y="285750"/>
                </a:lnTo>
                <a:lnTo>
                  <a:pt x="0" y="289500"/>
                </a:lnTo>
                <a:lnTo>
                  <a:pt x="19392" y="328810"/>
                </a:lnTo>
                <a:lnTo>
                  <a:pt x="53403" y="342900"/>
                </a:lnTo>
                <a:lnTo>
                  <a:pt x="2966021" y="342900"/>
                </a:lnTo>
                <a:lnTo>
                  <a:pt x="3005340" y="323507"/>
                </a:lnTo>
                <a:lnTo>
                  <a:pt x="3019425" y="289500"/>
                </a:lnTo>
                <a:lnTo>
                  <a:pt x="3019425" y="53390"/>
                </a:lnTo>
                <a:lnTo>
                  <a:pt x="3000032" y="14084"/>
                </a:lnTo>
                <a:lnTo>
                  <a:pt x="2969742" y="368"/>
                </a:lnTo>
                <a:lnTo>
                  <a:pt x="2966021" y="0"/>
                </a:lnTo>
                <a:close/>
              </a:path>
            </a:pathLst>
          </a:custGeom>
          <a:solidFill>
            <a:srgbClr val="F3F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53575" y="3724275"/>
            <a:ext cx="342900" cy="34290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9372548" y="4324821"/>
            <a:ext cx="71120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100" dirty="0">
                <a:latin typeface="Batang"/>
                <a:cs typeface="Batang"/>
              </a:rPr>
              <a:t>시</a:t>
            </a:r>
            <a:r>
              <a:rPr sz="1700" spc="100" dirty="0">
                <a:latin typeface="Batang"/>
                <a:cs typeface="Batang"/>
              </a:rPr>
              <a:t>각</a:t>
            </a:r>
            <a:r>
              <a:rPr sz="1650" spc="100" dirty="0">
                <a:latin typeface="Batang"/>
                <a:cs typeface="Batang"/>
              </a:rPr>
              <a:t>화</a:t>
            </a:r>
            <a:endParaRPr sz="1650">
              <a:latin typeface="Batang"/>
              <a:cs typeface="Batang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6</a:t>
            </a:fld>
            <a:r>
              <a:rPr spc="-20" dirty="0"/>
              <a:t>/18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8204098" y="4728845"/>
            <a:ext cx="2971800" cy="577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Chart.js</a:t>
            </a:r>
            <a:r>
              <a:rPr sz="1400" spc="80" dirty="0">
                <a:latin typeface="Arial"/>
                <a:cs typeface="Arial"/>
              </a:rPr>
              <a:t> </a:t>
            </a:r>
            <a:r>
              <a:rPr sz="1400" dirty="0">
                <a:latin typeface="Malgun Gothic"/>
                <a:cs typeface="Malgun Gothic"/>
              </a:rPr>
              <a:t>라이브러리를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활용하여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감정 </a:t>
            </a:r>
            <a:r>
              <a:rPr sz="1400" dirty="0">
                <a:latin typeface="Malgun Gothic"/>
                <a:cs typeface="Malgun Gothic"/>
              </a:rPr>
              <a:t>변화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추이를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직관적으로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보여줍니다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80303" y="5521325"/>
            <a:ext cx="23577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170" dirty="0">
                <a:latin typeface="Batang"/>
                <a:cs typeface="Batang"/>
              </a:rPr>
              <a:t>주</a:t>
            </a:r>
            <a:r>
              <a:rPr sz="800" spc="170" dirty="0">
                <a:latin typeface="Batang"/>
                <a:cs typeface="Batang"/>
              </a:rPr>
              <a:t>요</a:t>
            </a:r>
            <a:r>
              <a:rPr sz="800" spc="95" dirty="0">
                <a:latin typeface="Batang"/>
                <a:cs typeface="Batang"/>
              </a:rPr>
              <a:t> </a:t>
            </a:r>
            <a:r>
              <a:rPr sz="950" spc="90" dirty="0">
                <a:latin typeface="Batang"/>
                <a:cs typeface="Batang"/>
              </a:rPr>
              <a:t>기능</a:t>
            </a:r>
            <a:r>
              <a:rPr sz="1050" b="1" spc="90" dirty="0">
                <a:latin typeface="Yu Gothic"/>
                <a:cs typeface="Yu Gothic"/>
              </a:rPr>
              <a:t>:</a:t>
            </a:r>
            <a:r>
              <a:rPr sz="1050" b="1" spc="70" dirty="0">
                <a:latin typeface="Yu Gothic"/>
                <a:cs typeface="Yu Gothic"/>
              </a:rPr>
              <a:t> </a:t>
            </a:r>
            <a:r>
              <a:rPr sz="950" spc="95" dirty="0">
                <a:latin typeface="Batang"/>
                <a:cs typeface="Batang"/>
              </a:rPr>
              <a:t>감정</a:t>
            </a:r>
            <a:r>
              <a:rPr sz="950" spc="45" dirty="0">
                <a:latin typeface="Batang"/>
                <a:cs typeface="Batang"/>
              </a:rPr>
              <a:t> </a:t>
            </a:r>
            <a:r>
              <a:rPr sz="950" spc="95" dirty="0">
                <a:latin typeface="Batang"/>
                <a:cs typeface="Batang"/>
              </a:rPr>
              <a:t>상태</a:t>
            </a:r>
            <a:r>
              <a:rPr sz="950" spc="50" dirty="0">
                <a:latin typeface="Batang"/>
                <a:cs typeface="Batang"/>
              </a:rPr>
              <a:t> </a:t>
            </a:r>
            <a:r>
              <a:rPr sz="950" spc="95" dirty="0">
                <a:latin typeface="Batang"/>
                <a:cs typeface="Batang"/>
              </a:rPr>
              <a:t>변화</a:t>
            </a:r>
            <a:r>
              <a:rPr sz="950" spc="45" dirty="0">
                <a:latin typeface="Batang"/>
                <a:cs typeface="Batang"/>
              </a:rPr>
              <a:t> </a:t>
            </a:r>
            <a:r>
              <a:rPr sz="950" spc="95" dirty="0">
                <a:latin typeface="Batang"/>
                <a:cs typeface="Batang"/>
              </a:rPr>
              <a:t>추이</a:t>
            </a:r>
            <a:r>
              <a:rPr sz="950" spc="50" dirty="0">
                <a:latin typeface="Batang"/>
                <a:cs typeface="Batang"/>
              </a:rPr>
              <a:t> </a:t>
            </a:r>
            <a:r>
              <a:rPr sz="950" spc="135" dirty="0">
                <a:latin typeface="Batang"/>
                <a:cs typeface="Batang"/>
              </a:rPr>
              <a:t>그래</a:t>
            </a:r>
            <a:r>
              <a:rPr sz="750" spc="135" dirty="0">
                <a:latin typeface="Batang"/>
                <a:cs typeface="Batang"/>
              </a:rPr>
              <a:t>프</a:t>
            </a:r>
            <a:endParaRPr sz="750">
              <a:latin typeface="Batang"/>
              <a:cs typeface="Batang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4750" y="507"/>
            <a:ext cx="857250" cy="8567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248399"/>
            <a:ext cx="666750" cy="6672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9300" y="525829"/>
            <a:ext cx="9350375" cy="826122"/>
          </a:xfrm>
          <a:prstGeom prst="rect">
            <a:avLst/>
          </a:prstGeom>
        </p:spPr>
        <p:txBody>
          <a:bodyPr vert="horz" wrap="square" lIns="0" tIns="239012" rIns="0" bIns="0" rtlCol="0">
            <a:spAutoFit/>
          </a:bodyPr>
          <a:lstStyle/>
          <a:p>
            <a:pPr marL="1631950">
              <a:lnSpc>
                <a:spcPct val="100000"/>
              </a:lnSpc>
              <a:spcBef>
                <a:spcPts val="130"/>
              </a:spcBef>
            </a:pPr>
            <a:r>
              <a:rPr sz="3800" spc="27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데이터</a:t>
            </a:r>
            <a:r>
              <a:rPr sz="3800" spc="-3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30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수집</a:t>
            </a:r>
            <a:r>
              <a:rPr sz="3800" spc="-34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3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및</a:t>
            </a:r>
            <a:r>
              <a:rPr sz="3800" spc="-34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6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윤리적</a:t>
            </a:r>
            <a:r>
              <a:rPr sz="3800" spc="-34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45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고려사항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47800" y="2162174"/>
            <a:ext cx="666750" cy="666750"/>
            <a:chOff x="1447800" y="2162174"/>
            <a:chExt cx="666750" cy="666750"/>
          </a:xfrm>
        </p:grpSpPr>
        <p:sp>
          <p:nvSpPr>
            <p:cNvPr id="6" name="object 6"/>
            <p:cNvSpPr/>
            <p:nvPr/>
          </p:nvSpPr>
          <p:spPr>
            <a:xfrm>
              <a:off x="1447800" y="2162174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5" y="0"/>
                  </a:moveTo>
                  <a:lnTo>
                    <a:pt x="292560" y="2505"/>
                  </a:lnTo>
                  <a:lnTo>
                    <a:pt x="252374" y="9990"/>
                  </a:lnTo>
                  <a:lnTo>
                    <a:pt x="213399" y="22335"/>
                  </a:lnTo>
                  <a:lnTo>
                    <a:pt x="176225" y="39357"/>
                  </a:lnTo>
                  <a:lnTo>
                    <a:pt x="141414" y="60816"/>
                  </a:lnTo>
                  <a:lnTo>
                    <a:pt x="109488" y="86361"/>
                  </a:lnTo>
                  <a:lnTo>
                    <a:pt x="80944" y="115621"/>
                  </a:lnTo>
                  <a:lnTo>
                    <a:pt x="56184" y="148158"/>
                  </a:lnTo>
                  <a:lnTo>
                    <a:pt x="35595" y="183488"/>
                  </a:lnTo>
                  <a:lnTo>
                    <a:pt x="19486" y="221062"/>
                  </a:lnTo>
                  <a:lnTo>
                    <a:pt x="8098" y="260332"/>
                  </a:lnTo>
                  <a:lnTo>
                    <a:pt x="1612" y="300697"/>
                  </a:lnTo>
                  <a:lnTo>
                    <a:pt x="0" y="333375"/>
                  </a:lnTo>
                  <a:lnTo>
                    <a:pt x="100" y="341559"/>
                  </a:lnTo>
                  <a:lnTo>
                    <a:pt x="3611" y="382293"/>
                  </a:lnTo>
                  <a:lnTo>
                    <a:pt x="12074" y="422286"/>
                  </a:lnTo>
                  <a:lnTo>
                    <a:pt x="25374" y="460946"/>
                  </a:lnTo>
                  <a:lnTo>
                    <a:pt x="43313" y="497694"/>
                  </a:lnTo>
                  <a:lnTo>
                    <a:pt x="65608" y="531968"/>
                  </a:lnTo>
                  <a:lnTo>
                    <a:pt x="91922" y="563247"/>
                  </a:lnTo>
                  <a:lnTo>
                    <a:pt x="121881" y="591083"/>
                  </a:lnTo>
                  <a:lnTo>
                    <a:pt x="155020" y="615030"/>
                  </a:lnTo>
                  <a:lnTo>
                    <a:pt x="190838" y="634746"/>
                  </a:lnTo>
                  <a:lnTo>
                    <a:pt x="228797" y="649924"/>
                  </a:lnTo>
                  <a:lnTo>
                    <a:pt x="268338" y="660336"/>
                  </a:lnTo>
                  <a:lnTo>
                    <a:pt x="308854" y="665849"/>
                  </a:lnTo>
                  <a:lnTo>
                    <a:pt x="333375" y="666750"/>
                  </a:lnTo>
                  <a:lnTo>
                    <a:pt x="341559" y="666649"/>
                  </a:lnTo>
                  <a:lnTo>
                    <a:pt x="382293" y="663138"/>
                  </a:lnTo>
                  <a:lnTo>
                    <a:pt x="422286" y="654675"/>
                  </a:lnTo>
                  <a:lnTo>
                    <a:pt x="460946" y="641375"/>
                  </a:lnTo>
                  <a:lnTo>
                    <a:pt x="497694" y="623441"/>
                  </a:lnTo>
                  <a:lnTo>
                    <a:pt x="531963" y="601148"/>
                  </a:lnTo>
                  <a:lnTo>
                    <a:pt x="563254" y="574817"/>
                  </a:lnTo>
                  <a:lnTo>
                    <a:pt x="591070" y="544868"/>
                  </a:lnTo>
                  <a:lnTo>
                    <a:pt x="615030" y="511729"/>
                  </a:lnTo>
                  <a:lnTo>
                    <a:pt x="634744" y="475911"/>
                  </a:lnTo>
                  <a:lnTo>
                    <a:pt x="649924" y="437952"/>
                  </a:lnTo>
                  <a:lnTo>
                    <a:pt x="660349" y="398411"/>
                  </a:lnTo>
                  <a:lnTo>
                    <a:pt x="665844" y="357895"/>
                  </a:lnTo>
                  <a:lnTo>
                    <a:pt x="666750" y="333375"/>
                  </a:lnTo>
                  <a:lnTo>
                    <a:pt x="666649" y="325190"/>
                  </a:lnTo>
                  <a:lnTo>
                    <a:pt x="663138" y="284456"/>
                  </a:lnTo>
                  <a:lnTo>
                    <a:pt x="654675" y="244463"/>
                  </a:lnTo>
                  <a:lnTo>
                    <a:pt x="641375" y="205790"/>
                  </a:lnTo>
                  <a:lnTo>
                    <a:pt x="623436" y="169055"/>
                  </a:lnTo>
                  <a:lnTo>
                    <a:pt x="601141" y="134781"/>
                  </a:lnTo>
                  <a:lnTo>
                    <a:pt x="574827" y="103497"/>
                  </a:lnTo>
                  <a:lnTo>
                    <a:pt x="544868" y="75666"/>
                  </a:lnTo>
                  <a:lnTo>
                    <a:pt x="511729" y="51719"/>
                  </a:lnTo>
                  <a:lnTo>
                    <a:pt x="475911" y="32004"/>
                  </a:lnTo>
                  <a:lnTo>
                    <a:pt x="437952" y="16825"/>
                  </a:lnTo>
                  <a:lnTo>
                    <a:pt x="398411" y="6400"/>
                  </a:lnTo>
                  <a:lnTo>
                    <a:pt x="357895" y="9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7349" y="2324099"/>
              <a:ext cx="247650" cy="3429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7800" y="3095624"/>
            <a:ext cx="180975" cy="1809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7800" y="3524249"/>
            <a:ext cx="180975" cy="1809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7800" y="3943349"/>
            <a:ext cx="180975" cy="1809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7800" y="4759325"/>
            <a:ext cx="180975" cy="1809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47800" y="5140325"/>
            <a:ext cx="180975" cy="1809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47800" y="5530850"/>
            <a:ext cx="161925" cy="180975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0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데이터</a:t>
            </a:r>
            <a:r>
              <a:rPr spc="-175" dirty="0"/>
              <a:t> </a:t>
            </a:r>
            <a:r>
              <a:rPr spc="85" dirty="0"/>
              <a:t>출처</a:t>
            </a:r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00" dirty="0"/>
          </a:p>
          <a:p>
            <a:pPr marL="307975" marR="5080">
              <a:lnSpc>
                <a:spcPct val="198700"/>
              </a:lnSpc>
            </a:pP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공개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한국어</a:t>
            </a:r>
            <a:r>
              <a:rPr sz="1400" spc="-6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감정</a:t>
            </a:r>
            <a:r>
              <a:rPr sz="1400" spc="-6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데이터셋</a:t>
            </a:r>
            <a:r>
              <a:rPr sz="1400" dirty="0">
                <a:solidFill>
                  <a:srgbClr val="1B1B1B"/>
                </a:solidFill>
                <a:latin typeface="Arial"/>
                <a:cs typeface="Arial"/>
              </a:rPr>
              <a:t>(AI</a:t>
            </a:r>
            <a:r>
              <a:rPr sz="1400" spc="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B1B1B"/>
                </a:solidFill>
                <a:latin typeface="Arial"/>
                <a:cs typeface="Arial"/>
              </a:rPr>
              <a:t>Hub</a:t>
            </a:r>
            <a:r>
              <a:rPr sz="1400" spc="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등</a:t>
            </a:r>
            <a:r>
              <a:rPr sz="1400" dirty="0">
                <a:solidFill>
                  <a:srgbClr val="1B1B1B"/>
                </a:solidFill>
                <a:latin typeface="Arial"/>
                <a:cs typeface="Arial"/>
              </a:rPr>
              <a:t>)</a:t>
            </a:r>
            <a:r>
              <a:rPr sz="1400" spc="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1B1B1B"/>
                </a:solidFill>
                <a:latin typeface="Malgun Gothic"/>
                <a:cs typeface="Malgun Gothic"/>
              </a:rPr>
              <a:t>활용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직접</a:t>
            </a:r>
            <a:r>
              <a:rPr sz="1400" spc="-7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작성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대화</a:t>
            </a:r>
            <a:r>
              <a:rPr sz="1400" dirty="0">
                <a:solidFill>
                  <a:srgbClr val="1B1B1B"/>
                </a:solidFill>
                <a:latin typeface="Arial"/>
                <a:cs typeface="Arial"/>
              </a:rPr>
              <a:t>:</a:t>
            </a:r>
            <a:r>
              <a:rPr sz="1400" spc="4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실제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상담</a:t>
            </a:r>
            <a:r>
              <a:rPr sz="1400" spc="-7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시나리오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1B1B1B"/>
                </a:solidFill>
                <a:latin typeface="Malgun Gothic"/>
                <a:cs typeface="Malgun Gothic"/>
              </a:rPr>
              <a:t>반영</a:t>
            </a:r>
            <a:r>
              <a:rPr sz="1400" spc="50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다양한</a:t>
            </a:r>
            <a:r>
              <a:rPr sz="1400" spc="-7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감정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상태에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대한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균형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잡힌</a:t>
            </a:r>
            <a:r>
              <a:rPr sz="1400" spc="-7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데이터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1B1B1B"/>
                </a:solidFill>
                <a:latin typeface="Malgun Gothic"/>
                <a:cs typeface="Malgun Gothic"/>
              </a:rPr>
              <a:t>확보</a:t>
            </a:r>
            <a:endParaRPr sz="14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4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50" spc="100" dirty="0"/>
              <a:t>전처리</a:t>
            </a:r>
            <a:r>
              <a:rPr sz="1250" spc="-120" dirty="0"/>
              <a:t> </a:t>
            </a:r>
            <a:r>
              <a:rPr sz="1250" spc="65" dirty="0"/>
              <a:t>과정</a:t>
            </a:r>
            <a:endParaRPr sz="1250" dirty="0"/>
          </a:p>
          <a:p>
            <a:pPr marL="307975" marR="829310">
              <a:lnSpc>
                <a:spcPct val="178600"/>
              </a:lnSpc>
              <a:spcBef>
                <a:spcPts val="25"/>
              </a:spcBef>
            </a:pP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불필요한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문자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제거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및</a:t>
            </a:r>
            <a:r>
              <a:rPr sz="1400" spc="-6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이모티콘</a:t>
            </a:r>
            <a:r>
              <a:rPr sz="1400" spc="-6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1B1B1B"/>
                </a:solidFill>
                <a:latin typeface="Malgun Gothic"/>
                <a:cs typeface="Malgun Gothic"/>
              </a:rPr>
              <a:t>정리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욕설</a:t>
            </a:r>
            <a:r>
              <a:rPr sz="1400" spc="-6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필터링</a:t>
            </a:r>
            <a:r>
              <a:rPr sz="1400" dirty="0">
                <a:solidFill>
                  <a:srgbClr val="1B1B1B"/>
                </a:solidFill>
                <a:latin typeface="Arial"/>
                <a:cs typeface="Arial"/>
              </a:rPr>
              <a:t>:</a:t>
            </a:r>
            <a:r>
              <a:rPr sz="1400" spc="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부적절한</a:t>
            </a:r>
            <a:r>
              <a:rPr sz="1400" spc="-6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언어</a:t>
            </a:r>
            <a:r>
              <a:rPr sz="1400" spc="-6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1B1B1B"/>
                </a:solidFill>
                <a:latin typeface="Malgun Gothic"/>
                <a:cs typeface="Malgun Gothic"/>
              </a:rPr>
              <a:t>차단</a:t>
            </a:r>
            <a:endParaRPr sz="1400" dirty="0">
              <a:latin typeface="Malgun Gothic"/>
              <a:cs typeface="Malgun Gothic"/>
            </a:endParaRPr>
          </a:p>
          <a:p>
            <a:pPr marL="288925">
              <a:lnSpc>
                <a:spcPct val="100000"/>
              </a:lnSpc>
              <a:spcBef>
                <a:spcPts val="1395"/>
              </a:spcBef>
            </a:pP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감정</a:t>
            </a:r>
            <a:r>
              <a:rPr sz="1400" spc="-6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레이블</a:t>
            </a:r>
            <a:r>
              <a:rPr sz="1400" spc="-6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부여</a:t>
            </a:r>
            <a:r>
              <a:rPr sz="1400" dirty="0">
                <a:solidFill>
                  <a:srgbClr val="1B1B1B"/>
                </a:solidFill>
                <a:latin typeface="Arial"/>
                <a:cs typeface="Arial"/>
              </a:rPr>
              <a:t>:</a:t>
            </a:r>
            <a:r>
              <a:rPr sz="1400" spc="4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학습</a:t>
            </a:r>
            <a:r>
              <a:rPr sz="1400" spc="-6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데이터셋</a:t>
            </a:r>
            <a:r>
              <a:rPr sz="1400" spc="-60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B1B1B"/>
                </a:solidFill>
                <a:latin typeface="Malgun Gothic"/>
                <a:cs typeface="Malgun Gothic"/>
              </a:rPr>
              <a:t>형식으로</a:t>
            </a:r>
            <a:r>
              <a:rPr sz="1400" spc="-55" dirty="0">
                <a:solidFill>
                  <a:srgbClr val="1B1B1B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1B1B1B"/>
                </a:solidFill>
                <a:latin typeface="Malgun Gothic"/>
                <a:cs typeface="Malgun Gothic"/>
              </a:rPr>
              <a:t>변환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91300" y="2162174"/>
            <a:ext cx="666750" cy="666750"/>
            <a:chOff x="6591300" y="2162174"/>
            <a:chExt cx="666750" cy="666750"/>
          </a:xfrm>
        </p:grpSpPr>
        <p:sp>
          <p:nvSpPr>
            <p:cNvPr id="16" name="object 16"/>
            <p:cNvSpPr/>
            <p:nvPr/>
          </p:nvSpPr>
          <p:spPr>
            <a:xfrm>
              <a:off x="6591300" y="2162174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5" y="0"/>
                  </a:moveTo>
                  <a:lnTo>
                    <a:pt x="292560" y="2505"/>
                  </a:lnTo>
                  <a:lnTo>
                    <a:pt x="252374" y="9990"/>
                  </a:lnTo>
                  <a:lnTo>
                    <a:pt x="213399" y="22335"/>
                  </a:lnTo>
                  <a:lnTo>
                    <a:pt x="176225" y="39357"/>
                  </a:lnTo>
                  <a:lnTo>
                    <a:pt x="141414" y="60816"/>
                  </a:lnTo>
                  <a:lnTo>
                    <a:pt x="109488" y="86361"/>
                  </a:lnTo>
                  <a:lnTo>
                    <a:pt x="80944" y="115621"/>
                  </a:lnTo>
                  <a:lnTo>
                    <a:pt x="56184" y="148158"/>
                  </a:lnTo>
                  <a:lnTo>
                    <a:pt x="35595" y="183488"/>
                  </a:lnTo>
                  <a:lnTo>
                    <a:pt x="19486" y="221062"/>
                  </a:lnTo>
                  <a:lnTo>
                    <a:pt x="8098" y="260332"/>
                  </a:lnTo>
                  <a:lnTo>
                    <a:pt x="1600" y="300697"/>
                  </a:lnTo>
                  <a:lnTo>
                    <a:pt x="0" y="333375"/>
                  </a:lnTo>
                  <a:lnTo>
                    <a:pt x="100" y="341559"/>
                  </a:lnTo>
                  <a:lnTo>
                    <a:pt x="3611" y="382293"/>
                  </a:lnTo>
                  <a:lnTo>
                    <a:pt x="12074" y="422286"/>
                  </a:lnTo>
                  <a:lnTo>
                    <a:pt x="25374" y="460946"/>
                  </a:lnTo>
                  <a:lnTo>
                    <a:pt x="43313" y="497694"/>
                  </a:lnTo>
                  <a:lnTo>
                    <a:pt x="65608" y="531968"/>
                  </a:lnTo>
                  <a:lnTo>
                    <a:pt x="91922" y="563247"/>
                  </a:lnTo>
                  <a:lnTo>
                    <a:pt x="121881" y="591083"/>
                  </a:lnTo>
                  <a:lnTo>
                    <a:pt x="155020" y="615030"/>
                  </a:lnTo>
                  <a:lnTo>
                    <a:pt x="190838" y="634746"/>
                  </a:lnTo>
                  <a:lnTo>
                    <a:pt x="228797" y="649924"/>
                  </a:lnTo>
                  <a:lnTo>
                    <a:pt x="268338" y="660336"/>
                  </a:lnTo>
                  <a:lnTo>
                    <a:pt x="308854" y="665849"/>
                  </a:lnTo>
                  <a:lnTo>
                    <a:pt x="333375" y="666750"/>
                  </a:lnTo>
                  <a:lnTo>
                    <a:pt x="341559" y="666649"/>
                  </a:lnTo>
                  <a:lnTo>
                    <a:pt x="382293" y="663138"/>
                  </a:lnTo>
                  <a:lnTo>
                    <a:pt x="422286" y="654675"/>
                  </a:lnTo>
                  <a:lnTo>
                    <a:pt x="460946" y="641375"/>
                  </a:lnTo>
                  <a:lnTo>
                    <a:pt x="497694" y="623441"/>
                  </a:lnTo>
                  <a:lnTo>
                    <a:pt x="531963" y="601148"/>
                  </a:lnTo>
                  <a:lnTo>
                    <a:pt x="563252" y="574817"/>
                  </a:lnTo>
                  <a:lnTo>
                    <a:pt x="591070" y="544868"/>
                  </a:lnTo>
                  <a:lnTo>
                    <a:pt x="615030" y="511729"/>
                  </a:lnTo>
                  <a:lnTo>
                    <a:pt x="634739" y="475911"/>
                  </a:lnTo>
                  <a:lnTo>
                    <a:pt x="649924" y="437952"/>
                  </a:lnTo>
                  <a:lnTo>
                    <a:pt x="660349" y="398411"/>
                  </a:lnTo>
                  <a:lnTo>
                    <a:pt x="665849" y="357895"/>
                  </a:lnTo>
                  <a:lnTo>
                    <a:pt x="666750" y="333375"/>
                  </a:lnTo>
                  <a:lnTo>
                    <a:pt x="666649" y="325190"/>
                  </a:lnTo>
                  <a:lnTo>
                    <a:pt x="663140" y="284456"/>
                  </a:lnTo>
                  <a:lnTo>
                    <a:pt x="654675" y="244463"/>
                  </a:lnTo>
                  <a:lnTo>
                    <a:pt x="641375" y="205790"/>
                  </a:lnTo>
                  <a:lnTo>
                    <a:pt x="623436" y="169055"/>
                  </a:lnTo>
                  <a:lnTo>
                    <a:pt x="601141" y="134781"/>
                  </a:lnTo>
                  <a:lnTo>
                    <a:pt x="574827" y="103497"/>
                  </a:lnTo>
                  <a:lnTo>
                    <a:pt x="544868" y="75666"/>
                  </a:lnTo>
                  <a:lnTo>
                    <a:pt x="511729" y="51719"/>
                  </a:lnTo>
                  <a:lnTo>
                    <a:pt x="475911" y="32004"/>
                  </a:lnTo>
                  <a:lnTo>
                    <a:pt x="437952" y="16825"/>
                  </a:lnTo>
                  <a:lnTo>
                    <a:pt x="398411" y="6400"/>
                  </a:lnTo>
                  <a:lnTo>
                    <a:pt x="357895" y="90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81799" y="2324099"/>
              <a:ext cx="285750" cy="34290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465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윤리적</a:t>
            </a:r>
            <a:r>
              <a:rPr spc="-175" dirty="0"/>
              <a:t> </a:t>
            </a:r>
            <a:r>
              <a:rPr spc="315" dirty="0"/>
              <a:t>고려</a:t>
            </a:r>
            <a:r>
              <a:rPr spc="-175" dirty="0"/>
              <a:t> </a:t>
            </a:r>
            <a:r>
              <a:rPr spc="75" dirty="0"/>
              <a:t>사항</a:t>
            </a:r>
            <a:endParaRPr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</a:pPr>
            <a:endParaRPr sz="200" dirty="0"/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00" dirty="0"/>
          </a:p>
          <a:p>
            <a:pPr marL="12700">
              <a:lnSpc>
                <a:spcPct val="100000"/>
              </a:lnSpc>
            </a:pPr>
            <a:r>
              <a:rPr lang="ko-KR" altLang="en-US" sz="1250" spc="165" dirty="0">
                <a:solidFill>
                  <a:srgbClr val="1B1B1B"/>
                </a:solidFill>
              </a:rPr>
              <a:t>개인정보</a:t>
            </a:r>
            <a:r>
              <a:rPr lang="ko-KR" altLang="en-US" sz="1250" spc="50" dirty="0">
                <a:solidFill>
                  <a:srgbClr val="1B1B1B"/>
                </a:solidFill>
              </a:rPr>
              <a:t> </a:t>
            </a:r>
            <a:r>
              <a:rPr lang="ko-KR" altLang="en-US" sz="1250" spc="315" dirty="0">
                <a:solidFill>
                  <a:srgbClr val="1B1B1B"/>
                </a:solidFill>
              </a:rPr>
              <a:t>보호</a:t>
            </a:r>
            <a:endParaRPr sz="1250" dirty="0"/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0" dirty="0"/>
          </a:p>
          <a:p>
            <a:pPr marL="12700" marR="135255" algn="just">
              <a:lnSpc>
                <a:spcPct val="127200"/>
              </a:lnSpc>
              <a:spcBef>
                <a:spcPts val="5"/>
              </a:spcBef>
            </a:pP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사용자의</a:t>
            </a:r>
            <a:r>
              <a:rPr sz="140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개인정보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및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상담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내용은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철저히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spc="-50" dirty="0">
                <a:solidFill>
                  <a:srgbClr val="374050"/>
                </a:solidFill>
                <a:latin typeface="Malgun Gothic"/>
                <a:cs typeface="Malgun Gothic"/>
              </a:rPr>
              <a:t>익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명화하고</a:t>
            </a:r>
            <a:r>
              <a:rPr sz="1400" dirty="0">
                <a:solidFill>
                  <a:srgbClr val="374050"/>
                </a:solidFill>
                <a:latin typeface="Arial"/>
                <a:cs typeface="Arial"/>
              </a:rPr>
              <a:t>,</a:t>
            </a:r>
            <a:r>
              <a:rPr sz="1400" spc="5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상담</a:t>
            </a:r>
            <a:r>
              <a:rPr sz="1400" spc="-5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후에는</a:t>
            </a:r>
            <a:r>
              <a:rPr sz="1400" spc="-5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폐기하는</a:t>
            </a:r>
            <a:r>
              <a:rPr sz="1400" spc="-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원칙을</a:t>
            </a:r>
            <a:r>
              <a:rPr sz="1400" spc="-5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374050"/>
                </a:solidFill>
                <a:latin typeface="Malgun Gothic"/>
                <a:cs typeface="Malgun Gothic"/>
              </a:rPr>
              <a:t>준수 </a:t>
            </a:r>
            <a:r>
              <a:rPr sz="1400" spc="-20" dirty="0">
                <a:solidFill>
                  <a:srgbClr val="374050"/>
                </a:solidFill>
                <a:latin typeface="Malgun Gothic"/>
                <a:cs typeface="Malgun Gothic"/>
              </a:rPr>
              <a:t>합니다</a:t>
            </a:r>
            <a:r>
              <a:rPr sz="1400" spc="-20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50" spc="100" dirty="0">
                <a:solidFill>
                  <a:srgbClr val="1B1B1B"/>
                </a:solidFill>
              </a:rPr>
              <a:t>익명성</a:t>
            </a:r>
            <a:r>
              <a:rPr sz="1250" spc="-40" dirty="0">
                <a:solidFill>
                  <a:srgbClr val="1B1B1B"/>
                </a:solidFill>
              </a:rPr>
              <a:t> </a:t>
            </a:r>
            <a:r>
              <a:rPr sz="1250" spc="190" dirty="0">
                <a:solidFill>
                  <a:srgbClr val="1B1B1B"/>
                </a:solidFill>
              </a:rPr>
              <a:t>보장</a:t>
            </a:r>
            <a:endParaRPr sz="1250" dirty="0"/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50" dirty="0"/>
          </a:p>
          <a:p>
            <a:pPr marL="12700" marR="5080">
              <a:lnSpc>
                <a:spcPct val="125000"/>
              </a:lnSpc>
            </a:pP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모든</a:t>
            </a:r>
            <a:r>
              <a:rPr sz="1400" spc="-5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사용자</a:t>
            </a:r>
            <a:r>
              <a:rPr sz="1400" spc="-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데이터는</a:t>
            </a:r>
            <a:r>
              <a:rPr sz="1400" spc="-5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익명으로</a:t>
            </a:r>
            <a:r>
              <a:rPr sz="1400" spc="-5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처리되어</a:t>
            </a:r>
            <a:r>
              <a:rPr sz="1400" spc="-5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374050"/>
                </a:solidFill>
                <a:latin typeface="Malgun Gothic"/>
                <a:cs typeface="Malgun Gothic"/>
              </a:rPr>
              <a:t>개인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식별이</a:t>
            </a:r>
            <a:r>
              <a:rPr sz="1400" spc="-4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불가능하도록</a:t>
            </a:r>
            <a:r>
              <a:rPr sz="1400" spc="-3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spc="-20" dirty="0">
                <a:solidFill>
                  <a:srgbClr val="374050"/>
                </a:solidFill>
                <a:latin typeface="Malgun Gothic"/>
                <a:cs typeface="Malgun Gothic"/>
              </a:rPr>
              <a:t>합니다</a:t>
            </a:r>
            <a:r>
              <a:rPr sz="1400" spc="-20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50" spc="90" dirty="0">
                <a:solidFill>
                  <a:srgbClr val="1B1B1B"/>
                </a:solidFill>
              </a:rPr>
              <a:t>자</a:t>
            </a:r>
            <a:r>
              <a:rPr sz="1300" spc="90" dirty="0">
                <a:solidFill>
                  <a:srgbClr val="1B1B1B"/>
                </a:solidFill>
              </a:rPr>
              <a:t>해</a:t>
            </a:r>
            <a:r>
              <a:rPr sz="1300" spc="-40" dirty="0">
                <a:solidFill>
                  <a:srgbClr val="1B1B1B"/>
                </a:solidFill>
              </a:rPr>
              <a:t> </a:t>
            </a:r>
            <a:r>
              <a:rPr sz="1300" spc="114" dirty="0">
                <a:solidFill>
                  <a:srgbClr val="1B1B1B"/>
                </a:solidFill>
              </a:rPr>
              <a:t>관련</a:t>
            </a:r>
            <a:r>
              <a:rPr sz="1300" spc="-35" dirty="0">
                <a:solidFill>
                  <a:srgbClr val="1B1B1B"/>
                </a:solidFill>
              </a:rPr>
              <a:t> </a:t>
            </a:r>
            <a:r>
              <a:rPr sz="1250" spc="120" dirty="0">
                <a:solidFill>
                  <a:srgbClr val="1B1B1B"/>
                </a:solidFill>
              </a:rPr>
              <a:t>문</a:t>
            </a:r>
            <a:r>
              <a:rPr sz="1350" spc="120" dirty="0">
                <a:solidFill>
                  <a:srgbClr val="1B1B1B"/>
                </a:solidFill>
              </a:rPr>
              <a:t>장</a:t>
            </a:r>
            <a:r>
              <a:rPr sz="1350" spc="-50" dirty="0">
                <a:solidFill>
                  <a:srgbClr val="1B1B1B"/>
                </a:solidFill>
              </a:rPr>
              <a:t> </a:t>
            </a:r>
            <a:r>
              <a:rPr sz="1300" spc="90" dirty="0">
                <a:solidFill>
                  <a:srgbClr val="1B1B1B"/>
                </a:solidFill>
              </a:rPr>
              <a:t>처리</a:t>
            </a:r>
            <a:endParaRPr sz="1300" dirty="0"/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50" dirty="0"/>
          </a:p>
          <a:p>
            <a:pPr marL="12700" marR="5080">
              <a:lnSpc>
                <a:spcPct val="127200"/>
              </a:lnSpc>
            </a:pP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사용자가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자해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또는</a:t>
            </a:r>
            <a:r>
              <a:rPr sz="1400" spc="-5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극단적인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선택을</a:t>
            </a:r>
            <a:r>
              <a:rPr sz="1400" spc="-5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spc="-20" dirty="0">
                <a:solidFill>
                  <a:srgbClr val="374050"/>
                </a:solidFill>
                <a:latin typeface="Malgun Gothic"/>
                <a:cs typeface="Malgun Gothic"/>
              </a:rPr>
              <a:t>암시하는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문장을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입력할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경우</a:t>
            </a:r>
            <a:r>
              <a:rPr sz="1400" dirty="0">
                <a:solidFill>
                  <a:srgbClr val="374050"/>
                </a:solidFill>
                <a:latin typeface="Arial"/>
                <a:cs typeface="Arial"/>
              </a:rPr>
              <a:t>,</a:t>
            </a:r>
            <a:r>
              <a:rPr sz="1400" spc="45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즉시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전문가의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도움을</a:t>
            </a:r>
            <a:r>
              <a:rPr sz="1400" spc="-5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spc="-50" dirty="0">
                <a:solidFill>
                  <a:srgbClr val="374050"/>
                </a:solidFill>
                <a:latin typeface="Malgun Gothic"/>
                <a:cs typeface="Malgun Gothic"/>
              </a:rPr>
              <a:t>받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을</a:t>
            </a:r>
            <a:r>
              <a:rPr sz="140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수</a:t>
            </a:r>
            <a:r>
              <a:rPr sz="140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있도록</a:t>
            </a:r>
            <a:r>
              <a:rPr sz="140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안내하는</a:t>
            </a:r>
            <a:r>
              <a:rPr sz="140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374050"/>
                </a:solidFill>
                <a:latin typeface="Malgun Gothic"/>
                <a:cs typeface="Malgun Gothic"/>
              </a:rPr>
              <a:t>시스템을</a:t>
            </a:r>
            <a:r>
              <a:rPr sz="140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374050"/>
                </a:solidFill>
                <a:latin typeface="Malgun Gothic"/>
                <a:cs typeface="Malgun Gothic"/>
              </a:rPr>
              <a:t>구축합니다</a:t>
            </a:r>
            <a:r>
              <a:rPr sz="1400" spc="-10" dirty="0">
                <a:solidFill>
                  <a:srgbClr val="374050"/>
                </a:solidFill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24650" y="3057524"/>
            <a:ext cx="200025" cy="3048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705600" y="4410074"/>
            <a:ext cx="228600" cy="3048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705600" y="5495924"/>
            <a:ext cx="228600" cy="30480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2" rIns="0" bIns="0" rtlCol="0">
            <a:spAutoFit/>
          </a:bodyPr>
          <a:lstStyle/>
          <a:p>
            <a:pPr marL="88900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20" dirty="0"/>
              <a:t>7</a:t>
            </a:fld>
            <a:r>
              <a:rPr spc="-20" dirty="0"/>
              <a:t>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525829"/>
            <a:ext cx="9350375" cy="717504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135"/>
              </a:spcBef>
            </a:pPr>
            <a:r>
              <a:rPr sz="3800" spc="3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구현</a:t>
            </a:r>
            <a:r>
              <a:rPr sz="3800" spc="-204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60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도구</a:t>
            </a:r>
            <a:r>
              <a:rPr sz="3800" spc="-17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18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및</a:t>
            </a:r>
            <a:r>
              <a:rPr sz="3800" spc="-2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19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개발</a:t>
            </a:r>
            <a:r>
              <a:rPr sz="3800" spc="-2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환경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62025" y="1790700"/>
          <a:ext cx="10257155" cy="3866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2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50" spc="13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개</a:t>
                      </a:r>
                      <a:r>
                        <a:rPr sz="1900" spc="13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발</a:t>
                      </a:r>
                      <a:r>
                        <a:rPr sz="1900" spc="-16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850" spc="13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언어</a:t>
                      </a:r>
                      <a:endParaRPr sz="185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lnT w="9525">
                      <a:solidFill>
                        <a:srgbClr val="D1D5DB"/>
                      </a:solidFill>
                      <a:prstDash val="solid"/>
                    </a:lnT>
                    <a:lnB w="9525">
                      <a:solidFill>
                        <a:srgbClr val="D1D5DB"/>
                      </a:solidFill>
                      <a:prstDash val="soli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50" spc="13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개</a:t>
                      </a:r>
                      <a:r>
                        <a:rPr sz="1900" spc="13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발</a:t>
                      </a:r>
                      <a:r>
                        <a:rPr sz="1900" spc="-16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450" spc="375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도</a:t>
                      </a:r>
                      <a:r>
                        <a:rPr sz="1750" spc="375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구</a:t>
                      </a:r>
                      <a:endParaRPr sz="175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lnT w="9525">
                      <a:solidFill>
                        <a:srgbClr val="D1D5DB"/>
                      </a:solidFill>
                      <a:prstDash val="solid"/>
                    </a:lnT>
                    <a:lnB w="9525">
                      <a:solidFill>
                        <a:srgbClr val="D1D5DB"/>
                      </a:solidFill>
                      <a:prstDash val="solid"/>
                    </a:lnB>
                    <a:solidFill>
                      <a:srgbClr val="E5E7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 marL="518795">
                        <a:lnSpc>
                          <a:spcPct val="100000"/>
                        </a:lnSpc>
                      </a:pPr>
                      <a:r>
                        <a:rPr sz="1900" dirty="0">
                          <a:solidFill>
                            <a:srgbClr val="1B1B1B"/>
                          </a:solidFill>
                          <a:latin typeface="Microsoft YaHei"/>
                          <a:cs typeface="Microsoft YaHei"/>
                        </a:rPr>
                        <a:t>AI</a:t>
                      </a:r>
                      <a:r>
                        <a:rPr sz="1900" spc="-5" dirty="0">
                          <a:solidFill>
                            <a:srgbClr val="1B1B1B"/>
                          </a:solidFill>
                          <a:latin typeface="Microsoft YaHei"/>
                          <a:cs typeface="Microsoft YaHei"/>
                        </a:rPr>
                        <a:t> </a:t>
                      </a:r>
                      <a:r>
                        <a:rPr sz="1400" spc="33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프</a:t>
                      </a:r>
                      <a:r>
                        <a:rPr sz="1850" spc="33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레임워</a:t>
                      </a:r>
                      <a:r>
                        <a:rPr sz="1400" spc="33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크</a:t>
                      </a:r>
                      <a:endParaRPr sz="140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D1D5DB"/>
                      </a:solidFill>
                      <a:prstDash val="solid"/>
                    </a:lnL>
                    <a:lnT w="9525">
                      <a:solidFill>
                        <a:srgbClr val="D1D5DB"/>
                      </a:solidFill>
                      <a:prstDash val="solid"/>
                    </a:lnT>
                    <a:lnB w="9525">
                      <a:solidFill>
                        <a:srgbClr val="D1D5DB"/>
                      </a:solidFill>
                      <a:prstDash val="solid"/>
                    </a:lnB>
                    <a:solidFill>
                      <a:srgbClr val="E5E7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900" spc="95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및</a:t>
                      </a:r>
                      <a:r>
                        <a:rPr sz="1900" spc="-16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900" spc="-25" dirty="0">
                          <a:solidFill>
                            <a:srgbClr val="1B1B1B"/>
                          </a:solidFill>
                          <a:latin typeface="Microsoft YaHei"/>
                          <a:cs typeface="Microsoft YaHei"/>
                        </a:rPr>
                        <a:t>API</a:t>
                      </a:r>
                      <a:endParaRPr sz="1900">
                        <a:latin typeface="Microsoft YaHei"/>
                        <a:cs typeface="Microsoft YaHei"/>
                      </a:endParaRPr>
                    </a:p>
                  </a:txBody>
                  <a:tcPr marL="0" marR="0" marT="229870" marB="0">
                    <a:lnR w="9525">
                      <a:solidFill>
                        <a:srgbClr val="D1D5DB"/>
                      </a:solidFill>
                      <a:prstDash val="solid"/>
                    </a:lnR>
                    <a:lnT w="9525">
                      <a:solidFill>
                        <a:srgbClr val="D1D5DB"/>
                      </a:solidFill>
                      <a:prstDash val="solid"/>
                    </a:lnT>
                    <a:lnB w="9525">
                      <a:solidFill>
                        <a:srgbClr val="D1D5DB"/>
                      </a:solidFill>
                      <a:prstDash val="soli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590">
                <a:tc>
                  <a:txBody>
                    <a:bodyPr/>
                    <a:lstStyle/>
                    <a:p>
                      <a:pPr marL="537845" marR="361950">
                        <a:lnSpc>
                          <a:spcPct val="125000"/>
                        </a:lnSpc>
                        <a:spcBef>
                          <a:spcPts val="1215"/>
                        </a:spcBef>
                      </a:pPr>
                      <a:r>
                        <a:rPr sz="140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Python:</a:t>
                      </a:r>
                      <a:r>
                        <a:rPr sz="1400" spc="1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1400" spc="-1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모델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웹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서비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스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백엔드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54305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lnT w="9525">
                      <a:solidFill>
                        <a:srgbClr val="D1D5D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37845" marR="238125">
                        <a:lnSpc>
                          <a:spcPct val="125000"/>
                        </a:lnSpc>
                        <a:spcBef>
                          <a:spcPts val="1215"/>
                        </a:spcBef>
                      </a:pPr>
                      <a:r>
                        <a:rPr sz="140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Google</a:t>
                      </a:r>
                      <a:r>
                        <a:rPr sz="1400" spc="-2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Colab:</a:t>
                      </a:r>
                      <a:r>
                        <a:rPr sz="1400" spc="15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1400" spc="-1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모델</a:t>
                      </a:r>
                      <a:r>
                        <a:rPr sz="1400" spc="-8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학습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실 험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54305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lnT w="9525">
                      <a:solidFill>
                        <a:srgbClr val="D1D5D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37845" marR="323850">
                        <a:lnSpc>
                          <a:spcPct val="125000"/>
                        </a:lnSpc>
                        <a:spcBef>
                          <a:spcPts val="1215"/>
                        </a:spcBef>
                      </a:pPr>
                      <a:r>
                        <a:rPr sz="1400" spc="-25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PyTorch:</a:t>
                      </a:r>
                      <a:r>
                        <a:rPr sz="1400" spc="5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딥러닝</a:t>
                      </a:r>
                      <a:r>
                        <a:rPr sz="1400" spc="-9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모델</a:t>
                      </a:r>
                      <a:r>
                        <a:rPr sz="1400" spc="-9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구축</a:t>
                      </a:r>
                      <a:r>
                        <a:rPr sz="1400" spc="-9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9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학 습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54305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lnT w="9525">
                      <a:solidFill>
                        <a:srgbClr val="D1D5D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537845" marR="323850">
                        <a:lnSpc>
                          <a:spcPct val="125000"/>
                        </a:lnSpc>
                        <a:spcBef>
                          <a:spcPts val="145"/>
                        </a:spcBef>
                      </a:pPr>
                      <a:r>
                        <a:rPr sz="1400" spc="-2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HTML/CSS/JS:</a:t>
                      </a:r>
                      <a:r>
                        <a:rPr sz="1400" spc="55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프론트엔드</a:t>
                      </a:r>
                      <a:r>
                        <a:rPr sz="1400" spc="-4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인터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페이스</a:t>
                      </a:r>
                      <a:r>
                        <a:rPr sz="1400" spc="-6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8415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37845" marR="304800">
                        <a:lnSpc>
                          <a:spcPct val="125000"/>
                        </a:lnSpc>
                        <a:spcBef>
                          <a:spcPts val="145"/>
                        </a:spcBef>
                      </a:pPr>
                      <a:r>
                        <a:rPr sz="1400" spc="-1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VS</a:t>
                      </a:r>
                      <a:r>
                        <a:rPr sz="1400" spc="-55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Code:</a:t>
                      </a:r>
                      <a:r>
                        <a:rPr sz="1400" spc="-5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코드</a:t>
                      </a:r>
                      <a:r>
                        <a:rPr sz="1400" spc="-1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작성</a:t>
                      </a:r>
                      <a:r>
                        <a:rPr sz="1400" spc="-1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1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프로젝트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관리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8415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37845" marR="333375">
                        <a:lnSpc>
                          <a:spcPct val="125000"/>
                        </a:lnSpc>
                        <a:spcBef>
                          <a:spcPts val="145"/>
                        </a:spcBef>
                      </a:pPr>
                      <a:r>
                        <a:rPr sz="1400" spc="-3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ChatGPT</a:t>
                      </a:r>
                      <a:r>
                        <a:rPr sz="1400" spc="-45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API: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대화</a:t>
                      </a:r>
                      <a:r>
                        <a:rPr sz="1400" spc="-9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생성</a:t>
                      </a:r>
                      <a:r>
                        <a:rPr sz="1400" spc="-1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기능</a:t>
                      </a:r>
                      <a:r>
                        <a:rPr sz="1400" spc="-9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구 현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8415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22542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spc="-2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SQL:</a:t>
                      </a:r>
                      <a:r>
                        <a:rPr sz="1400" spc="15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데이터베이스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관리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쿼리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lnB w="9525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spc="-1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PostgreSQL:</a:t>
                      </a:r>
                      <a:r>
                        <a:rPr sz="1400" spc="2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관리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lnB w="9525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3784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Chart.js:</a:t>
                      </a:r>
                      <a:r>
                        <a:rPr sz="1400" spc="-5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감정</a:t>
                      </a:r>
                      <a:r>
                        <a:rPr sz="1400" spc="-10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sz="1400" spc="-10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시각화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lnB w="9525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985645">
                        <a:lnSpc>
                          <a:spcPct val="100000"/>
                        </a:lnSpc>
                      </a:pPr>
                      <a:r>
                        <a:rPr sz="13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로컬</a:t>
                      </a:r>
                      <a:r>
                        <a:rPr sz="1350" spc="-1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350" spc="-1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환경</a:t>
                      </a:r>
                      <a:r>
                        <a:rPr sz="1350" spc="4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5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→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1D5DB"/>
                      </a:solidFill>
                      <a:prstDash val="solid"/>
                    </a:lnL>
                    <a:lnT w="9525">
                      <a:solidFill>
                        <a:srgbClr val="D1D5DB"/>
                      </a:solidFill>
                      <a:prstDash val="solid"/>
                    </a:lnT>
                    <a:lnB w="9525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95044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1500" dirty="0">
                          <a:solidFill>
                            <a:srgbClr val="1B1B1B"/>
                          </a:solidFill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500" spc="-155" dirty="0">
                          <a:solidFill>
                            <a:srgbClr val="1B1B1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dirty="0">
                          <a:solidFill>
                            <a:srgbClr val="1B1B1B"/>
                          </a:solidFill>
                          <a:latin typeface="Malgun Gothic"/>
                          <a:cs typeface="Malgun Gothic"/>
                        </a:rPr>
                        <a:t>환경</a:t>
                      </a:r>
                      <a:r>
                        <a:rPr sz="1500" spc="-155" dirty="0">
                          <a:solidFill>
                            <a:srgbClr val="1B1B1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spc="-25" dirty="0">
                          <a:solidFill>
                            <a:srgbClr val="1B1B1B"/>
                          </a:solidFill>
                          <a:latin typeface="Malgun Gothic"/>
                          <a:cs typeface="Malgun Gothic"/>
                        </a:rPr>
                        <a:t>구성도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  <a:p>
                      <a:pPr marL="252095">
                        <a:lnSpc>
                          <a:spcPct val="100000"/>
                        </a:lnSpc>
                        <a:spcBef>
                          <a:spcPts val="1125"/>
                        </a:spcBef>
                        <a:tabLst>
                          <a:tab pos="2233295" algn="l"/>
                        </a:tabLst>
                      </a:pPr>
                      <a:r>
                        <a:rPr sz="13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클라우드</a:t>
                      </a:r>
                      <a:r>
                        <a:rPr sz="1350" spc="-1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학습</a:t>
                      </a:r>
                      <a:r>
                        <a:rPr sz="1350" spc="-1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환경</a:t>
                      </a:r>
                      <a:r>
                        <a:rPr sz="1350" spc="4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5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35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3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서버</a:t>
                      </a:r>
                      <a:r>
                        <a:rPr sz="1350" spc="-1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배포</a:t>
                      </a:r>
                      <a:r>
                        <a:rPr sz="1350" spc="-1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환경</a:t>
                      </a:r>
                      <a:r>
                        <a:rPr sz="1350" spc="4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50" dirty="0">
                          <a:solidFill>
                            <a:srgbClr val="494949"/>
                          </a:solidFill>
                          <a:latin typeface="Arial"/>
                          <a:cs typeface="Arial"/>
                        </a:rPr>
                        <a:t>→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213995" marB="0">
                    <a:lnT w="9525">
                      <a:solidFill>
                        <a:srgbClr val="D1D5DB"/>
                      </a:solidFill>
                      <a:prstDash val="solid"/>
                    </a:lnT>
                    <a:lnB w="9525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</a:pPr>
                      <a:r>
                        <a:rPr sz="13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350" spc="-1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접근</a:t>
                      </a:r>
                      <a:r>
                        <a:rPr sz="1350" spc="-1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환경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R w="9525">
                      <a:solidFill>
                        <a:srgbClr val="D1D5DB"/>
                      </a:solidFill>
                      <a:prstDash val="solid"/>
                    </a:lnR>
                    <a:lnT w="9525">
                      <a:solidFill>
                        <a:srgbClr val="D1D5DB"/>
                      </a:solidFill>
                      <a:prstDash val="solid"/>
                    </a:lnT>
                    <a:lnB w="9525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050" y="2762250"/>
            <a:ext cx="266699" cy="1809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050" y="3409950"/>
            <a:ext cx="266699" cy="1809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050" y="4057650"/>
            <a:ext cx="266699" cy="1809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1525" y="2762250"/>
            <a:ext cx="266699" cy="1809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81525" y="3409950"/>
            <a:ext cx="266699" cy="1809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81525" y="4057650"/>
            <a:ext cx="266699" cy="1809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01000" y="2762250"/>
            <a:ext cx="266699" cy="1809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1000" y="3409950"/>
            <a:ext cx="266699" cy="1809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01000" y="4057650"/>
            <a:ext cx="266699" cy="1809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95575" y="5238750"/>
            <a:ext cx="219075" cy="1714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81500" y="5238750"/>
            <a:ext cx="219075" cy="1714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10325" y="5238750"/>
            <a:ext cx="171450" cy="1714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48625" y="5238750"/>
            <a:ext cx="133350" cy="171450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10" dirty="0"/>
              <a:t>8</a:t>
            </a:fld>
            <a:r>
              <a:rPr spc="-10" dirty="0"/>
              <a:t>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25" y="495853"/>
            <a:ext cx="4384675" cy="59952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00" spc="71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프로젝트</a:t>
            </a:r>
            <a:r>
              <a:rPr sz="3800" spc="1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40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일정표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025" y="1304925"/>
            <a:ext cx="238125" cy="2667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30325" y="1269491"/>
            <a:ext cx="2025650" cy="327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15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주차</a:t>
            </a:r>
            <a:r>
              <a:rPr sz="1900" spc="15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별</a:t>
            </a:r>
            <a:r>
              <a:rPr sz="1900" spc="-105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sz="1950" spc="135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추진</a:t>
            </a:r>
            <a:r>
              <a:rPr sz="1950" spc="-114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sz="1950" spc="11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계획</a:t>
            </a:r>
            <a:endParaRPr sz="195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3950" y="1952625"/>
            <a:ext cx="3105150" cy="571500"/>
          </a:xfrm>
          <a:custGeom>
            <a:avLst/>
            <a:gdLst/>
            <a:ahLst/>
            <a:cxnLst/>
            <a:rect l="l" t="t" r="r" b="b"/>
            <a:pathLst>
              <a:path w="3105150" h="571500">
                <a:moveTo>
                  <a:pt x="3105150" y="0"/>
                </a:moveTo>
                <a:lnTo>
                  <a:pt x="0" y="0"/>
                </a:lnTo>
                <a:lnTo>
                  <a:pt x="0" y="571500"/>
                </a:lnTo>
                <a:lnTo>
                  <a:pt x="3105150" y="571500"/>
                </a:lnTo>
                <a:lnTo>
                  <a:pt x="3105150" y="0"/>
                </a:lnTo>
                <a:close/>
              </a:path>
            </a:pathLst>
          </a:custGeom>
          <a:solidFill>
            <a:srgbClr val="E5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23950" y="3514725"/>
            <a:ext cx="3105150" cy="571500"/>
          </a:xfrm>
          <a:custGeom>
            <a:avLst/>
            <a:gdLst/>
            <a:ahLst/>
            <a:cxnLst/>
            <a:rect l="l" t="t" r="r" b="b"/>
            <a:pathLst>
              <a:path w="3105150" h="571500">
                <a:moveTo>
                  <a:pt x="3105150" y="0"/>
                </a:moveTo>
                <a:lnTo>
                  <a:pt x="0" y="0"/>
                </a:lnTo>
                <a:lnTo>
                  <a:pt x="0" y="571500"/>
                </a:lnTo>
                <a:lnTo>
                  <a:pt x="3105150" y="571500"/>
                </a:lnTo>
                <a:lnTo>
                  <a:pt x="3105150" y="0"/>
                </a:lnTo>
                <a:close/>
              </a:path>
            </a:pathLst>
          </a:custGeom>
          <a:solidFill>
            <a:srgbClr val="E5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43425" y="1952625"/>
            <a:ext cx="3105150" cy="571500"/>
          </a:xfrm>
          <a:custGeom>
            <a:avLst/>
            <a:gdLst/>
            <a:ahLst/>
            <a:cxnLst/>
            <a:rect l="l" t="t" r="r" b="b"/>
            <a:pathLst>
              <a:path w="3105150" h="571500">
                <a:moveTo>
                  <a:pt x="3105150" y="0"/>
                </a:moveTo>
                <a:lnTo>
                  <a:pt x="0" y="0"/>
                </a:lnTo>
                <a:lnTo>
                  <a:pt x="0" y="571500"/>
                </a:lnTo>
                <a:lnTo>
                  <a:pt x="3105150" y="571500"/>
                </a:lnTo>
                <a:lnTo>
                  <a:pt x="3105150" y="0"/>
                </a:lnTo>
                <a:close/>
              </a:path>
            </a:pathLst>
          </a:custGeom>
          <a:solidFill>
            <a:srgbClr val="E5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43425" y="3133725"/>
            <a:ext cx="3105150" cy="571500"/>
          </a:xfrm>
          <a:custGeom>
            <a:avLst/>
            <a:gdLst/>
            <a:ahLst/>
            <a:cxnLst/>
            <a:rect l="l" t="t" r="r" b="b"/>
            <a:pathLst>
              <a:path w="3105150" h="571500">
                <a:moveTo>
                  <a:pt x="3105150" y="0"/>
                </a:moveTo>
                <a:lnTo>
                  <a:pt x="0" y="0"/>
                </a:lnTo>
                <a:lnTo>
                  <a:pt x="0" y="571500"/>
                </a:lnTo>
                <a:lnTo>
                  <a:pt x="3105150" y="571500"/>
                </a:lnTo>
                <a:lnTo>
                  <a:pt x="3105150" y="0"/>
                </a:lnTo>
                <a:close/>
              </a:path>
            </a:pathLst>
          </a:custGeom>
          <a:solidFill>
            <a:srgbClr val="E5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962900" y="1952625"/>
            <a:ext cx="3105150" cy="571500"/>
          </a:xfrm>
          <a:custGeom>
            <a:avLst/>
            <a:gdLst/>
            <a:ahLst/>
            <a:cxnLst/>
            <a:rect l="l" t="t" r="r" b="b"/>
            <a:pathLst>
              <a:path w="3105150" h="571500">
                <a:moveTo>
                  <a:pt x="3105150" y="0"/>
                </a:moveTo>
                <a:lnTo>
                  <a:pt x="0" y="0"/>
                </a:lnTo>
                <a:lnTo>
                  <a:pt x="0" y="571500"/>
                </a:lnTo>
                <a:lnTo>
                  <a:pt x="3105150" y="571500"/>
                </a:lnTo>
                <a:lnTo>
                  <a:pt x="3105150" y="0"/>
                </a:lnTo>
                <a:close/>
              </a:path>
            </a:pathLst>
          </a:custGeom>
          <a:solidFill>
            <a:srgbClr val="E5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62900" y="3895725"/>
            <a:ext cx="3105150" cy="571500"/>
          </a:xfrm>
          <a:custGeom>
            <a:avLst/>
            <a:gdLst/>
            <a:ahLst/>
            <a:cxnLst/>
            <a:rect l="l" t="t" r="r" b="b"/>
            <a:pathLst>
              <a:path w="3105150" h="571500">
                <a:moveTo>
                  <a:pt x="3105150" y="0"/>
                </a:moveTo>
                <a:lnTo>
                  <a:pt x="0" y="0"/>
                </a:lnTo>
                <a:lnTo>
                  <a:pt x="0" y="571500"/>
                </a:lnTo>
                <a:lnTo>
                  <a:pt x="3105150" y="571500"/>
                </a:lnTo>
                <a:lnTo>
                  <a:pt x="3105150" y="0"/>
                </a:lnTo>
                <a:close/>
              </a:path>
            </a:pathLst>
          </a:custGeom>
          <a:solidFill>
            <a:srgbClr val="E5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62025" y="1790700"/>
          <a:ext cx="10258425" cy="3971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700" spc="80" dirty="0">
                          <a:solidFill>
                            <a:srgbClr val="1B1B1B"/>
                          </a:solidFill>
                          <a:latin typeface="Comic Sans MS"/>
                          <a:cs typeface="Comic Sans MS"/>
                        </a:rPr>
                        <a:t>1</a:t>
                      </a:r>
                      <a:r>
                        <a:rPr sz="1600" spc="8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주</a:t>
                      </a:r>
                      <a:r>
                        <a:rPr sz="1650" spc="8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차</a:t>
                      </a:r>
                      <a:endParaRPr sz="1650">
                        <a:latin typeface="Batang"/>
                        <a:cs typeface="Batang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499745" marR="733425">
                        <a:lnSpc>
                          <a:spcPct val="178600"/>
                        </a:lnSpc>
                      </a:pP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주제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선택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조사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특징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6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목표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700" spc="90" dirty="0">
                          <a:solidFill>
                            <a:srgbClr val="1B1B1B"/>
                          </a:solidFill>
                          <a:latin typeface="Comic Sans MS"/>
                          <a:cs typeface="Comic Sans MS"/>
                        </a:rPr>
                        <a:t>2</a:t>
                      </a:r>
                      <a:r>
                        <a:rPr sz="1600" spc="9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주</a:t>
                      </a:r>
                      <a:r>
                        <a:rPr sz="1650" spc="9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차</a:t>
                      </a:r>
                      <a:endParaRPr sz="1650">
                        <a:latin typeface="Batang"/>
                        <a:cs typeface="Batang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499745" marR="504825">
                        <a:lnSpc>
                          <a:spcPct val="1786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기획서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작성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역할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분담</a:t>
                      </a:r>
                      <a:r>
                        <a:rPr sz="1400" spc="5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최종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기획서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계획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완성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lnT w="9525">
                      <a:solidFill>
                        <a:srgbClr val="D1D5DB"/>
                      </a:solidFill>
                      <a:prstDash val="solid"/>
                    </a:lnT>
                    <a:lnB w="9525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700" spc="60" dirty="0">
                          <a:solidFill>
                            <a:srgbClr val="1B1B1B"/>
                          </a:solidFill>
                          <a:latin typeface="Comic Sans MS"/>
                          <a:cs typeface="Comic Sans MS"/>
                        </a:rPr>
                        <a:t>3</a:t>
                      </a:r>
                      <a:r>
                        <a:rPr sz="1600" spc="6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주</a:t>
                      </a:r>
                      <a:r>
                        <a:rPr sz="1650" spc="6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차</a:t>
                      </a:r>
                      <a:endParaRPr sz="1650">
                        <a:latin typeface="Batang"/>
                        <a:cs typeface="Batang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49974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공개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분석</a:t>
                      </a:r>
                      <a:r>
                        <a:rPr sz="1400" spc="-6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데이터셋</a:t>
                      </a:r>
                      <a:r>
                        <a:rPr sz="1400" spc="-6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정도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700" spc="110" dirty="0">
                          <a:solidFill>
                            <a:srgbClr val="1B1B1B"/>
                          </a:solidFill>
                          <a:latin typeface="Comic Sans MS"/>
                          <a:cs typeface="Comic Sans MS"/>
                        </a:rPr>
                        <a:t>4</a:t>
                      </a:r>
                      <a:r>
                        <a:rPr sz="1600" spc="11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주</a:t>
                      </a:r>
                      <a:r>
                        <a:rPr sz="1650" spc="11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차</a:t>
                      </a:r>
                      <a:endParaRPr sz="1650">
                        <a:latin typeface="Batang"/>
                        <a:cs typeface="Batang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499745" marR="327025">
                        <a:lnSpc>
                          <a:spcPct val="120700"/>
                        </a:lnSpc>
                      </a:pP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감정</a:t>
                      </a:r>
                      <a:r>
                        <a:rPr sz="1400" spc="-8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분석</a:t>
                      </a:r>
                      <a:r>
                        <a:rPr sz="1400" spc="-8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모델</a:t>
                      </a:r>
                      <a:r>
                        <a:rPr sz="1400" spc="-8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학습</a:t>
                      </a:r>
                      <a:r>
                        <a:rPr sz="1400" spc="-8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7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10" dirty="0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ChatGPT </a:t>
                      </a:r>
                      <a:r>
                        <a:rPr sz="1450" spc="-40" dirty="0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sz="1450" dirty="0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캐스트</a:t>
                      </a:r>
                      <a:r>
                        <a:rPr sz="1400" spc="-9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시작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49974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감정</a:t>
                      </a:r>
                      <a:r>
                        <a:rPr sz="1400" spc="-6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평가</a:t>
                      </a:r>
                      <a:r>
                        <a:rPr sz="1400" spc="-6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dirty="0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450" spc="75" dirty="0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모델링</a:t>
                      </a:r>
                      <a:r>
                        <a:rPr sz="1400" spc="-6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작성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lnT w="9525">
                      <a:solidFill>
                        <a:srgbClr val="D1D5DB"/>
                      </a:solidFill>
                      <a:prstDash val="solid"/>
                    </a:lnT>
                    <a:lnB w="9525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1414145">
                        <a:lnSpc>
                          <a:spcPct val="100000"/>
                        </a:lnSpc>
                      </a:pPr>
                      <a:r>
                        <a:rPr sz="1700" spc="85" dirty="0">
                          <a:solidFill>
                            <a:srgbClr val="1B1B1B"/>
                          </a:solidFill>
                          <a:latin typeface="Comic Sans MS"/>
                          <a:cs typeface="Comic Sans MS"/>
                        </a:rPr>
                        <a:t>5</a:t>
                      </a:r>
                      <a:r>
                        <a:rPr sz="1600" spc="85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주</a:t>
                      </a:r>
                      <a:r>
                        <a:rPr sz="1650" spc="85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차</a:t>
                      </a:r>
                      <a:endParaRPr sz="1650">
                        <a:latin typeface="Batang"/>
                        <a:cs typeface="Batang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499745" marR="1162050">
                        <a:lnSpc>
                          <a:spcPct val="172400"/>
                        </a:lnSpc>
                      </a:pP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감정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분석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dirty="0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450" spc="70" dirty="0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대화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설정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감정</a:t>
                      </a:r>
                      <a:r>
                        <a:rPr sz="1450" dirty="0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(Chart.js)</a:t>
                      </a:r>
                      <a:r>
                        <a:rPr sz="1450" spc="180" dirty="0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4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5" dirty="0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UI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통합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봇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50" spc="-25" dirty="0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MVP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414145">
                        <a:lnSpc>
                          <a:spcPct val="100000"/>
                        </a:lnSpc>
                      </a:pPr>
                      <a:r>
                        <a:rPr sz="1700" spc="90" dirty="0">
                          <a:solidFill>
                            <a:srgbClr val="1B1B1B"/>
                          </a:solidFill>
                          <a:latin typeface="Comic Sans MS"/>
                          <a:cs typeface="Comic Sans MS"/>
                        </a:rPr>
                        <a:t>6</a:t>
                      </a:r>
                      <a:r>
                        <a:rPr sz="1600" spc="9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주</a:t>
                      </a:r>
                      <a:r>
                        <a:rPr sz="1650" spc="90" dirty="0">
                          <a:solidFill>
                            <a:srgbClr val="1B1B1B"/>
                          </a:solidFill>
                          <a:latin typeface="Batang"/>
                          <a:cs typeface="Batang"/>
                        </a:rPr>
                        <a:t>차</a:t>
                      </a:r>
                      <a:endParaRPr sz="1650">
                        <a:latin typeface="Batang"/>
                        <a:cs typeface="Batang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499745" marR="323850">
                        <a:lnSpc>
                          <a:spcPct val="125000"/>
                        </a:lnSpc>
                      </a:pP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테스트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이에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sz="1400" spc="-7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응답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을</a:t>
                      </a:r>
                      <a:r>
                        <a:rPr sz="1400" spc="-6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작성하고</a:t>
                      </a:r>
                      <a:r>
                        <a:rPr sz="1400" spc="-6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발표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49974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최종</a:t>
                      </a:r>
                      <a:r>
                        <a:rPr sz="1400" spc="-8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시연</a:t>
                      </a:r>
                      <a:r>
                        <a:rPr sz="1400" spc="-8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80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494949"/>
                          </a:solidFill>
                          <a:latin typeface="Malgun Gothic"/>
                          <a:cs typeface="Malgun Gothic"/>
                        </a:rPr>
                        <a:t>의견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D1D5DB"/>
                      </a:solidFill>
                      <a:prstDash val="solid"/>
                    </a:lnL>
                    <a:lnR w="9525">
                      <a:solidFill>
                        <a:srgbClr val="D1D5DB"/>
                      </a:solidFill>
                      <a:prstDash val="solid"/>
                    </a:lnR>
                    <a:lnT w="9525">
                      <a:solidFill>
                        <a:srgbClr val="D1D5DB"/>
                      </a:solidFill>
                      <a:prstDash val="solid"/>
                    </a:lnT>
                    <a:lnB w="9525">
                      <a:solidFill>
                        <a:srgbClr val="D1D5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950" y="2638425"/>
            <a:ext cx="266699" cy="1809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950" y="3019425"/>
            <a:ext cx="266699" cy="1809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950" y="4200525"/>
            <a:ext cx="266699" cy="1809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950" y="4581525"/>
            <a:ext cx="266699" cy="18097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3425" y="2638425"/>
            <a:ext cx="266699" cy="18097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3425" y="3819525"/>
            <a:ext cx="266699" cy="18097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3425" y="4467225"/>
            <a:ext cx="266699" cy="18097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00" y="2638425"/>
            <a:ext cx="266699" cy="18097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00" y="3019425"/>
            <a:ext cx="266699" cy="18097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00" y="3400425"/>
            <a:ext cx="266699" cy="18097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00" y="4581525"/>
            <a:ext cx="266699" cy="18097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00" y="5229225"/>
            <a:ext cx="266699" cy="180975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10" dirty="0"/>
              <a:t>9</a:t>
            </a:fld>
            <a:r>
              <a:rPr spc="-10" dirty="0"/>
              <a:t>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525829"/>
            <a:ext cx="9350375" cy="717344"/>
          </a:xfrm>
          <a:prstGeom prst="rect">
            <a:avLst/>
          </a:prstGeom>
        </p:spPr>
        <p:txBody>
          <a:bodyPr vert="horz" wrap="square" lIns="0" tIns="131286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114"/>
              </a:spcBef>
            </a:pPr>
            <a:r>
              <a:rPr sz="3800" spc="18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팀</a:t>
            </a:r>
            <a:r>
              <a:rPr sz="3800" spc="-2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4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역할분담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2025" y="1523999"/>
            <a:ext cx="4924425" cy="2609850"/>
            <a:chOff x="962025" y="1523999"/>
            <a:chExt cx="4924425" cy="2609850"/>
          </a:xfrm>
        </p:grpSpPr>
        <p:sp>
          <p:nvSpPr>
            <p:cNvPr id="4" name="object 4"/>
            <p:cNvSpPr/>
            <p:nvPr/>
          </p:nvSpPr>
          <p:spPr>
            <a:xfrm>
              <a:off x="962025" y="1523999"/>
              <a:ext cx="4924425" cy="2609850"/>
            </a:xfrm>
            <a:custGeom>
              <a:avLst/>
              <a:gdLst/>
              <a:ahLst/>
              <a:cxnLst/>
              <a:rect l="l" t="t" r="r" b="b"/>
              <a:pathLst>
                <a:path w="4924425" h="2609850">
                  <a:moveTo>
                    <a:pt x="4772025" y="0"/>
                  </a:moveTo>
                  <a:lnTo>
                    <a:pt x="152400" y="0"/>
                  </a:lnTo>
                  <a:lnTo>
                    <a:pt x="144912" y="183"/>
                  </a:lnTo>
                  <a:lnTo>
                    <a:pt x="101064" y="8902"/>
                  </a:lnTo>
                  <a:lnTo>
                    <a:pt x="61608" y="29992"/>
                  </a:lnTo>
                  <a:lnTo>
                    <a:pt x="29995" y="61606"/>
                  </a:lnTo>
                  <a:lnTo>
                    <a:pt x="8902" y="101068"/>
                  </a:lnTo>
                  <a:lnTo>
                    <a:pt x="183" y="144913"/>
                  </a:lnTo>
                  <a:lnTo>
                    <a:pt x="0" y="152400"/>
                  </a:lnTo>
                  <a:lnTo>
                    <a:pt x="0" y="2457450"/>
                  </a:lnTo>
                  <a:lnTo>
                    <a:pt x="6559" y="2501688"/>
                  </a:lnTo>
                  <a:lnTo>
                    <a:pt x="25683" y="2542120"/>
                  </a:lnTo>
                  <a:lnTo>
                    <a:pt x="55718" y="2575256"/>
                  </a:lnTo>
                  <a:lnTo>
                    <a:pt x="94079" y="2598242"/>
                  </a:lnTo>
                  <a:lnTo>
                    <a:pt x="137461" y="2609118"/>
                  </a:lnTo>
                  <a:lnTo>
                    <a:pt x="152400" y="2609850"/>
                  </a:lnTo>
                  <a:lnTo>
                    <a:pt x="4772025" y="2609850"/>
                  </a:lnTo>
                  <a:lnTo>
                    <a:pt x="4816263" y="2603290"/>
                  </a:lnTo>
                  <a:lnTo>
                    <a:pt x="4856695" y="2584170"/>
                  </a:lnTo>
                  <a:lnTo>
                    <a:pt x="4889836" y="2554131"/>
                  </a:lnTo>
                  <a:lnTo>
                    <a:pt x="4912817" y="2515768"/>
                  </a:lnTo>
                  <a:lnTo>
                    <a:pt x="4923693" y="2472386"/>
                  </a:lnTo>
                  <a:lnTo>
                    <a:pt x="4924425" y="2457450"/>
                  </a:lnTo>
                  <a:lnTo>
                    <a:pt x="4924425" y="152400"/>
                  </a:lnTo>
                  <a:lnTo>
                    <a:pt x="4917865" y="108161"/>
                  </a:lnTo>
                  <a:lnTo>
                    <a:pt x="4898745" y="67729"/>
                  </a:lnTo>
                  <a:lnTo>
                    <a:pt x="4868706" y="34588"/>
                  </a:lnTo>
                  <a:lnTo>
                    <a:pt x="4830343" y="11595"/>
                  </a:lnTo>
                  <a:lnTo>
                    <a:pt x="4786961" y="731"/>
                  </a:lnTo>
                  <a:lnTo>
                    <a:pt x="4772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6824" y="1857374"/>
              <a:ext cx="342900" cy="3429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711325" y="1862124"/>
            <a:ext cx="825500" cy="3251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spc="125" dirty="0">
                <a:solidFill>
                  <a:srgbClr val="1B1B1B"/>
                </a:solidFill>
                <a:latin typeface="Batang"/>
                <a:cs typeface="Batang"/>
              </a:rPr>
              <a:t>강</a:t>
            </a:r>
            <a:r>
              <a:rPr sz="1900" spc="125" dirty="0">
                <a:solidFill>
                  <a:srgbClr val="1B1B1B"/>
                </a:solidFill>
                <a:latin typeface="Batang"/>
                <a:cs typeface="Batang"/>
              </a:rPr>
              <a:t>한</a:t>
            </a:r>
            <a:r>
              <a:rPr sz="1950" spc="125" dirty="0">
                <a:solidFill>
                  <a:srgbClr val="1B1B1B"/>
                </a:solidFill>
                <a:latin typeface="Batang"/>
                <a:cs typeface="Batang"/>
              </a:rPr>
              <a:t>서</a:t>
            </a:r>
            <a:endParaRPr sz="1950">
              <a:latin typeface="Batang"/>
              <a:cs typeface="Batang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66825" y="2514600"/>
            <a:ext cx="171450" cy="1104900"/>
            <a:chOff x="1266825" y="2514600"/>
            <a:chExt cx="171450" cy="11049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6825" y="2514600"/>
              <a:ext cx="142875" cy="190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6825" y="2971800"/>
              <a:ext cx="171450" cy="1905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6825" y="3429000"/>
              <a:ext cx="171450" cy="1905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549400" y="2460656"/>
            <a:ext cx="657225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494949"/>
                </a:solidFill>
                <a:latin typeface="Malgun Gothic"/>
                <a:cs typeface="Malgun Gothic"/>
              </a:rPr>
              <a:t>기획</a:t>
            </a:r>
            <a:endParaRPr sz="1600">
              <a:latin typeface="Malgun Gothic"/>
              <a:cs typeface="Malgun Gothic"/>
            </a:endParaRPr>
          </a:p>
          <a:p>
            <a:pPr marL="41275" marR="5080">
              <a:lnSpc>
                <a:spcPct val="187500"/>
              </a:lnSpc>
            </a:pPr>
            <a:r>
              <a:rPr sz="1600" spc="-30" dirty="0">
                <a:solidFill>
                  <a:srgbClr val="494949"/>
                </a:solidFill>
                <a:latin typeface="Malgun Gothic"/>
                <a:cs typeface="Malgun Gothic"/>
              </a:rPr>
              <a:t>데이터 </a:t>
            </a:r>
            <a:r>
              <a:rPr sz="1600" spc="-25" dirty="0">
                <a:solidFill>
                  <a:srgbClr val="494949"/>
                </a:solidFill>
                <a:latin typeface="Malgun Gothic"/>
                <a:cs typeface="Malgun Gothic"/>
              </a:rPr>
              <a:t>모형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305550" y="1523999"/>
            <a:ext cx="4924425" cy="2609850"/>
            <a:chOff x="6305550" y="1523999"/>
            <a:chExt cx="4924425" cy="2609850"/>
          </a:xfrm>
        </p:grpSpPr>
        <p:sp>
          <p:nvSpPr>
            <p:cNvPr id="13" name="object 13"/>
            <p:cNvSpPr/>
            <p:nvPr/>
          </p:nvSpPr>
          <p:spPr>
            <a:xfrm>
              <a:off x="6305550" y="1523999"/>
              <a:ext cx="4924425" cy="2609850"/>
            </a:xfrm>
            <a:custGeom>
              <a:avLst/>
              <a:gdLst/>
              <a:ahLst/>
              <a:cxnLst/>
              <a:rect l="l" t="t" r="r" b="b"/>
              <a:pathLst>
                <a:path w="4924425" h="2609850">
                  <a:moveTo>
                    <a:pt x="4772025" y="0"/>
                  </a:moveTo>
                  <a:lnTo>
                    <a:pt x="152400" y="0"/>
                  </a:lnTo>
                  <a:lnTo>
                    <a:pt x="144913" y="183"/>
                  </a:lnTo>
                  <a:lnTo>
                    <a:pt x="101068" y="8902"/>
                  </a:lnTo>
                  <a:lnTo>
                    <a:pt x="61606" y="29992"/>
                  </a:lnTo>
                  <a:lnTo>
                    <a:pt x="29992" y="61606"/>
                  </a:lnTo>
                  <a:lnTo>
                    <a:pt x="8902" y="101068"/>
                  </a:lnTo>
                  <a:lnTo>
                    <a:pt x="183" y="144913"/>
                  </a:lnTo>
                  <a:lnTo>
                    <a:pt x="0" y="152400"/>
                  </a:lnTo>
                  <a:lnTo>
                    <a:pt x="0" y="2457450"/>
                  </a:lnTo>
                  <a:lnTo>
                    <a:pt x="6557" y="2501688"/>
                  </a:lnTo>
                  <a:lnTo>
                    <a:pt x="25679" y="2542120"/>
                  </a:lnTo>
                  <a:lnTo>
                    <a:pt x="55718" y="2575256"/>
                  </a:lnTo>
                  <a:lnTo>
                    <a:pt x="94081" y="2598242"/>
                  </a:lnTo>
                  <a:lnTo>
                    <a:pt x="137463" y="2609118"/>
                  </a:lnTo>
                  <a:lnTo>
                    <a:pt x="152400" y="2609850"/>
                  </a:lnTo>
                  <a:lnTo>
                    <a:pt x="4772025" y="2609850"/>
                  </a:lnTo>
                  <a:lnTo>
                    <a:pt x="4816263" y="2603290"/>
                  </a:lnTo>
                  <a:lnTo>
                    <a:pt x="4856695" y="2584170"/>
                  </a:lnTo>
                  <a:lnTo>
                    <a:pt x="4889831" y="2554131"/>
                  </a:lnTo>
                  <a:lnTo>
                    <a:pt x="4912817" y="2515768"/>
                  </a:lnTo>
                  <a:lnTo>
                    <a:pt x="4923693" y="2472386"/>
                  </a:lnTo>
                  <a:lnTo>
                    <a:pt x="4924425" y="2457450"/>
                  </a:lnTo>
                  <a:lnTo>
                    <a:pt x="4924425" y="152400"/>
                  </a:lnTo>
                  <a:lnTo>
                    <a:pt x="4917865" y="108161"/>
                  </a:lnTo>
                  <a:lnTo>
                    <a:pt x="4898745" y="67729"/>
                  </a:lnTo>
                  <a:lnTo>
                    <a:pt x="4868706" y="34588"/>
                  </a:lnTo>
                  <a:lnTo>
                    <a:pt x="4830343" y="11595"/>
                  </a:lnTo>
                  <a:lnTo>
                    <a:pt x="4786961" y="731"/>
                  </a:lnTo>
                  <a:lnTo>
                    <a:pt x="4772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0349" y="1857374"/>
              <a:ext cx="342900" cy="3429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050684" y="1860041"/>
            <a:ext cx="825500" cy="327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160" dirty="0">
                <a:solidFill>
                  <a:srgbClr val="1B1B1B"/>
                </a:solidFill>
                <a:latin typeface="Batang"/>
                <a:cs typeface="Batang"/>
              </a:rPr>
              <a:t>박</a:t>
            </a:r>
            <a:r>
              <a:rPr sz="1850" spc="160" dirty="0">
                <a:solidFill>
                  <a:srgbClr val="1B1B1B"/>
                </a:solidFill>
                <a:latin typeface="Batang"/>
                <a:cs typeface="Batang"/>
              </a:rPr>
              <a:t>주</a:t>
            </a:r>
            <a:r>
              <a:rPr sz="1900" spc="160" dirty="0">
                <a:solidFill>
                  <a:srgbClr val="1B1B1B"/>
                </a:solidFill>
                <a:latin typeface="Batang"/>
                <a:cs typeface="Batang"/>
              </a:rPr>
              <a:t>언</a:t>
            </a:r>
            <a:endParaRPr sz="1900">
              <a:latin typeface="Batang"/>
              <a:cs typeface="Batang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10350" y="2514600"/>
            <a:ext cx="219075" cy="1905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964959" y="2461266"/>
            <a:ext cx="56959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94949"/>
                </a:solidFill>
                <a:latin typeface="Malgun Gothic"/>
                <a:cs typeface="Malgun Gothic"/>
              </a:rPr>
              <a:t>UI/UX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10" dirty="0"/>
              <a:t>10</a:t>
            </a:fld>
            <a:r>
              <a:rPr spc="-10" dirty="0"/>
              <a:t>/18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45884" y="2917856"/>
            <a:ext cx="876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494949"/>
                </a:solidFill>
                <a:latin typeface="Malgun Gothic"/>
                <a:cs typeface="Malgun Gothic"/>
              </a:rPr>
              <a:t>발표</a:t>
            </a:r>
            <a:r>
              <a:rPr sz="1600" spc="-20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600" spc="-25" dirty="0">
                <a:solidFill>
                  <a:srgbClr val="494949"/>
                </a:solidFill>
                <a:latin typeface="Malgun Gothic"/>
                <a:cs typeface="Malgun Gothic"/>
              </a:rPr>
              <a:t>담당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6625" y="575837"/>
            <a:ext cx="5584825" cy="60208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800" spc="19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위험</a:t>
            </a:r>
            <a:r>
              <a:rPr sz="3800" spc="-2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75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요소</a:t>
            </a:r>
            <a:r>
              <a:rPr sz="3800" spc="-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18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및</a:t>
            </a:r>
            <a:r>
              <a:rPr sz="3800" spc="-2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1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대응</a:t>
            </a:r>
            <a:r>
              <a:rPr sz="3800" spc="-2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방안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025" y="1710246"/>
            <a:ext cx="247650" cy="2476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025" y="2167446"/>
            <a:ext cx="171450" cy="171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025" y="3148521"/>
            <a:ext cx="171450" cy="1714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025" y="4129596"/>
            <a:ext cx="171450" cy="1714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35075" y="1683239"/>
            <a:ext cx="4654550" cy="3188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35"/>
              </a:spcBef>
            </a:pPr>
            <a:r>
              <a:rPr sz="1800" spc="160" dirty="0">
                <a:latin typeface="Batang"/>
                <a:cs typeface="Batang"/>
              </a:rPr>
              <a:t>기</a:t>
            </a:r>
            <a:r>
              <a:rPr sz="1750" spc="160" dirty="0">
                <a:latin typeface="Batang"/>
                <a:cs typeface="Batang"/>
              </a:rPr>
              <a:t>술</a:t>
            </a:r>
            <a:r>
              <a:rPr sz="1800" spc="160" dirty="0">
                <a:latin typeface="Batang"/>
                <a:cs typeface="Batang"/>
              </a:rPr>
              <a:t>적</a:t>
            </a:r>
            <a:r>
              <a:rPr sz="1800" spc="-150" dirty="0">
                <a:latin typeface="Batang"/>
                <a:cs typeface="Batang"/>
              </a:rPr>
              <a:t> </a:t>
            </a:r>
            <a:r>
              <a:rPr sz="1800" spc="114" dirty="0">
                <a:latin typeface="Batang"/>
                <a:cs typeface="Batang"/>
              </a:rPr>
              <a:t>위험</a:t>
            </a:r>
            <a:endParaRPr sz="18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감정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분석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00" spc="110" dirty="0">
                <a:solidFill>
                  <a:srgbClr val="494949"/>
                </a:solidFill>
                <a:latin typeface="Batang"/>
                <a:cs typeface="Batang"/>
              </a:rPr>
              <a:t>모</a:t>
            </a:r>
            <a:r>
              <a:rPr sz="1250" spc="110" dirty="0">
                <a:solidFill>
                  <a:srgbClr val="494949"/>
                </a:solidFill>
                <a:latin typeface="Batang"/>
                <a:cs typeface="Batang"/>
              </a:rPr>
              <a:t>델의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정확도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75" dirty="0">
                <a:solidFill>
                  <a:srgbClr val="494949"/>
                </a:solidFill>
                <a:latin typeface="Batang"/>
                <a:cs typeface="Batang"/>
              </a:rPr>
              <a:t>저하</a:t>
            </a:r>
            <a:endParaRPr sz="12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Batang"/>
              <a:cs typeface="Batang"/>
            </a:endParaRPr>
          </a:p>
          <a:p>
            <a:pPr marL="271145" marR="5080" indent="-144145">
              <a:lnSpc>
                <a:spcPct val="1235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288925" algn="l"/>
              </a:tabLst>
            </a:pPr>
            <a:r>
              <a:rPr sz="1250" spc="70" dirty="0">
                <a:solidFill>
                  <a:srgbClr val="494949"/>
                </a:solidFill>
                <a:latin typeface="Batang"/>
                <a:cs typeface="Batang"/>
              </a:rPr>
              <a:t>대응</a:t>
            </a:r>
            <a:r>
              <a:rPr sz="1400" spc="70" dirty="0">
                <a:solidFill>
                  <a:srgbClr val="494949"/>
                </a:solidFill>
                <a:latin typeface="Arial"/>
                <a:cs typeface="Arial"/>
              </a:rPr>
              <a:t>:</a:t>
            </a:r>
            <a:r>
              <a:rPr sz="1400" spc="-9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철저한</a:t>
            </a:r>
            <a:r>
              <a:rPr sz="1350" spc="-13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데이터</a:t>
            </a:r>
            <a:r>
              <a:rPr sz="1350" spc="-13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전처리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,</a:t>
            </a:r>
            <a:r>
              <a:rPr sz="1300" spc="-25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KoBERT</a:t>
            </a:r>
            <a:r>
              <a:rPr sz="1300" spc="-15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모델</a:t>
            </a:r>
            <a:r>
              <a:rPr sz="1350" spc="-13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Malgun Gothic"/>
                <a:cs typeface="Malgun Gothic"/>
              </a:rPr>
              <a:t>하이퍼파라미터 	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최적화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생성형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400" dirty="0">
                <a:solidFill>
                  <a:srgbClr val="494949"/>
                </a:solidFill>
                <a:latin typeface="Arial"/>
                <a:cs typeface="Arial"/>
              </a:rPr>
              <a:t>AI</a:t>
            </a:r>
            <a:r>
              <a:rPr sz="1400" spc="-10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응답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품질</a:t>
            </a:r>
            <a:r>
              <a:rPr sz="1250" spc="-11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및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일관성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75" dirty="0">
                <a:solidFill>
                  <a:srgbClr val="494949"/>
                </a:solidFill>
                <a:latin typeface="Batang"/>
                <a:cs typeface="Batang"/>
              </a:rPr>
              <a:t>부족</a:t>
            </a:r>
            <a:endParaRPr sz="125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00">
              <a:latin typeface="Batang"/>
              <a:cs typeface="Batang"/>
            </a:endParaRPr>
          </a:p>
          <a:p>
            <a:pPr marL="271145" marR="24130" indent="-144145">
              <a:lnSpc>
                <a:spcPct val="123500"/>
              </a:lnSpc>
              <a:spcBef>
                <a:spcPts val="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288925" algn="l"/>
              </a:tabLst>
            </a:pPr>
            <a:r>
              <a:rPr sz="1250" spc="70" dirty="0">
                <a:solidFill>
                  <a:srgbClr val="494949"/>
                </a:solidFill>
                <a:latin typeface="Batang"/>
                <a:cs typeface="Batang"/>
              </a:rPr>
              <a:t>대응</a:t>
            </a:r>
            <a:r>
              <a:rPr sz="1400" spc="70" dirty="0">
                <a:solidFill>
                  <a:srgbClr val="494949"/>
                </a:solidFill>
                <a:latin typeface="Arial"/>
                <a:cs typeface="Arial"/>
              </a:rPr>
              <a:t>:</a:t>
            </a:r>
            <a:r>
              <a:rPr sz="1400" spc="-12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감정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상태를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프롬프트에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명확히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포함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,</a:t>
            </a:r>
            <a:r>
              <a:rPr sz="1300" spc="-70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감정별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기본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50" dirty="0">
                <a:solidFill>
                  <a:srgbClr val="494949"/>
                </a:solidFill>
                <a:latin typeface="Malgun Gothic"/>
                <a:cs typeface="Malgun Gothic"/>
              </a:rPr>
              <a:t>응 	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답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틀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설계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데이터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품질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00" spc="120" dirty="0">
                <a:solidFill>
                  <a:srgbClr val="494949"/>
                </a:solidFill>
                <a:latin typeface="Batang"/>
                <a:cs typeface="Batang"/>
              </a:rPr>
              <a:t>문</a:t>
            </a:r>
            <a:r>
              <a:rPr sz="1250" spc="120" dirty="0">
                <a:solidFill>
                  <a:srgbClr val="494949"/>
                </a:solidFill>
                <a:latin typeface="Batang"/>
                <a:cs typeface="Batang"/>
              </a:rPr>
              <a:t>제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400" spc="50" dirty="0">
                <a:solidFill>
                  <a:srgbClr val="494949"/>
                </a:solidFill>
                <a:latin typeface="Arial"/>
                <a:cs typeface="Arial"/>
              </a:rPr>
              <a:t>(</a:t>
            </a:r>
            <a:r>
              <a:rPr sz="1250" spc="50" dirty="0">
                <a:solidFill>
                  <a:srgbClr val="494949"/>
                </a:solidFill>
                <a:latin typeface="Batang"/>
                <a:cs typeface="Batang"/>
              </a:rPr>
              <a:t>중복</a:t>
            </a:r>
            <a:r>
              <a:rPr sz="1400" spc="50" dirty="0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sz="1400" spc="-6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494949"/>
                </a:solidFill>
                <a:latin typeface="Batang"/>
                <a:cs typeface="Batang"/>
              </a:rPr>
              <a:t>오</a:t>
            </a:r>
            <a:r>
              <a:rPr sz="1250" spc="65" dirty="0">
                <a:solidFill>
                  <a:srgbClr val="494949"/>
                </a:solidFill>
                <a:latin typeface="Batang"/>
                <a:cs typeface="Batang"/>
              </a:rPr>
              <a:t>타</a:t>
            </a:r>
            <a:r>
              <a:rPr sz="1400" spc="65" dirty="0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sz="1400" spc="-6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50" spc="125" dirty="0">
                <a:solidFill>
                  <a:srgbClr val="494949"/>
                </a:solidFill>
                <a:latin typeface="Batang"/>
                <a:cs typeface="Batang"/>
              </a:rPr>
              <a:t>잘</a:t>
            </a:r>
            <a:r>
              <a:rPr sz="1200" spc="125" dirty="0">
                <a:solidFill>
                  <a:srgbClr val="494949"/>
                </a:solidFill>
                <a:latin typeface="Batang"/>
                <a:cs typeface="Batang"/>
              </a:rPr>
              <a:t>못된</a:t>
            </a:r>
            <a:r>
              <a:rPr sz="1200" spc="-95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65" dirty="0">
                <a:solidFill>
                  <a:srgbClr val="494949"/>
                </a:solidFill>
                <a:latin typeface="Batang"/>
                <a:cs typeface="Batang"/>
              </a:rPr>
              <a:t>라벨링</a:t>
            </a:r>
            <a:r>
              <a:rPr sz="1400" spc="65" dirty="0">
                <a:solidFill>
                  <a:srgbClr val="494949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Arial"/>
              <a:cs typeface="Arial"/>
            </a:endParaRPr>
          </a:p>
          <a:p>
            <a:pPr marL="271145" marR="157480" indent="-144145">
              <a:lnSpc>
                <a:spcPct val="1235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288925" algn="l"/>
              </a:tabLst>
            </a:pPr>
            <a:r>
              <a:rPr sz="1250" spc="70" dirty="0">
                <a:solidFill>
                  <a:srgbClr val="494949"/>
                </a:solidFill>
                <a:latin typeface="Batang"/>
                <a:cs typeface="Batang"/>
              </a:rPr>
              <a:t>대응</a:t>
            </a:r>
            <a:r>
              <a:rPr sz="1400" spc="70" dirty="0">
                <a:solidFill>
                  <a:srgbClr val="494949"/>
                </a:solidFill>
                <a:latin typeface="Arial"/>
                <a:cs typeface="Arial"/>
              </a:rPr>
              <a:t>:</a:t>
            </a:r>
            <a:r>
              <a:rPr sz="1400" spc="-12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중복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제거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,</a:t>
            </a:r>
            <a:r>
              <a:rPr sz="1300" spc="-65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직접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검증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,</a:t>
            </a:r>
            <a:r>
              <a:rPr sz="1300" spc="-65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데이터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증강으로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감정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불균형 	해소</a:t>
            </a:r>
            <a:endParaRPr sz="135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1710246"/>
            <a:ext cx="247650" cy="2476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500" y="2167446"/>
            <a:ext cx="171450" cy="1714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500" y="3148521"/>
            <a:ext cx="171450" cy="1714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559550" y="1683239"/>
            <a:ext cx="4559300" cy="2207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35"/>
              </a:spcBef>
            </a:pPr>
            <a:r>
              <a:rPr sz="1350" spc="440" dirty="0">
                <a:latin typeface="Batang"/>
                <a:cs typeface="Batang"/>
              </a:rPr>
              <a:t>프</a:t>
            </a:r>
            <a:r>
              <a:rPr sz="1450" spc="440" dirty="0">
                <a:latin typeface="Batang"/>
                <a:cs typeface="Batang"/>
              </a:rPr>
              <a:t>로</a:t>
            </a:r>
            <a:r>
              <a:rPr sz="1800" spc="440" dirty="0">
                <a:latin typeface="Batang"/>
                <a:cs typeface="Batang"/>
              </a:rPr>
              <a:t>젝</a:t>
            </a:r>
            <a:r>
              <a:rPr sz="1400" spc="440" dirty="0">
                <a:latin typeface="Batang"/>
                <a:cs typeface="Batang"/>
              </a:rPr>
              <a:t>트</a:t>
            </a:r>
            <a:r>
              <a:rPr sz="1400" spc="-10" dirty="0">
                <a:latin typeface="Batang"/>
                <a:cs typeface="Batang"/>
              </a:rPr>
              <a:t> </a:t>
            </a:r>
            <a:r>
              <a:rPr sz="1750" spc="165" dirty="0">
                <a:latin typeface="Batang"/>
                <a:cs typeface="Batang"/>
              </a:rPr>
              <a:t>관</a:t>
            </a:r>
            <a:r>
              <a:rPr sz="1800" spc="165" dirty="0">
                <a:latin typeface="Batang"/>
                <a:cs typeface="Batang"/>
              </a:rPr>
              <a:t>리</a:t>
            </a:r>
            <a:r>
              <a:rPr sz="1800" spc="-140" dirty="0">
                <a:latin typeface="Batang"/>
                <a:cs typeface="Batang"/>
              </a:rPr>
              <a:t> </a:t>
            </a:r>
            <a:r>
              <a:rPr sz="1800" spc="114" dirty="0">
                <a:latin typeface="Batang"/>
                <a:cs typeface="Batang"/>
              </a:rPr>
              <a:t>위험</a:t>
            </a:r>
            <a:endParaRPr sz="18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0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</a:pP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짧은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70" dirty="0">
                <a:solidFill>
                  <a:srgbClr val="494949"/>
                </a:solidFill>
                <a:latin typeface="Batang"/>
                <a:cs typeface="Batang"/>
              </a:rPr>
              <a:t>기간</a:t>
            </a:r>
            <a:r>
              <a:rPr sz="1400" spc="70" dirty="0">
                <a:solidFill>
                  <a:srgbClr val="494949"/>
                </a:solidFill>
                <a:latin typeface="Arial"/>
                <a:cs typeface="Arial"/>
              </a:rPr>
              <a:t>(6</a:t>
            </a:r>
            <a:r>
              <a:rPr sz="1250" spc="70" dirty="0">
                <a:solidFill>
                  <a:srgbClr val="494949"/>
                </a:solidFill>
                <a:latin typeface="Batang"/>
                <a:cs typeface="Batang"/>
              </a:rPr>
              <a:t>주</a:t>
            </a:r>
            <a:r>
              <a:rPr sz="1400" spc="70" dirty="0">
                <a:solidFill>
                  <a:srgbClr val="494949"/>
                </a:solidFill>
                <a:latin typeface="Arial"/>
                <a:cs typeface="Arial"/>
              </a:rPr>
              <a:t>)</a:t>
            </a:r>
            <a:r>
              <a:rPr sz="1250" spc="70" dirty="0">
                <a:solidFill>
                  <a:srgbClr val="494949"/>
                </a:solidFill>
                <a:latin typeface="Batang"/>
                <a:cs typeface="Batang"/>
              </a:rPr>
              <a:t>으로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인한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일정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20" dirty="0">
                <a:solidFill>
                  <a:srgbClr val="494949"/>
                </a:solidFill>
                <a:latin typeface="Batang"/>
                <a:cs typeface="Batang"/>
              </a:rPr>
              <a:t>지</a:t>
            </a:r>
            <a:r>
              <a:rPr sz="1200" spc="120" dirty="0">
                <a:solidFill>
                  <a:srgbClr val="494949"/>
                </a:solidFill>
                <a:latin typeface="Batang"/>
                <a:cs typeface="Batang"/>
              </a:rPr>
              <a:t>연</a:t>
            </a:r>
            <a:r>
              <a:rPr sz="1200" spc="-95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85" dirty="0">
                <a:solidFill>
                  <a:srgbClr val="494949"/>
                </a:solidFill>
                <a:latin typeface="Batang"/>
                <a:cs typeface="Batang"/>
              </a:rPr>
              <a:t>가</a:t>
            </a:r>
            <a:r>
              <a:rPr sz="1200" spc="85" dirty="0">
                <a:solidFill>
                  <a:srgbClr val="494949"/>
                </a:solidFill>
                <a:latin typeface="Batang"/>
                <a:cs typeface="Batang"/>
              </a:rPr>
              <a:t>능</a:t>
            </a:r>
            <a:r>
              <a:rPr sz="1250" spc="85" dirty="0">
                <a:solidFill>
                  <a:srgbClr val="494949"/>
                </a:solidFill>
                <a:latin typeface="Batang"/>
                <a:cs typeface="Batang"/>
              </a:rPr>
              <a:t>성</a:t>
            </a:r>
            <a:endParaRPr sz="125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00">
              <a:latin typeface="Batang"/>
              <a:cs typeface="Batang"/>
            </a:endParaRPr>
          </a:p>
          <a:p>
            <a:pPr marL="271145" marR="62230" indent="-144145">
              <a:lnSpc>
                <a:spcPct val="1235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288925" algn="l"/>
              </a:tabLst>
            </a:pPr>
            <a:r>
              <a:rPr sz="1250" spc="70" dirty="0">
                <a:solidFill>
                  <a:srgbClr val="494949"/>
                </a:solidFill>
                <a:latin typeface="Batang"/>
                <a:cs typeface="Batang"/>
              </a:rPr>
              <a:t>대응</a:t>
            </a:r>
            <a:r>
              <a:rPr sz="1400" spc="70" dirty="0">
                <a:solidFill>
                  <a:srgbClr val="494949"/>
                </a:solidFill>
                <a:latin typeface="Arial"/>
                <a:cs typeface="Arial"/>
              </a:rPr>
              <a:t>:</a:t>
            </a:r>
            <a:r>
              <a:rPr sz="1400" spc="-12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주차별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세부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목표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설정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,</a:t>
            </a:r>
            <a:r>
              <a:rPr sz="1300" spc="-65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주기적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진행상황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점검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,</a:t>
            </a:r>
            <a:r>
              <a:rPr sz="1300" spc="-70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모델 	</a:t>
            </a:r>
            <a:r>
              <a:rPr sz="1350" spc="85" dirty="0">
                <a:solidFill>
                  <a:srgbClr val="494949"/>
                </a:solidFill>
                <a:latin typeface="Malgun Gothic"/>
                <a:cs typeface="Malgun Gothic"/>
              </a:rPr>
              <a:t>링</a:t>
            </a:r>
            <a:r>
              <a:rPr sz="1300" spc="85" dirty="0">
                <a:solidFill>
                  <a:srgbClr val="494949"/>
                </a:solidFill>
                <a:latin typeface="Gill Sans MT"/>
                <a:cs typeface="Gill Sans MT"/>
              </a:rPr>
              <a:t>-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UI</a:t>
            </a:r>
            <a:r>
              <a:rPr sz="1300" spc="45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병행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협업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과정의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950" spc="270" dirty="0">
                <a:solidFill>
                  <a:srgbClr val="494949"/>
                </a:solidFill>
                <a:latin typeface="Batang"/>
                <a:cs typeface="Batang"/>
              </a:rPr>
              <a:t>코</a:t>
            </a:r>
            <a:r>
              <a:rPr sz="1200" spc="270" dirty="0">
                <a:solidFill>
                  <a:srgbClr val="494949"/>
                </a:solidFill>
                <a:latin typeface="Batang"/>
                <a:cs typeface="Batang"/>
              </a:rPr>
              <a:t>드</a:t>
            </a:r>
            <a:r>
              <a:rPr sz="1200" spc="-95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300" spc="65" dirty="0">
                <a:solidFill>
                  <a:srgbClr val="494949"/>
                </a:solidFill>
                <a:latin typeface="Batang"/>
                <a:cs typeface="Batang"/>
              </a:rPr>
              <a:t>충</a:t>
            </a:r>
            <a:r>
              <a:rPr sz="1250" spc="65" dirty="0">
                <a:solidFill>
                  <a:srgbClr val="494949"/>
                </a:solidFill>
                <a:latin typeface="Batang"/>
                <a:cs typeface="Batang"/>
              </a:rPr>
              <a:t>돌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및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작업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75" dirty="0">
                <a:solidFill>
                  <a:srgbClr val="494949"/>
                </a:solidFill>
                <a:latin typeface="Batang"/>
                <a:cs typeface="Batang"/>
              </a:rPr>
              <a:t>중복</a:t>
            </a:r>
            <a:endParaRPr sz="12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Batang"/>
              <a:cs typeface="Batang"/>
            </a:endParaRPr>
          </a:p>
          <a:p>
            <a:pPr marL="271145" marR="5080" indent="-144145">
              <a:lnSpc>
                <a:spcPct val="1235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288925" algn="l"/>
              </a:tabLst>
            </a:pPr>
            <a:r>
              <a:rPr sz="1250" spc="70" dirty="0">
                <a:solidFill>
                  <a:srgbClr val="494949"/>
                </a:solidFill>
                <a:latin typeface="Batang"/>
                <a:cs typeface="Batang"/>
              </a:rPr>
              <a:t>대응</a:t>
            </a:r>
            <a:r>
              <a:rPr sz="1400" spc="70" dirty="0">
                <a:solidFill>
                  <a:srgbClr val="494949"/>
                </a:solidFill>
                <a:latin typeface="Arial"/>
                <a:cs typeface="Arial"/>
              </a:rPr>
              <a:t>:</a:t>
            </a:r>
            <a:r>
              <a:rPr sz="1400" spc="-12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70" dirty="0">
                <a:solidFill>
                  <a:srgbClr val="494949"/>
                </a:solidFill>
                <a:latin typeface="Gill Sans MT"/>
                <a:cs typeface="Gill Sans MT"/>
              </a:rPr>
              <a:t>GitHub</a:t>
            </a:r>
            <a:r>
              <a:rPr sz="1350" spc="70" dirty="0">
                <a:solidFill>
                  <a:srgbClr val="494949"/>
                </a:solidFill>
                <a:latin typeface="Malgun Gothic"/>
                <a:cs typeface="Malgun Gothic"/>
              </a:rPr>
              <a:t>를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통한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버전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관리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,</a:t>
            </a:r>
            <a:r>
              <a:rPr sz="1300" spc="-60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명확한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역할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분담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,</a:t>
            </a:r>
            <a:r>
              <a:rPr sz="1300" spc="-60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정기적 	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코드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리뷰</a:t>
            </a:r>
            <a:endParaRPr sz="1350">
              <a:latin typeface="Malgun Gothic"/>
              <a:cs typeface="Malgun Gothic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500" y="4310571"/>
            <a:ext cx="314325" cy="24765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721475" y="4283564"/>
            <a:ext cx="1320800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140" dirty="0">
                <a:latin typeface="Batang"/>
                <a:cs typeface="Batang"/>
              </a:rPr>
              <a:t>윤리적</a:t>
            </a:r>
            <a:r>
              <a:rPr sz="1800" spc="-140" dirty="0">
                <a:latin typeface="Batang"/>
                <a:cs typeface="Batang"/>
              </a:rPr>
              <a:t> </a:t>
            </a:r>
            <a:r>
              <a:rPr sz="1800" spc="114" dirty="0">
                <a:latin typeface="Batang"/>
                <a:cs typeface="Batang"/>
              </a:rPr>
              <a:t>위험</a:t>
            </a:r>
            <a:endParaRPr sz="1800">
              <a:latin typeface="Batang"/>
              <a:cs typeface="Batang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500" y="4767771"/>
            <a:ext cx="171450" cy="1714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500" y="5491671"/>
            <a:ext cx="171450" cy="17145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559550" y="4638675"/>
            <a:ext cx="4330700" cy="1339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spc="50" dirty="0">
                <a:solidFill>
                  <a:srgbClr val="494949"/>
                </a:solidFill>
                <a:latin typeface="Batang"/>
                <a:cs typeface="Batang"/>
              </a:rPr>
              <a:t>자해</a:t>
            </a:r>
            <a:r>
              <a:rPr sz="1400" spc="50" dirty="0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sz="1400" spc="-6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폭력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00" spc="140" dirty="0">
                <a:solidFill>
                  <a:srgbClr val="494949"/>
                </a:solidFill>
                <a:latin typeface="Batang"/>
                <a:cs typeface="Batang"/>
              </a:rPr>
              <a:t>등</a:t>
            </a:r>
            <a:r>
              <a:rPr sz="1200" spc="-95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위험</a:t>
            </a:r>
            <a:r>
              <a:rPr sz="1250" spc="-11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발언에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대한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부적절한</a:t>
            </a:r>
            <a:r>
              <a:rPr sz="1250" spc="-114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400" dirty="0">
                <a:solidFill>
                  <a:srgbClr val="494949"/>
                </a:solidFill>
                <a:latin typeface="Arial"/>
                <a:cs typeface="Arial"/>
              </a:rPr>
              <a:t>AI</a:t>
            </a:r>
            <a:r>
              <a:rPr sz="1400" spc="-10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50" spc="75" dirty="0">
                <a:solidFill>
                  <a:srgbClr val="494949"/>
                </a:solidFill>
                <a:latin typeface="Batang"/>
                <a:cs typeface="Batang"/>
              </a:rPr>
              <a:t>반응</a:t>
            </a:r>
            <a:endParaRPr sz="12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Batang"/>
              <a:cs typeface="Batang"/>
            </a:endParaRPr>
          </a:p>
          <a:p>
            <a:pPr marL="271145" indent="-144145">
              <a:lnSpc>
                <a:spcPct val="1000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271145" algn="l"/>
              </a:tabLst>
            </a:pPr>
            <a:r>
              <a:rPr sz="1250" spc="70" dirty="0">
                <a:solidFill>
                  <a:srgbClr val="494949"/>
                </a:solidFill>
                <a:latin typeface="Batang"/>
                <a:cs typeface="Batang"/>
              </a:rPr>
              <a:t>대응</a:t>
            </a:r>
            <a:r>
              <a:rPr sz="1400" spc="70" dirty="0">
                <a:solidFill>
                  <a:srgbClr val="494949"/>
                </a:solidFill>
                <a:latin typeface="Arial"/>
                <a:cs typeface="Arial"/>
              </a:rPr>
              <a:t>:</a:t>
            </a:r>
            <a:r>
              <a:rPr sz="1400" spc="-12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위험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단어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필터링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,</a:t>
            </a:r>
            <a:r>
              <a:rPr sz="1300" spc="-70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전문가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상담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안내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시스템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구현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개인정보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및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민감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데이터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75" dirty="0">
                <a:solidFill>
                  <a:srgbClr val="494949"/>
                </a:solidFill>
                <a:latin typeface="Batang"/>
                <a:cs typeface="Batang"/>
              </a:rPr>
              <a:t>보호</a:t>
            </a:r>
            <a:endParaRPr sz="12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">
              <a:latin typeface="Batang"/>
              <a:cs typeface="Batang"/>
            </a:endParaRPr>
          </a:p>
          <a:p>
            <a:pPr marL="271145" indent="-144145">
              <a:lnSpc>
                <a:spcPct val="1000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271145" algn="l"/>
              </a:tabLst>
            </a:pPr>
            <a:r>
              <a:rPr sz="1250" spc="70" dirty="0">
                <a:solidFill>
                  <a:srgbClr val="494949"/>
                </a:solidFill>
                <a:latin typeface="Batang"/>
                <a:cs typeface="Batang"/>
              </a:rPr>
              <a:t>대응</a:t>
            </a:r>
            <a:r>
              <a:rPr sz="1400" spc="70" dirty="0">
                <a:solidFill>
                  <a:srgbClr val="494949"/>
                </a:solidFill>
                <a:latin typeface="Arial"/>
                <a:cs typeface="Arial"/>
              </a:rPr>
              <a:t>:</a:t>
            </a:r>
            <a:r>
              <a:rPr sz="1400" spc="-12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민감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대화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내용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즉시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폐기</a:t>
            </a:r>
            <a:r>
              <a:rPr sz="1300" dirty="0">
                <a:solidFill>
                  <a:srgbClr val="494949"/>
                </a:solidFill>
                <a:latin typeface="Gill Sans MT"/>
                <a:cs typeface="Gill Sans MT"/>
              </a:rPr>
              <a:t>,</a:t>
            </a:r>
            <a:r>
              <a:rPr sz="1300" spc="-70" dirty="0">
                <a:solidFill>
                  <a:srgbClr val="494949"/>
                </a:solidFill>
                <a:latin typeface="Gill Sans MT"/>
                <a:cs typeface="Gill Sans MT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익명화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처리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원칙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적용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10" dirty="0"/>
              <a:t>11</a:t>
            </a:fld>
            <a:r>
              <a:rPr spc="-10" dirty="0"/>
              <a:t>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324" y="657808"/>
            <a:ext cx="4765675" cy="59631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800" spc="24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성능</a:t>
            </a:r>
            <a:r>
              <a:rPr sz="3800" spc="-19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1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평가</a:t>
            </a:r>
            <a:r>
              <a:rPr sz="3800" spc="-204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5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지표</a:t>
            </a:r>
            <a:r>
              <a:rPr sz="3800" spc="-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16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설정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025" y="1778000"/>
            <a:ext cx="219075" cy="2476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025" y="2930525"/>
            <a:ext cx="247650" cy="2476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025" y="3387725"/>
            <a:ext cx="171450" cy="1714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025" y="3740150"/>
            <a:ext cx="171450" cy="1714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025" y="4349750"/>
            <a:ext cx="171450" cy="1714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025" y="4959350"/>
            <a:ext cx="171450" cy="1714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25550" y="1753170"/>
            <a:ext cx="4673600" cy="33978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140" dirty="0">
                <a:latin typeface="Batang"/>
                <a:cs typeface="Batang"/>
              </a:rPr>
              <a:t>데이터셋</a:t>
            </a:r>
            <a:r>
              <a:rPr sz="1800" spc="-135" dirty="0">
                <a:latin typeface="Batang"/>
                <a:cs typeface="Batang"/>
              </a:rPr>
              <a:t> </a:t>
            </a:r>
            <a:r>
              <a:rPr sz="1700" spc="165" dirty="0">
                <a:latin typeface="Batang"/>
                <a:cs typeface="Batang"/>
              </a:rPr>
              <a:t>분</a:t>
            </a:r>
            <a:r>
              <a:rPr sz="1800" spc="165" dirty="0">
                <a:latin typeface="Batang"/>
                <a:cs typeface="Batang"/>
              </a:rPr>
              <a:t>리</a:t>
            </a:r>
            <a:endParaRPr sz="18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" dirty="0">
              <a:latin typeface="Batang"/>
              <a:cs typeface="Batang"/>
            </a:endParaRPr>
          </a:p>
          <a:p>
            <a:pPr marL="185420" marR="53340" indent="-163195">
              <a:lnSpc>
                <a:spcPct val="1235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203200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감정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데이터셋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중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35" dirty="0">
                <a:solidFill>
                  <a:srgbClr val="494949"/>
                </a:solidFill>
                <a:latin typeface="Malgun Gothic"/>
                <a:cs typeface="Malgun Gothic"/>
              </a:rPr>
              <a:t>일부</a:t>
            </a:r>
            <a:r>
              <a:rPr sz="1400" spc="-35" dirty="0">
                <a:solidFill>
                  <a:srgbClr val="494949"/>
                </a:solidFill>
                <a:latin typeface="Comic Sans MS"/>
                <a:cs typeface="Comic Sans MS"/>
              </a:rPr>
              <a:t>(</a:t>
            </a:r>
            <a:r>
              <a:rPr sz="1350" spc="-35" dirty="0">
                <a:solidFill>
                  <a:srgbClr val="494949"/>
                </a:solidFill>
                <a:latin typeface="Malgun Gothic"/>
                <a:cs typeface="Malgun Gothic"/>
              </a:rPr>
              <a:t>예</a:t>
            </a:r>
            <a:r>
              <a:rPr sz="1400" spc="-35" dirty="0">
                <a:solidFill>
                  <a:srgbClr val="494949"/>
                </a:solidFill>
                <a:latin typeface="Comic Sans MS"/>
                <a:cs typeface="Comic Sans MS"/>
              </a:rPr>
              <a:t>:</a:t>
            </a:r>
            <a:r>
              <a:rPr sz="1400" spc="-75" dirty="0">
                <a:solidFill>
                  <a:srgbClr val="494949"/>
                </a:solidFill>
                <a:latin typeface="Comic Sans MS"/>
                <a:cs typeface="Comic Sans MS"/>
              </a:rPr>
              <a:t> </a:t>
            </a:r>
            <a:r>
              <a:rPr sz="1400" spc="-60" dirty="0">
                <a:solidFill>
                  <a:srgbClr val="494949"/>
                </a:solidFill>
                <a:latin typeface="Comic Sans MS"/>
                <a:cs typeface="Comic Sans MS"/>
              </a:rPr>
              <a:t>20%)</a:t>
            </a:r>
            <a:r>
              <a:rPr sz="1350" spc="-60" dirty="0">
                <a:solidFill>
                  <a:srgbClr val="494949"/>
                </a:solidFill>
                <a:latin typeface="Malgun Gothic"/>
                <a:cs typeface="Malgun Gothic"/>
              </a:rPr>
              <a:t>를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테스트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세트로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따로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분리 	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사용</a:t>
            </a:r>
            <a:endParaRPr sz="1350" dirty="0">
              <a:latin typeface="Malgun Gothic"/>
              <a:cs typeface="Malgun Gothic"/>
            </a:endParaRPr>
          </a:p>
          <a:p>
            <a:pPr marL="41275">
              <a:lnSpc>
                <a:spcPct val="100000"/>
              </a:lnSpc>
              <a:spcBef>
                <a:spcPts val="1980"/>
              </a:spcBef>
            </a:pPr>
            <a:r>
              <a:rPr sz="1800" spc="140" dirty="0">
                <a:latin typeface="Batang"/>
                <a:cs typeface="Batang"/>
              </a:rPr>
              <a:t>정량적</a:t>
            </a:r>
            <a:r>
              <a:rPr sz="1800" spc="-140" dirty="0">
                <a:latin typeface="Batang"/>
                <a:cs typeface="Batang"/>
              </a:rPr>
              <a:t> </a:t>
            </a:r>
            <a:r>
              <a:rPr sz="1800" spc="140" dirty="0">
                <a:latin typeface="Batang"/>
                <a:cs typeface="Batang"/>
              </a:rPr>
              <a:t>평가</a:t>
            </a:r>
            <a:r>
              <a:rPr sz="1800" spc="-140" dirty="0">
                <a:latin typeface="Batang"/>
                <a:cs typeface="Batang"/>
              </a:rPr>
              <a:t> </a:t>
            </a:r>
            <a:r>
              <a:rPr sz="1800" spc="114" dirty="0">
                <a:latin typeface="Batang"/>
                <a:cs typeface="Batang"/>
              </a:rPr>
              <a:t>지표</a:t>
            </a:r>
            <a:endParaRPr sz="18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00" dirty="0">
              <a:latin typeface="Batang"/>
              <a:cs typeface="Batang"/>
            </a:endParaRPr>
          </a:p>
          <a:p>
            <a:pPr marL="22225">
              <a:lnSpc>
                <a:spcPct val="100000"/>
              </a:lnSpc>
              <a:spcBef>
                <a:spcPts val="5"/>
              </a:spcBef>
            </a:pPr>
            <a:r>
              <a:rPr sz="1250" spc="55" dirty="0">
                <a:solidFill>
                  <a:srgbClr val="494949"/>
                </a:solidFill>
                <a:latin typeface="+mn-ea"/>
                <a:ea typeface="+mn-ea"/>
                <a:cs typeface="Batang"/>
              </a:rPr>
              <a:t>정확도</a:t>
            </a:r>
            <a:r>
              <a:rPr sz="1400" spc="55" dirty="0">
                <a:solidFill>
                  <a:srgbClr val="494949"/>
                </a:solidFill>
                <a:latin typeface="Book Antiqua"/>
                <a:cs typeface="Book Antiqua"/>
              </a:rPr>
              <a:t>(Accuracy):</a:t>
            </a:r>
            <a:r>
              <a:rPr sz="1400" spc="-80" dirty="0">
                <a:solidFill>
                  <a:srgbClr val="494949"/>
                </a:solidFill>
                <a:latin typeface="Book Antiqua"/>
                <a:cs typeface="Book Antiqua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전체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데이터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중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정확히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분류된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비율</a:t>
            </a:r>
            <a:endParaRPr sz="1350" dirty="0">
              <a:latin typeface="Malgun Gothic"/>
              <a:cs typeface="Malgun Gothic"/>
            </a:endParaRPr>
          </a:p>
          <a:p>
            <a:pPr marL="22225" marR="5080">
              <a:lnSpc>
                <a:spcPct val="123500"/>
              </a:lnSpc>
              <a:spcBef>
                <a:spcPts val="700"/>
              </a:spcBef>
            </a:pPr>
            <a:r>
              <a:rPr sz="1250" spc="45" dirty="0">
                <a:solidFill>
                  <a:srgbClr val="494949"/>
                </a:solidFill>
                <a:latin typeface="Batang"/>
                <a:cs typeface="Batang"/>
              </a:rPr>
              <a:t>정밀도</a:t>
            </a:r>
            <a:r>
              <a:rPr sz="1400" spc="45" dirty="0">
                <a:solidFill>
                  <a:srgbClr val="494949"/>
                </a:solidFill>
                <a:latin typeface="Book Antiqua"/>
                <a:cs typeface="Book Antiqua"/>
              </a:rPr>
              <a:t>(Precision):</a:t>
            </a:r>
            <a:r>
              <a:rPr sz="1400" spc="-80" dirty="0">
                <a:solidFill>
                  <a:srgbClr val="494949"/>
                </a:solidFill>
                <a:latin typeface="Book Antiqua"/>
                <a:cs typeface="Book Antiqua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특정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감정으로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분류한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항목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중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실제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해당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50" dirty="0">
                <a:solidFill>
                  <a:srgbClr val="494949"/>
                </a:solidFill>
                <a:latin typeface="Malgun Gothic"/>
                <a:cs typeface="Malgun Gothic"/>
              </a:rPr>
              <a:t>감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정인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비율</a:t>
            </a:r>
            <a:endParaRPr sz="1350" dirty="0">
              <a:latin typeface="Malgun Gothic"/>
              <a:cs typeface="Malgun Gothic"/>
            </a:endParaRPr>
          </a:p>
          <a:p>
            <a:pPr marL="22225" marR="81280">
              <a:lnSpc>
                <a:spcPct val="123500"/>
              </a:lnSpc>
              <a:spcBef>
                <a:spcPts val="710"/>
              </a:spcBef>
            </a:pPr>
            <a:r>
              <a:rPr sz="1250" dirty="0">
                <a:solidFill>
                  <a:srgbClr val="494949"/>
                </a:solidFill>
                <a:latin typeface="Batang"/>
                <a:cs typeface="Batang"/>
              </a:rPr>
              <a:t>재현율</a:t>
            </a:r>
            <a:r>
              <a:rPr sz="1400" dirty="0">
                <a:solidFill>
                  <a:srgbClr val="494949"/>
                </a:solidFill>
                <a:latin typeface="Book Antiqua"/>
                <a:cs typeface="Book Antiqua"/>
              </a:rPr>
              <a:t>(Recall):</a:t>
            </a:r>
            <a:r>
              <a:rPr sz="1400" spc="-40" dirty="0">
                <a:solidFill>
                  <a:srgbClr val="494949"/>
                </a:solidFill>
                <a:latin typeface="Book Antiqua"/>
                <a:cs typeface="Book Antiqua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실제</a:t>
            </a:r>
            <a:r>
              <a:rPr sz="1350" spc="-12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특정</a:t>
            </a:r>
            <a:r>
              <a:rPr sz="1350" spc="-12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감정인</a:t>
            </a:r>
            <a:r>
              <a:rPr sz="1350" spc="-12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항목</a:t>
            </a:r>
            <a:r>
              <a:rPr sz="1350" spc="-12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중</a:t>
            </a:r>
            <a:r>
              <a:rPr sz="1350" spc="-12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올바르게</a:t>
            </a:r>
            <a:r>
              <a:rPr sz="1350" spc="-12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분류된</a:t>
            </a:r>
            <a:r>
              <a:rPr sz="1350" spc="-12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50" dirty="0">
                <a:solidFill>
                  <a:srgbClr val="494949"/>
                </a:solidFill>
                <a:latin typeface="Malgun Gothic"/>
                <a:cs typeface="Malgun Gothic"/>
              </a:rPr>
              <a:t>비 율</a:t>
            </a:r>
            <a:endParaRPr sz="1350" dirty="0">
              <a:latin typeface="Malgun Gothic"/>
              <a:cs typeface="Malgun Gothic"/>
            </a:endParaRPr>
          </a:p>
          <a:p>
            <a:pPr marL="22225">
              <a:lnSpc>
                <a:spcPct val="100000"/>
              </a:lnSpc>
              <a:spcBef>
                <a:spcPts val="1105"/>
              </a:spcBef>
            </a:pPr>
            <a:r>
              <a:rPr sz="1400" spc="-35" dirty="0">
                <a:solidFill>
                  <a:srgbClr val="494949"/>
                </a:solidFill>
                <a:latin typeface="Book Antiqua"/>
                <a:cs typeface="Book Antiqua"/>
              </a:rPr>
              <a:t>F1-</a:t>
            </a:r>
            <a:r>
              <a:rPr sz="1400" dirty="0">
                <a:solidFill>
                  <a:srgbClr val="494949"/>
                </a:solidFill>
                <a:latin typeface="Book Antiqua"/>
                <a:cs typeface="Book Antiqua"/>
              </a:rPr>
              <a:t>score:</a:t>
            </a:r>
            <a:r>
              <a:rPr sz="1400" spc="-25" dirty="0">
                <a:solidFill>
                  <a:srgbClr val="494949"/>
                </a:solidFill>
                <a:latin typeface="Book Antiqua"/>
                <a:cs typeface="Book Antiqua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정밀도와</a:t>
            </a:r>
            <a:r>
              <a:rPr sz="1350" spc="-10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재현율의</a:t>
            </a:r>
            <a:r>
              <a:rPr sz="1350" spc="-10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0" dirty="0">
                <a:solidFill>
                  <a:srgbClr val="494949"/>
                </a:solidFill>
                <a:latin typeface="Malgun Gothic"/>
                <a:cs typeface="Malgun Gothic"/>
              </a:rPr>
              <a:t>조화평균</a:t>
            </a:r>
            <a:endParaRPr sz="1350" dirty="0">
              <a:latin typeface="Malgun Gothic"/>
              <a:cs typeface="Malgun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8400" y="1812925"/>
            <a:ext cx="247650" cy="24765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286500" y="4749800"/>
            <a:ext cx="4943475" cy="1304925"/>
            <a:chOff x="6286500" y="4162425"/>
            <a:chExt cx="4943475" cy="1304925"/>
          </a:xfrm>
        </p:grpSpPr>
        <p:sp>
          <p:nvSpPr>
            <p:cNvPr id="12" name="object 12"/>
            <p:cNvSpPr/>
            <p:nvPr/>
          </p:nvSpPr>
          <p:spPr>
            <a:xfrm>
              <a:off x="6286500" y="4162425"/>
              <a:ext cx="4943475" cy="1304925"/>
            </a:xfrm>
            <a:custGeom>
              <a:avLst/>
              <a:gdLst/>
              <a:ahLst/>
              <a:cxnLst/>
              <a:rect l="l" t="t" r="r" b="b"/>
              <a:pathLst>
                <a:path w="4943475" h="1304925">
                  <a:moveTo>
                    <a:pt x="4872278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1228725"/>
                  </a:lnTo>
                  <a:lnTo>
                    <a:pt x="0" y="1233728"/>
                  </a:lnTo>
                  <a:lnTo>
                    <a:pt x="15621" y="1275219"/>
                  </a:lnTo>
                  <a:lnTo>
                    <a:pt x="51663" y="1301038"/>
                  </a:lnTo>
                  <a:lnTo>
                    <a:pt x="71196" y="1304925"/>
                  </a:lnTo>
                  <a:lnTo>
                    <a:pt x="4872278" y="1304925"/>
                  </a:lnTo>
                  <a:lnTo>
                    <a:pt x="4913769" y="1289304"/>
                  </a:lnTo>
                  <a:lnTo>
                    <a:pt x="4939588" y="1253261"/>
                  </a:lnTo>
                  <a:lnTo>
                    <a:pt x="4943475" y="1233728"/>
                  </a:lnTo>
                  <a:lnTo>
                    <a:pt x="4943475" y="71196"/>
                  </a:lnTo>
                  <a:lnTo>
                    <a:pt x="4927854" y="29705"/>
                  </a:lnTo>
                  <a:lnTo>
                    <a:pt x="4891811" y="3886"/>
                  </a:lnTo>
                  <a:lnTo>
                    <a:pt x="4877231" y="482"/>
                  </a:lnTo>
                  <a:lnTo>
                    <a:pt x="4872278" y="0"/>
                  </a:lnTo>
                  <a:close/>
                </a:path>
              </a:pathLst>
            </a:custGeom>
            <a:solidFill>
              <a:srgbClr val="3B81F6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29374" y="4333875"/>
              <a:ext cx="123825" cy="16192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559550" y="2901041"/>
            <a:ext cx="109855" cy="68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" spc="385" dirty="0">
                <a:solidFill>
                  <a:srgbClr val="6B717F"/>
                </a:solidFill>
                <a:latin typeface="Times New Roman"/>
                <a:cs typeface="Times New Roman"/>
              </a:rPr>
              <a:t>•</a:t>
            </a:r>
            <a:endParaRPr sz="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24750" y="2768600"/>
            <a:ext cx="1933575" cy="295275"/>
          </a:xfrm>
          <a:custGeom>
            <a:avLst/>
            <a:gdLst/>
            <a:ahLst/>
            <a:cxnLst/>
            <a:rect l="l" t="t" r="r" b="b"/>
            <a:pathLst>
              <a:path w="1933575" h="295275">
                <a:moveTo>
                  <a:pt x="1900529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257175"/>
                </a:lnTo>
                <a:lnTo>
                  <a:pt x="0" y="262229"/>
                </a:lnTo>
                <a:lnTo>
                  <a:pt x="28194" y="294309"/>
                </a:lnTo>
                <a:lnTo>
                  <a:pt x="33045" y="295275"/>
                </a:lnTo>
                <a:lnTo>
                  <a:pt x="1900529" y="295275"/>
                </a:lnTo>
                <a:lnTo>
                  <a:pt x="1932609" y="267081"/>
                </a:lnTo>
                <a:lnTo>
                  <a:pt x="1933575" y="262229"/>
                </a:lnTo>
                <a:lnTo>
                  <a:pt x="1933575" y="33045"/>
                </a:lnTo>
                <a:lnTo>
                  <a:pt x="1905381" y="965"/>
                </a:lnTo>
                <a:lnTo>
                  <a:pt x="1900529" y="0"/>
                </a:lnTo>
                <a:close/>
              </a:path>
            </a:pathLst>
          </a:custGeom>
          <a:solidFill>
            <a:srgbClr val="EFF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8400" y="3311525"/>
            <a:ext cx="314325" cy="24765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86500" y="3740150"/>
            <a:ext cx="171450" cy="17145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6500" y="4092575"/>
            <a:ext cx="219075" cy="17145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416675" y="5127625"/>
            <a:ext cx="18732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374050"/>
                </a:solidFill>
                <a:latin typeface="Malgun Gothic"/>
                <a:cs typeface="Malgun Gothic"/>
              </a:rPr>
              <a:t>화</a:t>
            </a:r>
            <a:endParaRPr sz="1250">
              <a:latin typeface="Malgun Gothic"/>
              <a:cs typeface="Malgun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43662" y="5379135"/>
            <a:ext cx="2867025" cy="228600"/>
            <a:chOff x="6429375" y="4838700"/>
            <a:chExt cx="2867025" cy="22860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29375" y="4867275"/>
              <a:ext cx="123825" cy="1619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534400" y="4838700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728954" y="0"/>
                  </a:moveTo>
                  <a:lnTo>
                    <a:pt x="33045" y="0"/>
                  </a:lnTo>
                  <a:lnTo>
                    <a:pt x="28194" y="965"/>
                  </a:lnTo>
                  <a:lnTo>
                    <a:pt x="965" y="28194"/>
                  </a:lnTo>
                  <a:lnTo>
                    <a:pt x="0" y="33045"/>
                  </a:lnTo>
                  <a:lnTo>
                    <a:pt x="0" y="190500"/>
                  </a:lnTo>
                  <a:lnTo>
                    <a:pt x="0" y="195554"/>
                  </a:lnTo>
                  <a:lnTo>
                    <a:pt x="28194" y="227634"/>
                  </a:lnTo>
                  <a:lnTo>
                    <a:pt x="33045" y="228600"/>
                  </a:lnTo>
                  <a:lnTo>
                    <a:pt x="728954" y="228600"/>
                  </a:lnTo>
                  <a:lnTo>
                    <a:pt x="761034" y="200406"/>
                  </a:lnTo>
                  <a:lnTo>
                    <a:pt x="762000" y="195554"/>
                  </a:lnTo>
                  <a:lnTo>
                    <a:pt x="762000" y="33045"/>
                  </a:lnTo>
                  <a:lnTo>
                    <a:pt x="733806" y="965"/>
                  </a:lnTo>
                  <a:lnTo>
                    <a:pt x="728954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403975" y="1779131"/>
            <a:ext cx="4756150" cy="42755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35"/>
              </a:spcBef>
            </a:pPr>
            <a:r>
              <a:rPr sz="1800" spc="160" dirty="0">
                <a:latin typeface="Batang"/>
                <a:cs typeface="Batang"/>
              </a:rPr>
              <a:t>감정</a:t>
            </a:r>
            <a:r>
              <a:rPr sz="1750" spc="160" dirty="0">
                <a:latin typeface="Batang"/>
                <a:cs typeface="Batang"/>
              </a:rPr>
              <a:t>별</a:t>
            </a:r>
            <a:r>
              <a:rPr sz="1750" spc="-135" dirty="0">
                <a:latin typeface="Batang"/>
                <a:cs typeface="Batang"/>
              </a:rPr>
              <a:t> </a:t>
            </a:r>
            <a:r>
              <a:rPr sz="1800" spc="114" dirty="0">
                <a:latin typeface="Batang"/>
                <a:cs typeface="Batang"/>
              </a:rPr>
              <a:t>평가</a:t>
            </a:r>
            <a:endParaRPr sz="18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" dirty="0">
              <a:latin typeface="Batang"/>
              <a:cs typeface="Batang"/>
            </a:endParaRPr>
          </a:p>
          <a:p>
            <a:pPr marL="331470" marR="55880" indent="-163195">
              <a:lnSpc>
                <a:spcPct val="1235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349250" algn="l"/>
              </a:tabLst>
            </a:pPr>
            <a:r>
              <a:rPr sz="1350" spc="-30" dirty="0">
                <a:solidFill>
                  <a:srgbClr val="494949"/>
                </a:solidFill>
                <a:latin typeface="Malgun Gothic"/>
                <a:cs typeface="Malgun Gothic"/>
              </a:rPr>
              <a:t>감정별</a:t>
            </a:r>
            <a:r>
              <a:rPr sz="1400" spc="-30" dirty="0">
                <a:solidFill>
                  <a:srgbClr val="494949"/>
                </a:solidFill>
                <a:latin typeface="Comic Sans MS"/>
                <a:cs typeface="Comic Sans MS"/>
              </a:rPr>
              <a:t>(</a:t>
            </a:r>
            <a:r>
              <a:rPr sz="1350" spc="-30" dirty="0">
                <a:solidFill>
                  <a:srgbClr val="494949"/>
                </a:solidFill>
                <a:latin typeface="Malgun Gothic"/>
                <a:cs typeface="Malgun Gothic"/>
              </a:rPr>
              <a:t>기쁨</a:t>
            </a:r>
            <a:r>
              <a:rPr sz="1400" spc="-30" dirty="0">
                <a:solidFill>
                  <a:srgbClr val="494949"/>
                </a:solidFill>
                <a:latin typeface="Comic Sans MS"/>
                <a:cs typeface="Comic Sans MS"/>
              </a:rPr>
              <a:t>,</a:t>
            </a:r>
            <a:r>
              <a:rPr sz="1400" spc="-110" dirty="0">
                <a:solidFill>
                  <a:srgbClr val="494949"/>
                </a:solidFill>
                <a:latin typeface="Comic Sans MS"/>
                <a:cs typeface="Comic Sans MS"/>
              </a:rPr>
              <a:t> </a:t>
            </a:r>
            <a:r>
              <a:rPr sz="1350" spc="-35" dirty="0">
                <a:solidFill>
                  <a:srgbClr val="494949"/>
                </a:solidFill>
                <a:latin typeface="Malgun Gothic"/>
                <a:cs typeface="Malgun Gothic"/>
              </a:rPr>
              <a:t>슬픔</a:t>
            </a:r>
            <a:r>
              <a:rPr sz="1400" spc="-35" dirty="0">
                <a:solidFill>
                  <a:srgbClr val="494949"/>
                </a:solidFill>
                <a:latin typeface="Comic Sans MS"/>
                <a:cs typeface="Comic Sans MS"/>
              </a:rPr>
              <a:t>,</a:t>
            </a:r>
            <a:r>
              <a:rPr sz="1400" spc="-110" dirty="0">
                <a:solidFill>
                  <a:srgbClr val="494949"/>
                </a:solidFill>
                <a:latin typeface="Comic Sans MS"/>
                <a:cs typeface="Comic Sans MS"/>
              </a:rPr>
              <a:t> </a:t>
            </a:r>
            <a:r>
              <a:rPr sz="1350" spc="-35" dirty="0">
                <a:solidFill>
                  <a:srgbClr val="494949"/>
                </a:solidFill>
                <a:latin typeface="Malgun Gothic"/>
                <a:cs typeface="Malgun Gothic"/>
              </a:rPr>
              <a:t>분노</a:t>
            </a:r>
            <a:r>
              <a:rPr sz="1400" spc="-35" dirty="0">
                <a:solidFill>
                  <a:srgbClr val="494949"/>
                </a:solidFill>
                <a:latin typeface="Comic Sans MS"/>
                <a:cs typeface="Comic Sans MS"/>
              </a:rPr>
              <a:t>,</a:t>
            </a:r>
            <a:r>
              <a:rPr sz="1400" spc="-105" dirty="0">
                <a:solidFill>
                  <a:srgbClr val="494949"/>
                </a:solidFill>
                <a:latin typeface="Comic Sans MS"/>
                <a:cs typeface="Comic Sans MS"/>
              </a:rPr>
              <a:t> </a:t>
            </a:r>
            <a:r>
              <a:rPr sz="1350" spc="-35" dirty="0">
                <a:solidFill>
                  <a:srgbClr val="494949"/>
                </a:solidFill>
                <a:latin typeface="Malgun Gothic"/>
                <a:cs typeface="Malgun Gothic"/>
              </a:rPr>
              <a:t>불안</a:t>
            </a:r>
            <a:r>
              <a:rPr sz="1400" spc="-35" dirty="0">
                <a:solidFill>
                  <a:srgbClr val="494949"/>
                </a:solidFill>
                <a:latin typeface="Comic Sans MS"/>
                <a:cs typeface="Comic Sans MS"/>
              </a:rPr>
              <a:t>,</a:t>
            </a:r>
            <a:r>
              <a:rPr sz="1400" spc="-110" dirty="0">
                <a:solidFill>
                  <a:srgbClr val="494949"/>
                </a:solidFill>
                <a:latin typeface="Comic Sans MS"/>
                <a:cs typeface="Comic Sans MS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중립</a:t>
            </a:r>
            <a:r>
              <a:rPr sz="1350" spc="-16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35" dirty="0">
                <a:solidFill>
                  <a:srgbClr val="494949"/>
                </a:solidFill>
                <a:latin typeface="Malgun Gothic"/>
                <a:cs typeface="Malgun Gothic"/>
              </a:rPr>
              <a:t>등</a:t>
            </a:r>
            <a:r>
              <a:rPr sz="1400" spc="-35" dirty="0">
                <a:solidFill>
                  <a:srgbClr val="494949"/>
                </a:solidFill>
                <a:latin typeface="Comic Sans MS"/>
                <a:cs typeface="Comic Sans MS"/>
              </a:rPr>
              <a:t>)</a:t>
            </a:r>
            <a:r>
              <a:rPr sz="1350" spc="-35" dirty="0">
                <a:solidFill>
                  <a:srgbClr val="494949"/>
                </a:solidFill>
                <a:latin typeface="Malgun Gothic"/>
                <a:cs typeface="Malgun Gothic"/>
              </a:rPr>
              <a:t>로</a:t>
            </a:r>
            <a:r>
              <a:rPr sz="1350" spc="-15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위</a:t>
            </a:r>
            <a:r>
              <a:rPr sz="1350" spc="-16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지표를</a:t>
            </a:r>
            <a:r>
              <a:rPr sz="1350" spc="-15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계산해 	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평균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성능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산출</a:t>
            </a:r>
            <a:endParaRPr sz="1350" dirty="0">
              <a:latin typeface="Malgun Gothic"/>
              <a:cs typeface="Malgun Gothic"/>
            </a:endParaRPr>
          </a:p>
          <a:p>
            <a:pPr marL="349250">
              <a:lnSpc>
                <a:spcPct val="100000"/>
              </a:lnSpc>
              <a:spcBef>
                <a:spcPts val="955"/>
              </a:spcBef>
            </a:pPr>
            <a:r>
              <a:rPr sz="2025" baseline="6172" dirty="0">
                <a:solidFill>
                  <a:srgbClr val="494949"/>
                </a:solidFill>
                <a:latin typeface="Malgun Gothic"/>
                <a:cs typeface="Malgun Gothic"/>
              </a:rPr>
              <a:t>목표</a:t>
            </a:r>
            <a:r>
              <a:rPr sz="2025" spc="-247" baseline="6172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2025" baseline="6172" dirty="0">
                <a:solidFill>
                  <a:srgbClr val="494949"/>
                </a:solidFill>
                <a:latin typeface="Malgun Gothic"/>
                <a:cs typeface="Malgun Gothic"/>
              </a:rPr>
              <a:t>성능</a:t>
            </a:r>
            <a:r>
              <a:rPr sz="2100" baseline="5952" dirty="0">
                <a:solidFill>
                  <a:srgbClr val="494949"/>
                </a:solidFill>
                <a:latin typeface="Comic Sans MS"/>
                <a:cs typeface="Comic Sans MS"/>
              </a:rPr>
              <a:t>:</a:t>
            </a:r>
            <a:r>
              <a:rPr sz="2100" spc="127" baseline="5952" dirty="0">
                <a:solidFill>
                  <a:srgbClr val="494949"/>
                </a:solidFill>
                <a:latin typeface="Comic Sans MS"/>
                <a:cs typeface="Comic Sans MS"/>
              </a:rPr>
              <a:t> </a:t>
            </a:r>
            <a:r>
              <a:rPr sz="1300" spc="-55" dirty="0">
                <a:solidFill>
                  <a:srgbClr val="2462EB"/>
                </a:solidFill>
                <a:latin typeface="Comic Sans MS"/>
                <a:cs typeface="Comic Sans MS"/>
              </a:rPr>
              <a:t>F1-</a:t>
            </a:r>
            <a:r>
              <a:rPr sz="1300" spc="-10" dirty="0">
                <a:solidFill>
                  <a:srgbClr val="2462EB"/>
                </a:solidFill>
                <a:latin typeface="Comic Sans MS"/>
                <a:cs typeface="Comic Sans MS"/>
              </a:rPr>
              <a:t>score</a:t>
            </a:r>
            <a:r>
              <a:rPr sz="1300" spc="-70" dirty="0">
                <a:solidFill>
                  <a:srgbClr val="2462EB"/>
                </a:solidFill>
                <a:latin typeface="Comic Sans MS"/>
                <a:cs typeface="Comic Sans MS"/>
              </a:rPr>
              <a:t> </a:t>
            </a:r>
            <a:r>
              <a:rPr sz="1350" dirty="0">
                <a:solidFill>
                  <a:srgbClr val="2462EB"/>
                </a:solidFill>
                <a:latin typeface="Malgun Gothic"/>
                <a:cs typeface="Malgun Gothic"/>
              </a:rPr>
              <a:t>기준</a:t>
            </a:r>
            <a:r>
              <a:rPr sz="1350" spc="-160" dirty="0">
                <a:solidFill>
                  <a:srgbClr val="2462EB"/>
                </a:solidFill>
                <a:latin typeface="Malgun Gothic"/>
                <a:cs typeface="Malgun Gothic"/>
              </a:rPr>
              <a:t> </a:t>
            </a:r>
            <a:r>
              <a:rPr sz="1300" dirty="0">
                <a:solidFill>
                  <a:srgbClr val="2462EB"/>
                </a:solidFill>
                <a:latin typeface="Comic Sans MS"/>
                <a:cs typeface="Comic Sans MS"/>
              </a:rPr>
              <a:t>0.80</a:t>
            </a:r>
            <a:r>
              <a:rPr sz="1300" spc="-50" dirty="0">
                <a:solidFill>
                  <a:srgbClr val="2462EB"/>
                </a:solidFill>
                <a:latin typeface="Comic Sans MS"/>
                <a:cs typeface="Comic Sans MS"/>
              </a:rPr>
              <a:t> </a:t>
            </a:r>
            <a:r>
              <a:rPr sz="1350" dirty="0">
                <a:solidFill>
                  <a:srgbClr val="2462EB"/>
                </a:solidFill>
                <a:latin typeface="Malgun Gothic"/>
                <a:cs typeface="Malgun Gothic"/>
              </a:rPr>
              <a:t>이상</a:t>
            </a:r>
            <a:r>
              <a:rPr sz="1350" spc="-5" dirty="0">
                <a:solidFill>
                  <a:srgbClr val="2462EB"/>
                </a:solidFill>
                <a:latin typeface="Malgun Gothic"/>
                <a:cs typeface="Malgun Gothic"/>
              </a:rPr>
              <a:t> </a:t>
            </a:r>
            <a:r>
              <a:rPr sz="2025" baseline="6172" dirty="0">
                <a:solidFill>
                  <a:srgbClr val="494949"/>
                </a:solidFill>
                <a:latin typeface="Malgun Gothic"/>
                <a:cs typeface="Malgun Gothic"/>
              </a:rPr>
              <a:t>을</a:t>
            </a:r>
            <a:r>
              <a:rPr sz="2025" spc="-240" baseline="6172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2025" baseline="6172" dirty="0">
                <a:solidFill>
                  <a:srgbClr val="494949"/>
                </a:solidFill>
                <a:latin typeface="Malgun Gothic"/>
                <a:cs typeface="Malgun Gothic"/>
              </a:rPr>
              <a:t>목표로</a:t>
            </a:r>
            <a:r>
              <a:rPr sz="2025" spc="-247" baseline="6172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2025" spc="-37" baseline="6172" dirty="0">
                <a:solidFill>
                  <a:srgbClr val="494949"/>
                </a:solidFill>
                <a:latin typeface="Malgun Gothic"/>
                <a:cs typeface="Malgun Gothic"/>
              </a:rPr>
              <a:t>설정</a:t>
            </a:r>
            <a:endParaRPr sz="2025" baseline="6172" dirty="0">
              <a:latin typeface="Malgun Gothic"/>
              <a:cs typeface="Malgun Gothic"/>
            </a:endParaRPr>
          </a:p>
          <a:p>
            <a:pPr marL="254000">
              <a:lnSpc>
                <a:spcPct val="100000"/>
              </a:lnSpc>
              <a:spcBef>
                <a:spcPts val="2120"/>
              </a:spcBef>
            </a:pPr>
            <a:r>
              <a:rPr sz="1800" spc="140" dirty="0">
                <a:latin typeface="Batang"/>
                <a:cs typeface="Batang"/>
              </a:rPr>
              <a:t>대화</a:t>
            </a:r>
            <a:r>
              <a:rPr sz="1800" spc="-145" dirty="0">
                <a:latin typeface="Batang"/>
                <a:cs typeface="Batang"/>
              </a:rPr>
              <a:t> </a:t>
            </a:r>
            <a:r>
              <a:rPr sz="1800" spc="140" dirty="0">
                <a:latin typeface="Batang"/>
                <a:cs typeface="Batang"/>
              </a:rPr>
              <a:t>품질</a:t>
            </a:r>
            <a:r>
              <a:rPr sz="1800" spc="-140" dirty="0">
                <a:latin typeface="Batang"/>
                <a:cs typeface="Batang"/>
              </a:rPr>
              <a:t> </a:t>
            </a:r>
            <a:r>
              <a:rPr sz="1800" spc="114" dirty="0">
                <a:latin typeface="Batang"/>
                <a:cs typeface="Batang"/>
              </a:rPr>
              <a:t>평가</a:t>
            </a:r>
            <a:endParaRPr sz="18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00" dirty="0">
              <a:latin typeface="Batang"/>
              <a:cs typeface="Batang"/>
            </a:endParaRPr>
          </a:p>
          <a:p>
            <a:pPr marL="168275">
              <a:lnSpc>
                <a:spcPct val="100000"/>
              </a:lnSpc>
            </a:pPr>
            <a:r>
              <a:rPr sz="1400" spc="-90" dirty="0">
                <a:solidFill>
                  <a:srgbClr val="494949"/>
                </a:solidFill>
                <a:latin typeface="Book Antiqua"/>
                <a:cs typeface="Book Antiqua"/>
              </a:rPr>
              <a:t>BLEU</a:t>
            </a:r>
            <a:r>
              <a:rPr sz="1400" spc="20" dirty="0">
                <a:solidFill>
                  <a:srgbClr val="494949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494949"/>
                </a:solidFill>
                <a:latin typeface="Book Antiqua"/>
                <a:cs typeface="Book Antiqua"/>
              </a:rPr>
              <a:t>Score:</a:t>
            </a:r>
            <a:r>
              <a:rPr sz="1400" spc="-40" dirty="0">
                <a:solidFill>
                  <a:srgbClr val="494949"/>
                </a:solidFill>
                <a:latin typeface="Book Antiqua"/>
                <a:cs typeface="Book Antiqua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생성된</a:t>
            </a:r>
            <a:r>
              <a:rPr sz="1350" spc="-13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응답의</a:t>
            </a:r>
            <a:r>
              <a:rPr sz="1350" spc="-12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자연스러움</a:t>
            </a:r>
            <a:r>
              <a:rPr sz="1350" spc="-12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정량</a:t>
            </a:r>
            <a:r>
              <a:rPr sz="1350" spc="-12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평가</a:t>
            </a:r>
            <a:endParaRPr sz="1350" dirty="0">
              <a:latin typeface="Malgun Gothic"/>
              <a:cs typeface="Malgun Gothic"/>
            </a:endParaRPr>
          </a:p>
          <a:p>
            <a:pPr marL="215900">
              <a:lnSpc>
                <a:spcPct val="100000"/>
              </a:lnSpc>
              <a:spcBef>
                <a:spcPts val="1095"/>
              </a:spcBef>
            </a:pPr>
            <a:r>
              <a:rPr sz="1400" spc="-60" dirty="0">
                <a:solidFill>
                  <a:srgbClr val="494949"/>
                </a:solidFill>
                <a:latin typeface="Book Antiqua"/>
                <a:cs typeface="Book Antiqua"/>
              </a:rPr>
              <a:t>Human</a:t>
            </a:r>
            <a:r>
              <a:rPr sz="1400" spc="-40" dirty="0">
                <a:solidFill>
                  <a:srgbClr val="494949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494949"/>
                </a:solidFill>
                <a:latin typeface="Book Antiqua"/>
                <a:cs typeface="Book Antiqua"/>
              </a:rPr>
              <a:t>Evaluation:</a:t>
            </a:r>
            <a:r>
              <a:rPr sz="1400" spc="-60" dirty="0">
                <a:solidFill>
                  <a:srgbClr val="494949"/>
                </a:solidFill>
                <a:latin typeface="Book Antiqua"/>
                <a:cs typeface="Book Antiqua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실제</a:t>
            </a:r>
            <a:r>
              <a:rPr sz="1350" spc="-14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사용자</a:t>
            </a:r>
            <a:r>
              <a:rPr sz="1350" spc="-14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45" dirty="0">
                <a:solidFill>
                  <a:srgbClr val="494949"/>
                </a:solidFill>
                <a:latin typeface="Malgun Gothic"/>
                <a:cs typeface="Malgun Gothic"/>
              </a:rPr>
              <a:t>평가</a:t>
            </a:r>
            <a:r>
              <a:rPr sz="1400" spc="-45" dirty="0">
                <a:solidFill>
                  <a:srgbClr val="494949"/>
                </a:solidFill>
                <a:latin typeface="Comic Sans MS"/>
                <a:cs typeface="Comic Sans MS"/>
              </a:rPr>
              <a:t>(1-</a:t>
            </a:r>
            <a:r>
              <a:rPr sz="1400" spc="-25" dirty="0">
                <a:solidFill>
                  <a:srgbClr val="494949"/>
                </a:solidFill>
                <a:latin typeface="Comic Sans MS"/>
                <a:cs typeface="Comic Sans MS"/>
              </a:rPr>
              <a:t>5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점</a:t>
            </a:r>
            <a:r>
              <a:rPr sz="1400" spc="-25" dirty="0">
                <a:solidFill>
                  <a:srgbClr val="494949"/>
                </a:solidFill>
                <a:latin typeface="Comic Sans MS"/>
                <a:cs typeface="Comic Sans MS"/>
              </a:rPr>
              <a:t>)</a:t>
            </a:r>
            <a:endParaRPr sz="1400" dirty="0">
              <a:latin typeface="Comic Sans MS"/>
              <a:cs typeface="Comic Sans MS"/>
            </a:endParaRPr>
          </a:p>
          <a:p>
            <a:pPr marL="660400" lvl="1" indent="-158750">
              <a:lnSpc>
                <a:spcPts val="1200"/>
              </a:lnSpc>
              <a:spcBef>
                <a:spcPts val="72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6604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공감도</a:t>
            </a:r>
            <a:r>
              <a:rPr sz="1250" spc="24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관련성</a:t>
            </a:r>
            <a:r>
              <a:rPr sz="1250" spc="254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유용성</a:t>
            </a:r>
            <a:r>
              <a:rPr sz="1250" spc="254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자연스러움</a:t>
            </a:r>
            <a:r>
              <a:rPr sz="1250" spc="-9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등</a:t>
            </a:r>
            <a:r>
              <a:rPr sz="1250" spc="-9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평가</a:t>
            </a:r>
            <a:endParaRPr sz="1250" dirty="0">
              <a:latin typeface="Malgun Gothic"/>
              <a:cs typeface="Malgun Gothic"/>
            </a:endParaRPr>
          </a:p>
          <a:p>
            <a:pPr marL="1158875">
              <a:lnSpc>
                <a:spcPts val="100"/>
              </a:lnSpc>
              <a:tabLst>
                <a:tab pos="1720214" algn="l"/>
                <a:tab pos="2282190" algn="l"/>
              </a:tabLst>
            </a:pPr>
            <a:r>
              <a:rPr sz="250" spc="200" dirty="0">
                <a:solidFill>
                  <a:srgbClr val="494949"/>
                </a:solidFill>
                <a:latin typeface="Arial Narrow"/>
                <a:cs typeface="Arial Narrow"/>
              </a:rPr>
              <a:t>,</a:t>
            </a:r>
            <a:r>
              <a:rPr sz="250" dirty="0">
                <a:solidFill>
                  <a:srgbClr val="494949"/>
                </a:solidFill>
                <a:latin typeface="Arial Narrow"/>
                <a:cs typeface="Arial Narrow"/>
              </a:rPr>
              <a:t>	</a:t>
            </a:r>
            <a:r>
              <a:rPr sz="250" spc="200" dirty="0">
                <a:solidFill>
                  <a:srgbClr val="494949"/>
                </a:solidFill>
                <a:latin typeface="Arial Narrow"/>
                <a:cs typeface="Arial Narrow"/>
              </a:rPr>
              <a:t>,</a:t>
            </a:r>
            <a:r>
              <a:rPr sz="250" dirty="0">
                <a:solidFill>
                  <a:srgbClr val="494949"/>
                </a:solidFill>
                <a:latin typeface="Arial Narrow"/>
                <a:cs typeface="Arial Narrow"/>
              </a:rPr>
              <a:t>	</a:t>
            </a:r>
            <a:r>
              <a:rPr sz="250" spc="200" dirty="0">
                <a:solidFill>
                  <a:srgbClr val="494949"/>
                </a:solidFill>
                <a:latin typeface="Arial Narrow"/>
                <a:cs typeface="Arial Narrow"/>
              </a:rPr>
              <a:t>,</a:t>
            </a:r>
            <a:endParaRPr sz="250" dirty="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1250" dirty="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50" dirty="0">
              <a:latin typeface="Arial Narrow"/>
              <a:cs typeface="Arial Narrow"/>
            </a:endParaRPr>
          </a:p>
          <a:p>
            <a:pPr marL="262890">
              <a:lnSpc>
                <a:spcPct val="100000"/>
              </a:lnSpc>
            </a:pPr>
            <a:r>
              <a:rPr sz="1200" spc="-20" dirty="0">
                <a:solidFill>
                  <a:srgbClr val="374050"/>
                </a:solidFill>
                <a:latin typeface="Arial"/>
                <a:cs typeface="Arial"/>
              </a:rPr>
              <a:t>BLEU</a:t>
            </a:r>
            <a:r>
              <a:rPr sz="1200" spc="15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Score</a:t>
            </a:r>
            <a:r>
              <a:rPr sz="1200" spc="-5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계산</a:t>
            </a:r>
            <a:r>
              <a:rPr sz="125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후</a:t>
            </a:r>
            <a:r>
              <a:rPr sz="1200" dirty="0">
                <a:solidFill>
                  <a:srgbClr val="374050"/>
                </a:solidFill>
                <a:latin typeface="Arial"/>
                <a:cs typeface="Arial"/>
              </a:rPr>
              <a:t>,</a:t>
            </a:r>
            <a:r>
              <a:rPr sz="1200" spc="3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사람</a:t>
            </a:r>
            <a:r>
              <a:rPr sz="125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평가</a:t>
            </a:r>
            <a:r>
              <a:rPr sz="125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점수와</a:t>
            </a:r>
            <a:r>
              <a:rPr sz="1250" spc="-8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함께</a:t>
            </a:r>
            <a:r>
              <a:rPr sz="125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종합</a:t>
            </a:r>
            <a:r>
              <a:rPr sz="125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점수를</a:t>
            </a:r>
            <a:r>
              <a:rPr sz="1250" spc="-8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374050"/>
                </a:solidFill>
                <a:latin typeface="Malgun Gothic"/>
                <a:cs typeface="Malgun Gothic"/>
              </a:rPr>
              <a:t>평균</a:t>
            </a:r>
            <a:endParaRPr sz="125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50" dirty="0">
              <a:latin typeface="Malgun Gothic"/>
              <a:cs typeface="Malgun Gothic"/>
            </a:endParaRPr>
          </a:p>
          <a:p>
            <a:pPr marL="25400" marR="180340" indent="238125">
              <a:lnSpc>
                <a:spcPct val="125000"/>
              </a:lnSpc>
            </a:pPr>
            <a:r>
              <a:rPr lang="en-US" altLang="ko-KR" sz="1200" spc="10" dirty="0">
                <a:solidFill>
                  <a:srgbClr val="374050"/>
                </a:solidFill>
                <a:latin typeface="Arial"/>
                <a:cs typeface="Arial"/>
              </a:rPr>
              <a:t>Human</a:t>
            </a:r>
            <a:r>
              <a:rPr lang="ko-KR" altLang="en-US" sz="1200" spc="-4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lang="en-US" altLang="ko-KR" sz="1200" spc="10" dirty="0">
                <a:solidFill>
                  <a:srgbClr val="374050"/>
                </a:solidFill>
                <a:latin typeface="Arial"/>
                <a:cs typeface="Arial"/>
              </a:rPr>
              <a:t>Evaluation</a:t>
            </a:r>
            <a:r>
              <a:rPr lang="ko-KR" altLang="en-US" sz="1200" spc="-35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lang="ko-KR" altLang="en-US" sz="1250" spc="10" dirty="0">
                <a:solidFill>
                  <a:srgbClr val="374050"/>
                </a:solidFill>
                <a:latin typeface="Malgun Gothic"/>
                <a:cs typeface="Malgun Gothic"/>
              </a:rPr>
              <a:t>점수가</a:t>
            </a:r>
            <a:r>
              <a:rPr lang="ko-KR" altLang="en-US" sz="1250" spc="39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spc="50" dirty="0">
                <a:solidFill>
                  <a:srgbClr val="2462EB"/>
                </a:solidFill>
                <a:latin typeface="Comic Sans MS"/>
                <a:cs typeface="Comic Sans MS"/>
              </a:rPr>
              <a:t>4.0</a:t>
            </a:r>
            <a:r>
              <a:rPr lang="ko-KR" altLang="en-US" sz="1200" spc="-20" dirty="0">
                <a:solidFill>
                  <a:srgbClr val="2462EB"/>
                </a:solidFill>
                <a:latin typeface="Comic Sans MS"/>
                <a:cs typeface="Comic Sans MS"/>
              </a:rPr>
              <a:t> </a:t>
            </a:r>
            <a:r>
              <a:rPr lang="ko-KR" altLang="en-US" sz="1250" spc="10" dirty="0">
                <a:solidFill>
                  <a:srgbClr val="2462EB"/>
                </a:solidFill>
                <a:latin typeface="Malgun Gothic"/>
                <a:cs typeface="Malgun Gothic"/>
              </a:rPr>
              <a:t>이상</a:t>
            </a:r>
            <a:r>
              <a:rPr lang="ko-KR" altLang="en-US" sz="1250" spc="395" dirty="0">
                <a:solidFill>
                  <a:srgbClr val="2462EB"/>
                </a:solidFill>
                <a:latin typeface="Malgun Gothic"/>
                <a:cs typeface="Malgun Gothic"/>
              </a:rPr>
              <a:t> </a:t>
            </a:r>
            <a:r>
              <a:rPr lang="ko-KR" altLang="en-US" sz="1250" spc="10" dirty="0">
                <a:solidFill>
                  <a:srgbClr val="374050"/>
                </a:solidFill>
                <a:latin typeface="Malgun Gothic"/>
                <a:cs typeface="Malgun Gothic"/>
              </a:rPr>
              <a:t>일</a:t>
            </a:r>
            <a:r>
              <a:rPr lang="ko-KR" altLang="en-US" sz="1250" spc="-10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lang="ko-KR" altLang="en-US" sz="1250" spc="10" dirty="0">
                <a:solidFill>
                  <a:srgbClr val="374050"/>
                </a:solidFill>
                <a:latin typeface="Malgun Gothic"/>
                <a:cs typeface="Malgun Gothic"/>
              </a:rPr>
              <a:t>경우</a:t>
            </a:r>
            <a:r>
              <a:rPr lang="ko-KR" altLang="en-US" sz="1250" spc="-10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lang="en-US" altLang="ko-KR" sz="1200" spc="70" dirty="0">
                <a:solidFill>
                  <a:srgbClr val="374050"/>
                </a:solidFill>
                <a:latin typeface="Times New Roman"/>
                <a:cs typeface="Times New Roman"/>
              </a:rPr>
              <a:t>"</a:t>
            </a:r>
            <a:r>
              <a:rPr lang="ko-KR" altLang="en-US" sz="1150" spc="70" dirty="0">
                <a:solidFill>
                  <a:srgbClr val="374050"/>
                </a:solidFill>
                <a:latin typeface="Batang"/>
                <a:cs typeface="Batang"/>
              </a:rPr>
              <a:t>공</a:t>
            </a:r>
            <a:r>
              <a:rPr lang="ko-KR" altLang="en-US" sz="1200" spc="70" dirty="0">
                <a:solidFill>
                  <a:srgbClr val="374050"/>
                </a:solidFill>
                <a:latin typeface="Batang"/>
                <a:cs typeface="Batang"/>
              </a:rPr>
              <a:t>감형</a:t>
            </a:r>
            <a:r>
              <a:rPr lang="ko-KR" altLang="en-US" sz="1200" spc="-65" dirty="0">
                <a:solidFill>
                  <a:srgbClr val="374050"/>
                </a:solidFill>
                <a:latin typeface="Batang"/>
                <a:cs typeface="Batang"/>
              </a:rPr>
              <a:t> </a:t>
            </a:r>
            <a:r>
              <a:rPr lang="ko-KR" altLang="en-US" sz="1200" spc="70" dirty="0">
                <a:solidFill>
                  <a:srgbClr val="374050"/>
                </a:solidFill>
                <a:latin typeface="Batang"/>
                <a:cs typeface="Batang"/>
              </a:rPr>
              <a:t>대화</a:t>
            </a:r>
            <a:r>
              <a:rPr lang="ko-KR" altLang="en-US" sz="1200" spc="-65" dirty="0">
                <a:solidFill>
                  <a:srgbClr val="374050"/>
                </a:solidFill>
                <a:latin typeface="Batang"/>
                <a:cs typeface="Batang"/>
              </a:rPr>
              <a:t> </a:t>
            </a:r>
            <a:r>
              <a:rPr lang="ko-KR" altLang="en-US" sz="1200" spc="20" dirty="0">
                <a:solidFill>
                  <a:srgbClr val="374050"/>
                </a:solidFill>
                <a:latin typeface="Batang"/>
                <a:cs typeface="Batang"/>
              </a:rPr>
              <a:t>가 </a:t>
            </a:r>
            <a:r>
              <a:rPr lang="ko-KR" altLang="en-US" sz="1150" spc="70" dirty="0">
                <a:solidFill>
                  <a:srgbClr val="374050"/>
                </a:solidFill>
                <a:latin typeface="Batang"/>
                <a:cs typeface="Batang"/>
              </a:rPr>
              <a:t>능</a:t>
            </a:r>
            <a:r>
              <a:rPr lang="en-US" altLang="ko-KR" sz="1200" spc="70" dirty="0">
                <a:solidFill>
                  <a:srgbClr val="374050"/>
                </a:solidFill>
                <a:latin typeface="Times New Roman"/>
                <a:cs typeface="Times New Roman"/>
              </a:rPr>
              <a:t>"</a:t>
            </a:r>
            <a:r>
              <a:rPr lang="ko-KR" altLang="en-US" sz="1200" spc="45" dirty="0">
                <a:solidFill>
                  <a:srgbClr val="374050"/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250" dirty="0">
                <a:solidFill>
                  <a:srgbClr val="374050"/>
                </a:solidFill>
                <a:latin typeface="Malgun Gothic"/>
                <a:cs typeface="Malgun Gothic"/>
              </a:rPr>
              <a:t>수준으로</a:t>
            </a:r>
            <a:r>
              <a:rPr lang="ko-KR" altLang="en-US" sz="1250" spc="-9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lang="ko-KR" altLang="en-US" sz="1250" spc="-25" dirty="0">
                <a:solidFill>
                  <a:srgbClr val="374050"/>
                </a:solidFill>
                <a:latin typeface="Malgun Gothic"/>
                <a:cs typeface="Malgun Gothic"/>
              </a:rPr>
              <a:t>판단</a:t>
            </a:r>
            <a:endParaRPr lang="ko-KR" altLang="en-US" sz="1250" dirty="0">
              <a:latin typeface="Malgun Gothic"/>
              <a:cs typeface="Malgun Gothic"/>
            </a:endParaRPr>
          </a:p>
          <a:p>
            <a:pPr marL="25400" marR="180340" indent="238125">
              <a:lnSpc>
                <a:spcPct val="125000"/>
              </a:lnSpc>
            </a:pPr>
            <a:endParaRPr lang="en-US" sz="1200" spc="10" dirty="0">
              <a:solidFill>
                <a:srgbClr val="374050"/>
              </a:solidFill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10" dirty="0"/>
              <a:t>12</a:t>
            </a:fld>
            <a:r>
              <a:rPr spc="-10" dirty="0"/>
              <a:t>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324" y="528210"/>
            <a:ext cx="7585075" cy="59952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00" spc="24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사용자</a:t>
            </a:r>
            <a:r>
              <a:rPr sz="3800" spc="-204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67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테스트</a:t>
            </a:r>
            <a:r>
              <a:rPr sz="3800" spc="1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6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또는</a:t>
            </a:r>
            <a:r>
              <a:rPr sz="3800" spc="-15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35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설문</a:t>
            </a:r>
            <a:r>
              <a:rPr sz="3800" spc="-15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19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계획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025" y="1888797"/>
            <a:ext cx="314325" cy="2476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35075" y="1863725"/>
            <a:ext cx="4502150" cy="13030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sz="1800" spc="140" dirty="0">
                <a:latin typeface="Batang"/>
                <a:cs typeface="Batang"/>
              </a:rPr>
              <a:t>평가</a:t>
            </a:r>
            <a:r>
              <a:rPr sz="1800" spc="-145" dirty="0">
                <a:latin typeface="Batang"/>
                <a:cs typeface="Batang"/>
              </a:rPr>
              <a:t> </a:t>
            </a:r>
            <a:r>
              <a:rPr sz="1800" spc="114" dirty="0">
                <a:latin typeface="Batang"/>
                <a:cs typeface="Batang"/>
              </a:rPr>
              <a:t>대상</a:t>
            </a:r>
            <a:endParaRPr sz="18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00" dirty="0">
              <a:latin typeface="Batang"/>
              <a:cs typeface="Batang"/>
            </a:endParaRPr>
          </a:p>
          <a:p>
            <a:pPr marL="175895" indent="-163195">
              <a:lnSpc>
                <a:spcPct val="1000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lang="ko-KR" altLang="en-US" sz="1350" dirty="0">
                <a:solidFill>
                  <a:srgbClr val="494949"/>
                </a:solidFill>
                <a:latin typeface="Malgun Gothic"/>
                <a:cs typeface="Arial"/>
              </a:rPr>
              <a:t>무작위 </a:t>
            </a:r>
            <a:r>
              <a:rPr sz="1400" dirty="0">
                <a:solidFill>
                  <a:srgbClr val="494949"/>
                </a:solidFill>
                <a:latin typeface="Arial"/>
                <a:cs typeface="Arial"/>
              </a:rPr>
              <a:t>30~50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명</a:t>
            </a:r>
            <a:r>
              <a:rPr sz="1350" spc="-14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400" spc="-20" dirty="0">
                <a:solidFill>
                  <a:srgbClr val="494949"/>
                </a:solidFill>
                <a:latin typeface="Arial"/>
                <a:cs typeface="Arial"/>
              </a:rPr>
              <a:t>(</a:t>
            </a:r>
            <a:r>
              <a:rPr sz="1350" spc="-20" dirty="0">
                <a:solidFill>
                  <a:srgbClr val="494949"/>
                </a:solidFill>
                <a:latin typeface="Malgun Gothic"/>
                <a:cs typeface="Malgun Gothic"/>
              </a:rPr>
              <a:t>스트레스</a:t>
            </a:r>
            <a:r>
              <a:rPr sz="1400" spc="-20" dirty="0">
                <a:solidFill>
                  <a:srgbClr val="494949"/>
                </a:solidFill>
                <a:latin typeface="Arial"/>
                <a:cs typeface="Arial"/>
              </a:rPr>
              <a:t>·</a:t>
            </a:r>
            <a:r>
              <a:rPr sz="1350" spc="-20" dirty="0">
                <a:solidFill>
                  <a:srgbClr val="494949"/>
                </a:solidFill>
                <a:latin typeface="Malgun Gothic"/>
                <a:cs typeface="Malgun Gothic"/>
              </a:rPr>
              <a:t>우울감</a:t>
            </a:r>
            <a:r>
              <a:rPr sz="1350" spc="-14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경험자</a:t>
            </a:r>
            <a:r>
              <a:rPr sz="1350" spc="-14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중심</a:t>
            </a:r>
            <a:r>
              <a:rPr sz="1400" spc="-25" dirty="0">
                <a:solidFill>
                  <a:srgbClr val="494949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  <a:p>
            <a:pPr marL="175895" indent="-163195">
              <a:lnSpc>
                <a:spcPct val="100000"/>
              </a:lnSpc>
              <a:spcBef>
                <a:spcPts val="79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spc="-10" dirty="0">
                <a:solidFill>
                  <a:srgbClr val="494949"/>
                </a:solidFill>
                <a:latin typeface="Malgun Gothic"/>
                <a:cs typeface="Malgun Gothic"/>
              </a:rPr>
              <a:t>실험군</a:t>
            </a:r>
            <a:r>
              <a:rPr sz="1400" spc="-10" dirty="0">
                <a:solidFill>
                  <a:srgbClr val="494949"/>
                </a:solidFill>
                <a:latin typeface="Arial"/>
                <a:cs typeface="Arial"/>
              </a:rPr>
              <a:t>:</a:t>
            </a:r>
            <a:r>
              <a:rPr sz="1400" spc="-6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494949"/>
                </a:solidFill>
                <a:latin typeface="Arial"/>
                <a:cs typeface="Arial"/>
              </a:rPr>
              <a:t>AI</a:t>
            </a:r>
            <a:r>
              <a:rPr sz="1400" spc="-8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심리치료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챗봇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이용</a:t>
            </a:r>
            <a:endParaRPr sz="1350" dirty="0">
              <a:latin typeface="Malgun Gothic"/>
              <a:cs typeface="Malgun Gothic"/>
            </a:endParaRPr>
          </a:p>
          <a:p>
            <a:pPr marL="175895" indent="-163195">
              <a:lnSpc>
                <a:spcPct val="100000"/>
              </a:lnSpc>
              <a:spcBef>
                <a:spcPts val="79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spc="-10" dirty="0">
                <a:solidFill>
                  <a:srgbClr val="494949"/>
                </a:solidFill>
                <a:latin typeface="Malgun Gothic"/>
                <a:cs typeface="Malgun Gothic"/>
              </a:rPr>
              <a:t>비교군</a:t>
            </a:r>
            <a:r>
              <a:rPr sz="1400" spc="-10" dirty="0">
                <a:solidFill>
                  <a:srgbClr val="494949"/>
                </a:solidFill>
                <a:latin typeface="Arial"/>
                <a:cs typeface="Arial"/>
              </a:rPr>
              <a:t>:</a:t>
            </a:r>
            <a:r>
              <a:rPr sz="1400" spc="-7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기존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심리상담센터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또는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일반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자가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대처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방법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이용</a:t>
            </a:r>
            <a:endParaRPr sz="1350" dirty="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025" y="3412797"/>
            <a:ext cx="247650" cy="2476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35075" y="3385548"/>
            <a:ext cx="4664075" cy="15621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40"/>
              </a:spcBef>
            </a:pPr>
            <a:r>
              <a:rPr spc="345" dirty="0">
                <a:latin typeface="Batang"/>
                <a:cs typeface="Batang"/>
              </a:rPr>
              <a:t>조사</a:t>
            </a:r>
            <a:r>
              <a:rPr spc="-150" dirty="0">
                <a:latin typeface="Batang"/>
                <a:cs typeface="Batang"/>
              </a:rPr>
              <a:t> </a:t>
            </a:r>
            <a:r>
              <a:rPr spc="114" dirty="0">
                <a:latin typeface="Batang"/>
                <a:cs typeface="Batang"/>
              </a:rPr>
              <a:t>방식</a:t>
            </a:r>
            <a:endParaRPr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00" dirty="0">
              <a:latin typeface="Batang"/>
              <a:cs typeface="Batang"/>
            </a:endParaRPr>
          </a:p>
          <a:p>
            <a:pPr marL="175895" indent="-163195">
              <a:lnSpc>
                <a:spcPct val="1000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사전</a:t>
            </a:r>
            <a:r>
              <a:rPr sz="1400" dirty="0">
                <a:solidFill>
                  <a:srgbClr val="494949"/>
                </a:solidFill>
                <a:latin typeface="Arial"/>
                <a:cs typeface="Arial"/>
              </a:rPr>
              <a:t>/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사후</a:t>
            </a:r>
            <a:r>
              <a:rPr sz="1350" spc="-13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설문조사</a:t>
            </a:r>
            <a:r>
              <a:rPr sz="1350" spc="-12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494949"/>
                </a:solidFill>
                <a:latin typeface="Arial"/>
                <a:cs typeface="Arial"/>
              </a:rPr>
              <a:t>(4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주</a:t>
            </a:r>
            <a:r>
              <a:rPr sz="1350" spc="-13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간격</a:t>
            </a:r>
            <a:r>
              <a:rPr sz="1400" spc="-25" dirty="0">
                <a:solidFill>
                  <a:srgbClr val="494949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  <a:p>
            <a:pPr marL="175895" indent="-163195">
              <a:lnSpc>
                <a:spcPct val="100000"/>
              </a:lnSpc>
              <a:spcBef>
                <a:spcPts val="79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심층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인터뷰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494949"/>
                </a:solidFill>
                <a:latin typeface="Arial"/>
                <a:cs typeface="Arial"/>
              </a:rPr>
              <a:t>(</a:t>
            </a:r>
            <a:r>
              <a:rPr sz="1350" spc="-10" dirty="0">
                <a:solidFill>
                  <a:srgbClr val="494949"/>
                </a:solidFill>
                <a:latin typeface="Malgun Gothic"/>
                <a:cs typeface="Malgun Gothic"/>
              </a:rPr>
              <a:t>일부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참여자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400" spc="-55" dirty="0">
                <a:solidFill>
                  <a:srgbClr val="494949"/>
                </a:solidFill>
                <a:latin typeface="Arial"/>
                <a:cs typeface="Arial"/>
              </a:rPr>
              <a:t>10</a:t>
            </a:r>
            <a:r>
              <a:rPr sz="1350" spc="-55" dirty="0">
                <a:solidFill>
                  <a:srgbClr val="494949"/>
                </a:solidFill>
                <a:latin typeface="Malgun Gothic"/>
                <a:cs typeface="Malgun Gothic"/>
              </a:rPr>
              <a:t>명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대상</a:t>
            </a:r>
            <a:r>
              <a:rPr sz="1400" spc="-25" dirty="0">
                <a:solidFill>
                  <a:srgbClr val="494949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  <a:p>
            <a:pPr marL="175895" marR="5080" indent="-163195">
              <a:lnSpc>
                <a:spcPct val="120500"/>
              </a:lnSpc>
              <a:spcBef>
                <a:spcPts val="45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9367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자동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로그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데이터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분석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494949"/>
                </a:solidFill>
                <a:latin typeface="Arial"/>
                <a:cs typeface="Arial"/>
              </a:rPr>
              <a:t>(</a:t>
            </a:r>
            <a:r>
              <a:rPr sz="1350" spc="-10" dirty="0">
                <a:solidFill>
                  <a:srgbClr val="494949"/>
                </a:solidFill>
                <a:latin typeface="Malgun Gothic"/>
                <a:cs typeface="Malgun Gothic"/>
              </a:rPr>
              <a:t>대화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35" dirty="0">
                <a:solidFill>
                  <a:srgbClr val="494949"/>
                </a:solidFill>
                <a:latin typeface="Malgun Gothic"/>
                <a:cs typeface="Malgun Gothic"/>
              </a:rPr>
              <a:t>길이</a:t>
            </a:r>
            <a:r>
              <a:rPr sz="1400" spc="-35" dirty="0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sz="1400" spc="-9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응답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35" dirty="0">
                <a:solidFill>
                  <a:srgbClr val="494949"/>
                </a:solidFill>
                <a:latin typeface="Malgun Gothic"/>
                <a:cs typeface="Malgun Gothic"/>
              </a:rPr>
              <a:t>시간</a:t>
            </a:r>
            <a:r>
              <a:rPr sz="1400" spc="-35" dirty="0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sz="1400" spc="-9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감정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단어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비율 	등</a:t>
            </a:r>
            <a:r>
              <a:rPr sz="1400" spc="-25" dirty="0">
                <a:solidFill>
                  <a:srgbClr val="494949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1888797"/>
            <a:ext cx="190500" cy="2476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21450" y="1863725"/>
            <a:ext cx="1174750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45" dirty="0">
                <a:latin typeface="Batang"/>
                <a:cs typeface="Batang"/>
              </a:rPr>
              <a:t>조사</a:t>
            </a:r>
            <a:r>
              <a:rPr spc="-150" dirty="0">
                <a:latin typeface="Batang"/>
                <a:cs typeface="Batang"/>
              </a:rPr>
              <a:t> </a:t>
            </a:r>
            <a:r>
              <a:rPr spc="140" dirty="0">
                <a:latin typeface="Batang"/>
                <a:cs typeface="Batang"/>
              </a:rPr>
              <a:t>항목</a:t>
            </a:r>
            <a:endParaRPr dirty="0">
              <a:latin typeface="Batang"/>
              <a:cs typeface="Batang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500" y="2345997"/>
            <a:ext cx="190500" cy="1714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578600" y="2211735"/>
            <a:ext cx="4187825" cy="6096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250" spc="-10" dirty="0">
                <a:solidFill>
                  <a:srgbClr val="494949"/>
                </a:solidFill>
                <a:latin typeface="Batang"/>
                <a:cs typeface="Batang"/>
              </a:rPr>
              <a:t>사용성</a:t>
            </a:r>
            <a:r>
              <a:rPr sz="1400" spc="-10" dirty="0">
                <a:solidFill>
                  <a:srgbClr val="494949"/>
                </a:solidFill>
                <a:latin typeface="Arial"/>
                <a:cs typeface="Arial"/>
              </a:rPr>
              <a:t>(UX)</a:t>
            </a:r>
            <a:endParaRPr sz="1400">
              <a:latin typeface="Arial"/>
              <a:cs typeface="Arial"/>
            </a:endParaRPr>
          </a:p>
          <a:p>
            <a:pPr marL="457200" indent="-158750">
              <a:lnSpc>
                <a:spcPct val="100000"/>
              </a:lnSpc>
              <a:spcBef>
                <a:spcPts val="67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인터페이스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직관성</a:t>
            </a:r>
            <a:r>
              <a:rPr sz="1300" dirty="0">
                <a:solidFill>
                  <a:srgbClr val="494949"/>
                </a:solidFill>
                <a:latin typeface="Georgia"/>
                <a:cs typeface="Georgia"/>
              </a:rPr>
              <a:t>,</a:t>
            </a:r>
            <a:r>
              <a:rPr sz="1300" spc="55" dirty="0">
                <a:solidFill>
                  <a:srgbClr val="494949"/>
                </a:solidFill>
                <a:latin typeface="Georgia"/>
                <a:cs typeface="Georgia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대화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자연스러움</a:t>
            </a:r>
            <a:r>
              <a:rPr sz="1300" dirty="0">
                <a:solidFill>
                  <a:srgbClr val="494949"/>
                </a:solidFill>
                <a:latin typeface="Georgia"/>
                <a:cs typeface="Georgia"/>
              </a:rPr>
              <a:t>,</a:t>
            </a:r>
            <a:r>
              <a:rPr sz="1300" spc="55" dirty="0">
                <a:solidFill>
                  <a:srgbClr val="494949"/>
                </a:solidFill>
                <a:latin typeface="Georgia"/>
                <a:cs typeface="Georgia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감정</a:t>
            </a:r>
            <a:r>
              <a:rPr sz="1250" spc="-8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공감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정도</a:t>
            </a:r>
            <a:endParaRPr sz="1250">
              <a:latin typeface="Malgun Gothic"/>
              <a:cs typeface="Malgun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6500" y="3041322"/>
            <a:ext cx="171450" cy="1714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559550" y="2930656"/>
            <a:ext cx="2959100" cy="881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심리적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65" dirty="0">
                <a:solidFill>
                  <a:srgbClr val="494949"/>
                </a:solidFill>
                <a:latin typeface="Batang"/>
                <a:cs typeface="Batang"/>
              </a:rPr>
              <a:t>변화</a:t>
            </a:r>
            <a:endParaRPr sz="12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 dirty="0">
              <a:latin typeface="Batang"/>
              <a:cs typeface="Batang"/>
            </a:endParaRPr>
          </a:p>
          <a:p>
            <a:pPr marL="457200" indent="-158750">
              <a:lnSpc>
                <a:spcPct val="100000"/>
              </a:lnSpc>
              <a:spcBef>
                <a:spcPts val="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우울</a:t>
            </a:r>
            <a:r>
              <a:rPr sz="1300" dirty="0">
                <a:solidFill>
                  <a:srgbClr val="494949"/>
                </a:solidFill>
                <a:latin typeface="Georgia"/>
                <a:cs typeface="Georgia"/>
              </a:rPr>
              <a:t>/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불안</a:t>
            </a:r>
            <a:r>
              <a:rPr sz="1250" spc="-14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0" dirty="0">
                <a:solidFill>
                  <a:srgbClr val="494949"/>
                </a:solidFill>
                <a:latin typeface="Malgun Gothic"/>
                <a:cs typeface="Malgun Gothic"/>
              </a:rPr>
              <a:t>척도</a:t>
            </a:r>
            <a:r>
              <a:rPr sz="1300" spc="-20" dirty="0">
                <a:solidFill>
                  <a:srgbClr val="494949"/>
                </a:solidFill>
                <a:latin typeface="Georgia"/>
                <a:cs typeface="Georgia"/>
              </a:rPr>
              <a:t>(PHQ-</a:t>
            </a:r>
            <a:r>
              <a:rPr sz="1300" dirty="0">
                <a:solidFill>
                  <a:srgbClr val="494949"/>
                </a:solidFill>
                <a:latin typeface="Georgia"/>
                <a:cs typeface="Georgia"/>
              </a:rPr>
              <a:t>9,</a:t>
            </a:r>
            <a:r>
              <a:rPr sz="1300" spc="5" dirty="0">
                <a:solidFill>
                  <a:srgbClr val="494949"/>
                </a:solidFill>
                <a:latin typeface="Georgia"/>
                <a:cs typeface="Georgia"/>
              </a:rPr>
              <a:t> </a:t>
            </a:r>
            <a:r>
              <a:rPr sz="1300" dirty="0">
                <a:solidFill>
                  <a:srgbClr val="494949"/>
                </a:solidFill>
                <a:latin typeface="Georgia"/>
                <a:cs typeface="Georgia"/>
              </a:rPr>
              <a:t>GAD-7</a:t>
            </a:r>
            <a:r>
              <a:rPr sz="1300" spc="-10" dirty="0">
                <a:solidFill>
                  <a:srgbClr val="494949"/>
                </a:solidFill>
                <a:latin typeface="Georgia"/>
                <a:cs typeface="Georgia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등</a:t>
            </a:r>
            <a:r>
              <a:rPr sz="1300" spc="-25" dirty="0">
                <a:solidFill>
                  <a:srgbClr val="494949"/>
                </a:solidFill>
                <a:latin typeface="Georgia"/>
                <a:cs typeface="Georgia"/>
              </a:rPr>
              <a:t>)</a:t>
            </a:r>
            <a:endParaRPr sz="1300" dirty="0">
              <a:latin typeface="Georgia"/>
              <a:cs typeface="Georgia"/>
            </a:endParaRPr>
          </a:p>
          <a:p>
            <a:pPr marL="457200" indent="-158750">
              <a:lnSpc>
                <a:spcPct val="100000"/>
              </a:lnSpc>
              <a:spcBef>
                <a:spcPts val="76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자기효능감</a:t>
            </a:r>
            <a:r>
              <a:rPr sz="1300" dirty="0">
                <a:solidFill>
                  <a:srgbClr val="494949"/>
                </a:solidFill>
                <a:latin typeface="Georgia"/>
                <a:cs typeface="Georgia"/>
              </a:rPr>
              <a:t>(Self-</a:t>
            </a:r>
            <a:r>
              <a:rPr sz="1300" spc="-10" dirty="0">
                <a:solidFill>
                  <a:srgbClr val="494949"/>
                </a:solidFill>
                <a:latin typeface="Georgia"/>
                <a:cs typeface="Georgia"/>
              </a:rPr>
              <a:t>efficacy)</a:t>
            </a:r>
            <a:endParaRPr sz="1300" dirty="0">
              <a:latin typeface="Georgia"/>
              <a:cs typeface="Georg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86500" y="4031922"/>
            <a:ext cx="171450" cy="17145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559550" y="3921256"/>
            <a:ext cx="2549525" cy="881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spc="155" dirty="0">
                <a:solidFill>
                  <a:srgbClr val="494949"/>
                </a:solidFill>
                <a:latin typeface="Batang"/>
                <a:cs typeface="Batang"/>
              </a:rPr>
              <a:t>만족도</a:t>
            </a:r>
            <a:endParaRPr sz="12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 dirty="0">
              <a:latin typeface="Batang"/>
              <a:cs typeface="Batang"/>
            </a:endParaRPr>
          </a:p>
          <a:p>
            <a:pPr marL="457200" indent="-158750">
              <a:lnSpc>
                <a:spcPct val="100000"/>
              </a:lnSpc>
              <a:spcBef>
                <a:spcPts val="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전반적인</a:t>
            </a:r>
            <a:r>
              <a:rPr sz="1250" spc="-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Malgun Gothic"/>
                <a:cs typeface="Malgun Gothic"/>
              </a:rPr>
              <a:t>만족도</a:t>
            </a:r>
            <a:r>
              <a:rPr sz="1300" spc="-10" dirty="0">
                <a:solidFill>
                  <a:srgbClr val="494949"/>
                </a:solidFill>
                <a:latin typeface="Georgia"/>
                <a:cs typeface="Georgia"/>
              </a:rPr>
              <a:t>(1~5</a:t>
            </a:r>
            <a:r>
              <a:rPr sz="1250" spc="-10" dirty="0">
                <a:solidFill>
                  <a:srgbClr val="494949"/>
                </a:solidFill>
                <a:latin typeface="Malgun Gothic"/>
                <a:cs typeface="Malgun Gothic"/>
              </a:rPr>
              <a:t>점</a:t>
            </a:r>
            <a:r>
              <a:rPr sz="1250" spc="-6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척도</a:t>
            </a:r>
            <a:r>
              <a:rPr sz="1300" spc="-25" dirty="0">
                <a:solidFill>
                  <a:srgbClr val="494949"/>
                </a:solidFill>
                <a:latin typeface="Georgia"/>
                <a:cs typeface="Georgia"/>
              </a:rPr>
              <a:t>)</a:t>
            </a:r>
            <a:endParaRPr sz="1300" dirty="0">
              <a:latin typeface="Georgia"/>
              <a:cs typeface="Georgia"/>
            </a:endParaRPr>
          </a:p>
          <a:p>
            <a:pPr marL="457200" indent="-158750">
              <a:lnSpc>
                <a:spcPct val="100000"/>
              </a:lnSpc>
              <a:spcBef>
                <a:spcPts val="76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300" spc="-45" dirty="0">
                <a:solidFill>
                  <a:srgbClr val="494949"/>
                </a:solidFill>
                <a:latin typeface="Georgia"/>
                <a:cs typeface="Georgia"/>
              </a:rPr>
              <a:t>"</a:t>
            </a:r>
            <a:r>
              <a:rPr sz="1250" spc="-45" dirty="0">
                <a:solidFill>
                  <a:srgbClr val="494949"/>
                </a:solidFill>
                <a:latin typeface="Malgun Gothic"/>
                <a:cs typeface="Malgun Gothic"/>
              </a:rPr>
              <a:t>다시</a:t>
            </a:r>
            <a:r>
              <a:rPr sz="1250" spc="-9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사용하고</a:t>
            </a:r>
            <a:r>
              <a:rPr sz="1250" spc="-9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35" dirty="0">
                <a:solidFill>
                  <a:srgbClr val="494949"/>
                </a:solidFill>
                <a:latin typeface="Malgun Gothic"/>
                <a:cs typeface="Malgun Gothic"/>
              </a:rPr>
              <a:t>싶다</a:t>
            </a:r>
            <a:r>
              <a:rPr sz="1300" spc="-35" dirty="0">
                <a:solidFill>
                  <a:srgbClr val="494949"/>
                </a:solidFill>
                <a:latin typeface="Georgia"/>
                <a:cs typeface="Georgia"/>
              </a:rPr>
              <a:t>"</a:t>
            </a:r>
            <a:r>
              <a:rPr sz="1300" spc="-5" dirty="0">
                <a:solidFill>
                  <a:srgbClr val="494949"/>
                </a:solidFill>
                <a:latin typeface="Georgia"/>
                <a:cs typeface="Georgia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여부</a:t>
            </a:r>
            <a:endParaRPr sz="1250" dirty="0">
              <a:latin typeface="Malgun Gothic"/>
              <a:cs typeface="Malgun Gothic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86500" y="5022522"/>
            <a:ext cx="171450" cy="17145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559550" y="4911856"/>
            <a:ext cx="3302000" cy="586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개방형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70" dirty="0">
                <a:solidFill>
                  <a:srgbClr val="494949"/>
                </a:solidFill>
                <a:latin typeface="Batang"/>
                <a:cs typeface="Batang"/>
              </a:rPr>
              <a:t>피드백</a:t>
            </a:r>
            <a:endParaRPr sz="12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 dirty="0">
              <a:latin typeface="Batang"/>
              <a:cs typeface="Batang"/>
            </a:endParaRPr>
          </a:p>
          <a:p>
            <a:pPr marL="457200" indent="-158750">
              <a:lnSpc>
                <a:spcPct val="100000"/>
              </a:lnSpc>
              <a:spcBef>
                <a:spcPts val="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불편했던</a:t>
            </a:r>
            <a:r>
              <a:rPr sz="1250" spc="-8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점</a:t>
            </a:r>
            <a:r>
              <a:rPr sz="1300" dirty="0">
                <a:solidFill>
                  <a:srgbClr val="494949"/>
                </a:solidFill>
                <a:latin typeface="Georgia"/>
                <a:cs typeface="Georgia"/>
              </a:rPr>
              <a:t>,</a:t>
            </a:r>
            <a:r>
              <a:rPr sz="1300" spc="60" dirty="0">
                <a:solidFill>
                  <a:srgbClr val="494949"/>
                </a:solidFill>
                <a:latin typeface="Georgia"/>
                <a:cs typeface="Georgia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추가되었으면</a:t>
            </a:r>
            <a:r>
              <a:rPr sz="1250" spc="-8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하는</a:t>
            </a:r>
            <a:r>
              <a:rPr sz="1250" spc="-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기능</a:t>
            </a:r>
            <a:r>
              <a:rPr sz="1250" spc="-8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50" dirty="0">
                <a:solidFill>
                  <a:srgbClr val="494949"/>
                </a:solidFill>
                <a:latin typeface="Malgun Gothic"/>
                <a:cs typeface="Malgun Gothic"/>
              </a:rPr>
              <a:t>등</a:t>
            </a:r>
            <a:endParaRPr sz="1250" dirty="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10" dirty="0"/>
              <a:t>13</a:t>
            </a:fld>
            <a:r>
              <a:rPr spc="-10" dirty="0"/>
              <a:t>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325" y="525829"/>
            <a:ext cx="6442075" cy="60208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800" spc="24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결과</a:t>
            </a:r>
            <a:r>
              <a:rPr sz="3800" spc="-21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7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분석</a:t>
            </a:r>
            <a:r>
              <a:rPr sz="3800" spc="-2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18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및</a:t>
            </a:r>
            <a:r>
              <a:rPr sz="3800" spc="-2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1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개선</a:t>
            </a:r>
            <a:r>
              <a:rPr sz="3800" spc="-2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4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방안</a:t>
            </a:r>
            <a:r>
              <a:rPr sz="3800" spc="-19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제시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025" y="1770683"/>
            <a:ext cx="247650" cy="2476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35075" y="1743676"/>
            <a:ext cx="4540250" cy="13049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5"/>
              </a:spcBef>
            </a:pPr>
            <a:r>
              <a:rPr sz="1800" spc="140" dirty="0">
                <a:latin typeface="Batang"/>
                <a:cs typeface="Batang"/>
              </a:rPr>
              <a:t>결과</a:t>
            </a:r>
            <a:r>
              <a:rPr sz="1800" spc="-145" dirty="0">
                <a:latin typeface="Batang"/>
                <a:cs typeface="Batang"/>
              </a:rPr>
              <a:t> </a:t>
            </a:r>
            <a:r>
              <a:rPr sz="1700" spc="165" dirty="0">
                <a:latin typeface="Batang"/>
                <a:cs typeface="Batang"/>
              </a:rPr>
              <a:t>분</a:t>
            </a:r>
            <a:r>
              <a:rPr sz="1800" spc="165" dirty="0">
                <a:latin typeface="Batang"/>
                <a:cs typeface="Batang"/>
              </a:rPr>
              <a:t>석</a:t>
            </a:r>
            <a:endParaRPr sz="18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2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00">
              <a:latin typeface="Batang"/>
              <a:cs typeface="Batang"/>
            </a:endParaRPr>
          </a:p>
          <a:p>
            <a:pPr marL="175895" indent="-163195">
              <a:lnSpc>
                <a:spcPct val="1000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우울</a:t>
            </a:r>
            <a:r>
              <a:rPr sz="1400" dirty="0">
                <a:solidFill>
                  <a:srgbClr val="494949"/>
                </a:solidFill>
                <a:latin typeface="Calibri"/>
                <a:cs typeface="Calibri"/>
              </a:rPr>
              <a:t>·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불안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지표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변화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평균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비교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494949"/>
                </a:solidFill>
                <a:latin typeface="Calibri"/>
                <a:cs typeface="Calibri"/>
              </a:rPr>
              <a:t>(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사전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대비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사후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0" dirty="0">
                <a:solidFill>
                  <a:srgbClr val="494949"/>
                </a:solidFill>
                <a:latin typeface="Malgun Gothic"/>
                <a:cs typeface="Malgun Gothic"/>
              </a:rPr>
              <a:t>개선율</a:t>
            </a:r>
            <a:r>
              <a:rPr sz="1400" spc="-20" dirty="0">
                <a:solidFill>
                  <a:srgbClr val="494949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 marL="175895" indent="-163195">
              <a:lnSpc>
                <a:spcPct val="100000"/>
              </a:lnSpc>
              <a:spcBef>
                <a:spcPts val="79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사용성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평가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평균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점수</a:t>
            </a:r>
            <a:r>
              <a:rPr sz="1400" dirty="0">
                <a:solidFill>
                  <a:srgbClr val="494949"/>
                </a:solidFill>
                <a:latin typeface="Calibri"/>
                <a:cs typeface="Calibri"/>
              </a:rPr>
              <a:t>,</a:t>
            </a:r>
            <a:r>
              <a:rPr sz="1400" spc="-7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피드백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내용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분류</a:t>
            </a:r>
            <a:endParaRPr sz="1350">
              <a:latin typeface="Malgun Gothic"/>
              <a:cs typeface="Malgun Gothic"/>
            </a:endParaRPr>
          </a:p>
          <a:p>
            <a:pPr marL="175895" indent="-163195">
              <a:lnSpc>
                <a:spcPct val="100000"/>
              </a:lnSpc>
              <a:spcBef>
                <a:spcPts val="79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로그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데이터에서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400" spc="50" dirty="0">
                <a:solidFill>
                  <a:srgbClr val="494949"/>
                </a:solidFill>
                <a:latin typeface="Calibri"/>
                <a:cs typeface="Calibri"/>
              </a:rPr>
              <a:t>AI</a:t>
            </a:r>
            <a:r>
              <a:rPr sz="1400" spc="-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응답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Malgun Gothic"/>
                <a:cs typeface="Malgun Gothic"/>
              </a:rPr>
              <a:t>시간</a:t>
            </a:r>
            <a:r>
              <a:rPr sz="1400" spc="-10" dirty="0">
                <a:solidFill>
                  <a:srgbClr val="494949"/>
                </a:solidFill>
                <a:latin typeface="Calibri"/>
                <a:cs typeface="Calibri"/>
              </a:rPr>
              <a:t>/</a:t>
            </a:r>
            <a:r>
              <a:rPr sz="1350" spc="-10" dirty="0">
                <a:solidFill>
                  <a:srgbClr val="494949"/>
                </a:solidFill>
                <a:latin typeface="Malgun Gothic"/>
                <a:cs typeface="Malgun Gothic"/>
              </a:rPr>
              <a:t>정확도</a:t>
            </a:r>
            <a:r>
              <a:rPr sz="1400" spc="-10" dirty="0">
                <a:solidFill>
                  <a:srgbClr val="494949"/>
                </a:solidFill>
                <a:latin typeface="Calibri"/>
                <a:cs typeface="Calibri"/>
              </a:rPr>
              <a:t>/</a:t>
            </a:r>
            <a:r>
              <a:rPr sz="1350" spc="-10" dirty="0">
                <a:solidFill>
                  <a:srgbClr val="494949"/>
                </a:solidFill>
                <a:latin typeface="Malgun Gothic"/>
                <a:cs typeface="Malgun Gothic"/>
              </a:rPr>
              <a:t>공감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문장</a:t>
            </a:r>
            <a:r>
              <a:rPr sz="1350" spc="-1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비율</a:t>
            </a:r>
            <a:r>
              <a:rPr sz="1350" spc="-1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분석</a:t>
            </a:r>
            <a:endParaRPr sz="135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500" y="1770683"/>
            <a:ext cx="190500" cy="2476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21450" y="1743676"/>
            <a:ext cx="1073150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140" dirty="0">
                <a:latin typeface="Batang"/>
                <a:cs typeface="Batang"/>
              </a:rPr>
              <a:t>개선</a:t>
            </a:r>
            <a:r>
              <a:rPr sz="1800" spc="-145" dirty="0">
                <a:latin typeface="Batang"/>
                <a:cs typeface="Batang"/>
              </a:rPr>
              <a:t> </a:t>
            </a:r>
            <a:r>
              <a:rPr sz="1800" spc="140" dirty="0">
                <a:latin typeface="Batang"/>
                <a:cs typeface="Batang"/>
              </a:rPr>
              <a:t>방</a:t>
            </a:r>
            <a:r>
              <a:rPr sz="1750" spc="140" dirty="0">
                <a:latin typeface="Batang"/>
                <a:cs typeface="Batang"/>
              </a:rPr>
              <a:t>안</a:t>
            </a:r>
            <a:endParaRPr sz="1750">
              <a:latin typeface="Batang"/>
              <a:cs typeface="Batang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2227883"/>
            <a:ext cx="219075" cy="1714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607175" y="2118961"/>
            <a:ext cx="3740150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spc="100" dirty="0">
                <a:solidFill>
                  <a:srgbClr val="494949"/>
                </a:solidFill>
                <a:latin typeface="Batang"/>
                <a:cs typeface="Batang"/>
              </a:rPr>
              <a:t>대화</a:t>
            </a:r>
            <a:r>
              <a:rPr sz="1250" spc="-12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20" dirty="0">
                <a:solidFill>
                  <a:srgbClr val="494949"/>
                </a:solidFill>
                <a:latin typeface="Batang"/>
                <a:cs typeface="Batang"/>
              </a:rPr>
              <a:t>품</a:t>
            </a:r>
            <a:r>
              <a:rPr sz="1200" spc="120" dirty="0">
                <a:solidFill>
                  <a:srgbClr val="494949"/>
                </a:solidFill>
                <a:latin typeface="Batang"/>
                <a:cs typeface="Batang"/>
              </a:rPr>
              <a:t>질</a:t>
            </a:r>
            <a:r>
              <a:rPr sz="1200" spc="-10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75" dirty="0">
                <a:solidFill>
                  <a:srgbClr val="494949"/>
                </a:solidFill>
                <a:latin typeface="Batang"/>
                <a:cs typeface="Batang"/>
              </a:rPr>
              <a:t>향상</a:t>
            </a:r>
            <a:endParaRPr sz="12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">
              <a:latin typeface="Batang"/>
              <a:cs typeface="Batang"/>
            </a:endParaRPr>
          </a:p>
          <a:p>
            <a:pPr marL="457200" indent="-158750">
              <a:lnSpc>
                <a:spcPct val="1000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감정</a:t>
            </a:r>
            <a:r>
              <a:rPr sz="1250" spc="-6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어조</a:t>
            </a:r>
            <a:r>
              <a:rPr sz="1300" dirty="0">
                <a:solidFill>
                  <a:srgbClr val="494949"/>
                </a:solidFill>
                <a:latin typeface="Calibri"/>
                <a:cs typeface="Calibri"/>
              </a:rPr>
              <a:t>(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공감</a:t>
            </a:r>
            <a:r>
              <a:rPr sz="1250" spc="-5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문장</a:t>
            </a:r>
            <a:r>
              <a:rPr sz="1300" dirty="0">
                <a:solidFill>
                  <a:srgbClr val="494949"/>
                </a:solidFill>
                <a:latin typeface="Calibri"/>
                <a:cs typeface="Calibri"/>
              </a:rPr>
              <a:t>)</a:t>
            </a:r>
            <a:r>
              <a:rPr sz="1300" spc="9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자동</a:t>
            </a:r>
            <a:r>
              <a:rPr sz="1250" spc="-5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강화</a:t>
            </a:r>
            <a:r>
              <a:rPr sz="1250" spc="-5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알고리즘</a:t>
            </a:r>
            <a:r>
              <a:rPr sz="1250" spc="-5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적용</a:t>
            </a:r>
            <a:endParaRPr sz="1250">
              <a:latin typeface="Malgun Gothic"/>
              <a:cs typeface="Malgun Gothic"/>
            </a:endParaRPr>
          </a:p>
          <a:p>
            <a:pPr marL="457200" indent="-158750">
              <a:lnSpc>
                <a:spcPct val="100000"/>
              </a:lnSpc>
              <a:spcBef>
                <a:spcPts val="84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오답</a:t>
            </a:r>
            <a:r>
              <a:rPr sz="1300" dirty="0">
                <a:solidFill>
                  <a:srgbClr val="494949"/>
                </a:solidFill>
                <a:latin typeface="Calibri"/>
                <a:cs typeface="Calibri"/>
              </a:rPr>
              <a:t>/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무응답</a:t>
            </a:r>
            <a:r>
              <a:rPr sz="1250" spc="-9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사례</a:t>
            </a:r>
            <a:r>
              <a:rPr sz="1250" spc="-8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자동</a:t>
            </a:r>
            <a:r>
              <a:rPr sz="1250" spc="-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검출</a:t>
            </a:r>
            <a:r>
              <a:rPr sz="1250" spc="-8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및</a:t>
            </a:r>
            <a:r>
              <a:rPr sz="1250" spc="-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재학습</a:t>
            </a:r>
            <a:endParaRPr sz="1250">
              <a:latin typeface="Malgun Gothic"/>
              <a:cs typeface="Malgun Gothic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500" y="3218483"/>
            <a:ext cx="190500" cy="1714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578600" y="3106121"/>
            <a:ext cx="4121150" cy="892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50" dirty="0">
                <a:solidFill>
                  <a:srgbClr val="494949"/>
                </a:solidFill>
                <a:latin typeface="Times New Roman"/>
                <a:cs typeface="Times New Roman"/>
              </a:rPr>
              <a:t>UX</a:t>
            </a:r>
            <a:r>
              <a:rPr sz="1250" spc="4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1250" spc="95" dirty="0">
                <a:solidFill>
                  <a:srgbClr val="494949"/>
                </a:solidFill>
                <a:latin typeface="Batang"/>
                <a:cs typeface="Batang"/>
              </a:rPr>
              <a:t>개</a:t>
            </a:r>
            <a:r>
              <a:rPr sz="1200" spc="95" dirty="0">
                <a:solidFill>
                  <a:srgbClr val="494949"/>
                </a:solidFill>
                <a:latin typeface="Batang"/>
                <a:cs typeface="Batang"/>
              </a:rPr>
              <a:t>선</a:t>
            </a:r>
            <a:endParaRPr sz="12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>
              <a:latin typeface="Batang"/>
              <a:cs typeface="Batang"/>
            </a:endParaRPr>
          </a:p>
          <a:p>
            <a:pPr marL="457200" indent="-158750">
              <a:lnSpc>
                <a:spcPct val="1000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심리</a:t>
            </a:r>
            <a:r>
              <a:rPr sz="1250" spc="-5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상태를</a:t>
            </a:r>
            <a:r>
              <a:rPr sz="1250" spc="-5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색상</a:t>
            </a:r>
            <a:r>
              <a:rPr sz="1300" dirty="0">
                <a:solidFill>
                  <a:srgbClr val="494949"/>
                </a:solidFill>
                <a:latin typeface="Calibri"/>
                <a:cs typeface="Calibri"/>
              </a:rPr>
              <a:t>·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아이콘으로</a:t>
            </a:r>
            <a:r>
              <a:rPr sz="1250" spc="-5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시각화</a:t>
            </a:r>
            <a:endParaRPr sz="1250">
              <a:latin typeface="Malgun Gothic"/>
              <a:cs typeface="Malgun Gothic"/>
            </a:endParaRPr>
          </a:p>
          <a:p>
            <a:pPr marL="457200" indent="-158750">
              <a:lnSpc>
                <a:spcPct val="100000"/>
              </a:lnSpc>
              <a:spcBef>
                <a:spcPts val="84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사용자의</a:t>
            </a:r>
            <a:r>
              <a:rPr sz="1250" spc="-6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감정</a:t>
            </a:r>
            <a:r>
              <a:rPr sz="1250" spc="-6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변화</a:t>
            </a:r>
            <a:r>
              <a:rPr sz="1250" spc="-6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기록</a:t>
            </a:r>
            <a:r>
              <a:rPr sz="1300" dirty="0">
                <a:solidFill>
                  <a:srgbClr val="494949"/>
                </a:solidFill>
                <a:latin typeface="Calibri"/>
                <a:cs typeface="Calibri"/>
              </a:rPr>
              <a:t>('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감정</a:t>
            </a:r>
            <a:r>
              <a:rPr sz="1250" spc="-6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다이어리</a:t>
            </a:r>
            <a:r>
              <a:rPr sz="1300" dirty="0">
                <a:solidFill>
                  <a:srgbClr val="494949"/>
                </a:solidFill>
                <a:latin typeface="Calibri"/>
                <a:cs typeface="Calibri"/>
              </a:rPr>
              <a:t>'</a:t>
            </a:r>
            <a:r>
              <a:rPr sz="1300" spc="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기능</a:t>
            </a:r>
            <a:r>
              <a:rPr sz="1300" dirty="0">
                <a:solidFill>
                  <a:srgbClr val="494949"/>
                </a:solidFill>
                <a:latin typeface="Calibri"/>
                <a:cs typeface="Calibri"/>
              </a:rPr>
              <a:t>)</a:t>
            </a:r>
            <a:r>
              <a:rPr sz="1300" spc="9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추가</a:t>
            </a:r>
            <a:endParaRPr sz="1250">
              <a:latin typeface="Malgun Gothic"/>
              <a:cs typeface="Malgun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6500" y="4209083"/>
            <a:ext cx="219075" cy="1714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607175" y="4093210"/>
            <a:ext cx="4616450" cy="894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spc="75" dirty="0">
                <a:solidFill>
                  <a:srgbClr val="494949"/>
                </a:solidFill>
                <a:latin typeface="Batang"/>
                <a:cs typeface="Batang"/>
              </a:rPr>
              <a:t>맞춤형</a:t>
            </a:r>
            <a:r>
              <a:rPr sz="1250" spc="-110" dirty="0">
                <a:solidFill>
                  <a:srgbClr val="494949"/>
                </a:solidFill>
                <a:latin typeface="Batang"/>
                <a:cs typeface="Batang"/>
              </a:rPr>
              <a:t> </a:t>
            </a:r>
            <a:r>
              <a:rPr sz="1250" spc="170" dirty="0">
                <a:solidFill>
                  <a:srgbClr val="494949"/>
                </a:solidFill>
                <a:latin typeface="Batang"/>
                <a:cs typeface="Batang"/>
              </a:rPr>
              <a:t>피드백</a:t>
            </a:r>
            <a:endParaRPr sz="12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0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 dirty="0">
              <a:latin typeface="Batang"/>
              <a:cs typeface="Batang"/>
            </a:endParaRPr>
          </a:p>
          <a:p>
            <a:pPr marL="457200" indent="-158750">
              <a:lnSpc>
                <a:spcPct val="100000"/>
              </a:lnSpc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스트레스</a:t>
            </a:r>
            <a:r>
              <a:rPr sz="1250" spc="-3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요인</a:t>
            </a:r>
            <a:r>
              <a:rPr sz="1300" dirty="0">
                <a:solidFill>
                  <a:srgbClr val="494949"/>
                </a:solidFill>
                <a:latin typeface="Calibri"/>
                <a:cs typeface="Calibri"/>
              </a:rPr>
              <a:t>(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학업</a:t>
            </a:r>
            <a:r>
              <a:rPr sz="1300" dirty="0">
                <a:solidFill>
                  <a:srgbClr val="494949"/>
                </a:solidFill>
                <a:latin typeface="Calibri"/>
                <a:cs typeface="Calibri"/>
              </a:rPr>
              <a:t>/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대인관계</a:t>
            </a:r>
            <a:r>
              <a:rPr sz="1250" spc="-3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등</a:t>
            </a:r>
            <a:r>
              <a:rPr sz="1300" dirty="0">
                <a:solidFill>
                  <a:srgbClr val="494949"/>
                </a:solidFill>
                <a:latin typeface="Calibri"/>
                <a:cs typeface="Calibri"/>
              </a:rPr>
              <a:t>)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에</a:t>
            </a:r>
            <a:r>
              <a:rPr sz="1250" spc="-3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따른</a:t>
            </a:r>
            <a:r>
              <a:rPr sz="1250" spc="-3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응답</a:t>
            </a:r>
            <a:r>
              <a:rPr sz="1250" spc="-3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유형</a:t>
            </a:r>
            <a:r>
              <a:rPr sz="1250" spc="-3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세분화</a:t>
            </a:r>
            <a:endParaRPr sz="1250" dirty="0">
              <a:latin typeface="Malgun Gothic"/>
              <a:cs typeface="Malgun Gothic"/>
            </a:endParaRPr>
          </a:p>
          <a:p>
            <a:pPr marL="457200" indent="-158750">
              <a:lnSpc>
                <a:spcPct val="100000"/>
              </a:lnSpc>
              <a:spcBef>
                <a:spcPts val="89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45720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사용자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프로필</a:t>
            </a:r>
            <a:r>
              <a:rPr sz="1250" spc="-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기반</a:t>
            </a:r>
            <a:r>
              <a:rPr sz="1250" spc="-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개인화</a:t>
            </a:r>
            <a:r>
              <a:rPr sz="1250" spc="-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추천</a:t>
            </a:r>
            <a:endParaRPr sz="1250" dirty="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10" dirty="0"/>
              <a:t>14</a:t>
            </a:fld>
            <a:r>
              <a:rPr spc="-10" dirty="0"/>
              <a:t>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324" y="415925"/>
            <a:ext cx="4384675" cy="59952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00" spc="34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기대효과</a:t>
            </a:r>
            <a:r>
              <a:rPr sz="3800" spc="-204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4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요약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2025" y="1142999"/>
            <a:ext cx="10267950" cy="1647825"/>
            <a:chOff x="962025" y="1142999"/>
            <a:chExt cx="10267950" cy="1647825"/>
          </a:xfrm>
        </p:grpSpPr>
        <p:sp>
          <p:nvSpPr>
            <p:cNvPr id="4" name="object 4"/>
            <p:cNvSpPr/>
            <p:nvPr/>
          </p:nvSpPr>
          <p:spPr>
            <a:xfrm>
              <a:off x="962025" y="1142999"/>
              <a:ext cx="10267950" cy="1647825"/>
            </a:xfrm>
            <a:custGeom>
              <a:avLst/>
              <a:gdLst/>
              <a:ahLst/>
              <a:cxnLst/>
              <a:rect l="l" t="t" r="r" b="b"/>
              <a:pathLst>
                <a:path w="10267950" h="1647825">
                  <a:moveTo>
                    <a:pt x="10196753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1571625"/>
                  </a:lnTo>
                  <a:lnTo>
                    <a:pt x="0" y="1576628"/>
                  </a:lnTo>
                  <a:lnTo>
                    <a:pt x="15622" y="1618119"/>
                  </a:lnTo>
                  <a:lnTo>
                    <a:pt x="51663" y="1643938"/>
                  </a:lnTo>
                  <a:lnTo>
                    <a:pt x="71194" y="1647825"/>
                  </a:lnTo>
                  <a:lnTo>
                    <a:pt x="10196753" y="1647825"/>
                  </a:lnTo>
                  <a:lnTo>
                    <a:pt x="10238244" y="1632204"/>
                  </a:lnTo>
                  <a:lnTo>
                    <a:pt x="10264063" y="1596161"/>
                  </a:lnTo>
                  <a:lnTo>
                    <a:pt x="10267950" y="1576628"/>
                  </a:lnTo>
                  <a:lnTo>
                    <a:pt x="10267950" y="71196"/>
                  </a:lnTo>
                  <a:lnTo>
                    <a:pt x="10252329" y="29705"/>
                  </a:lnTo>
                  <a:lnTo>
                    <a:pt x="10216286" y="3886"/>
                  </a:lnTo>
                  <a:lnTo>
                    <a:pt x="10201706" y="482"/>
                  </a:lnTo>
                  <a:lnTo>
                    <a:pt x="101967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2525" y="1333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4205" y="5707"/>
                  </a:lnTo>
                  <a:lnTo>
                    <a:pt x="100697" y="22494"/>
                  </a:lnTo>
                  <a:lnTo>
                    <a:pt x="62575" y="49338"/>
                  </a:lnTo>
                  <a:lnTo>
                    <a:pt x="32106" y="84658"/>
                  </a:lnTo>
                  <a:lnTo>
                    <a:pt x="11130" y="126334"/>
                  </a:lnTo>
                  <a:lnTo>
                    <a:pt x="915" y="171823"/>
                  </a:lnTo>
                  <a:lnTo>
                    <a:pt x="0" y="190500"/>
                  </a:lnTo>
                  <a:lnTo>
                    <a:pt x="228" y="199858"/>
                  </a:lnTo>
                  <a:lnTo>
                    <a:pt x="8201" y="245795"/>
                  </a:lnTo>
                  <a:lnTo>
                    <a:pt x="27097" y="288426"/>
                  </a:lnTo>
                  <a:lnTo>
                    <a:pt x="55796" y="325208"/>
                  </a:lnTo>
                  <a:lnTo>
                    <a:pt x="92572" y="353902"/>
                  </a:lnTo>
                  <a:lnTo>
                    <a:pt x="135204" y="372800"/>
                  </a:lnTo>
                  <a:lnTo>
                    <a:pt x="181139" y="380771"/>
                  </a:lnTo>
                  <a:lnTo>
                    <a:pt x="190500" y="381000"/>
                  </a:lnTo>
                  <a:lnTo>
                    <a:pt x="199860" y="380771"/>
                  </a:lnTo>
                  <a:lnTo>
                    <a:pt x="245795" y="372800"/>
                  </a:lnTo>
                  <a:lnTo>
                    <a:pt x="288426" y="353902"/>
                  </a:lnTo>
                  <a:lnTo>
                    <a:pt x="325208" y="325208"/>
                  </a:lnTo>
                  <a:lnTo>
                    <a:pt x="353902" y="288426"/>
                  </a:lnTo>
                  <a:lnTo>
                    <a:pt x="372800" y="245795"/>
                  </a:lnTo>
                  <a:lnTo>
                    <a:pt x="380771" y="199858"/>
                  </a:lnTo>
                  <a:lnTo>
                    <a:pt x="381000" y="190500"/>
                  </a:lnTo>
                  <a:lnTo>
                    <a:pt x="380771" y="181139"/>
                  </a:lnTo>
                  <a:lnTo>
                    <a:pt x="372800" y="135197"/>
                  </a:lnTo>
                  <a:lnTo>
                    <a:pt x="353902" y="92568"/>
                  </a:lnTo>
                  <a:lnTo>
                    <a:pt x="325208" y="55791"/>
                  </a:lnTo>
                  <a:lnTo>
                    <a:pt x="288426" y="27097"/>
                  </a:lnTo>
                  <a:lnTo>
                    <a:pt x="245795" y="8199"/>
                  </a:lnTo>
                  <a:lnTo>
                    <a:pt x="199860" y="228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3B81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299" y="1438275"/>
              <a:ext cx="171450" cy="1714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524" y="1895475"/>
              <a:ext cx="171450" cy="1714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524" y="2266950"/>
              <a:ext cx="171450" cy="17145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962025" y="2981325"/>
            <a:ext cx="10267950" cy="1647825"/>
            <a:chOff x="962025" y="2981325"/>
            <a:chExt cx="10267950" cy="1647825"/>
          </a:xfrm>
        </p:grpSpPr>
        <p:sp>
          <p:nvSpPr>
            <p:cNvPr id="10" name="object 10"/>
            <p:cNvSpPr/>
            <p:nvPr/>
          </p:nvSpPr>
          <p:spPr>
            <a:xfrm>
              <a:off x="962025" y="2981325"/>
              <a:ext cx="10267950" cy="1647825"/>
            </a:xfrm>
            <a:custGeom>
              <a:avLst/>
              <a:gdLst/>
              <a:ahLst/>
              <a:cxnLst/>
              <a:rect l="l" t="t" r="r" b="b"/>
              <a:pathLst>
                <a:path w="10267950" h="1647825">
                  <a:moveTo>
                    <a:pt x="10196753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1571625"/>
                  </a:lnTo>
                  <a:lnTo>
                    <a:pt x="0" y="1576628"/>
                  </a:lnTo>
                  <a:lnTo>
                    <a:pt x="15622" y="1618119"/>
                  </a:lnTo>
                  <a:lnTo>
                    <a:pt x="51663" y="1643938"/>
                  </a:lnTo>
                  <a:lnTo>
                    <a:pt x="71194" y="1647825"/>
                  </a:lnTo>
                  <a:lnTo>
                    <a:pt x="10196753" y="1647825"/>
                  </a:lnTo>
                  <a:lnTo>
                    <a:pt x="10238244" y="1632204"/>
                  </a:lnTo>
                  <a:lnTo>
                    <a:pt x="10264063" y="1596161"/>
                  </a:lnTo>
                  <a:lnTo>
                    <a:pt x="10267950" y="1576628"/>
                  </a:lnTo>
                  <a:lnTo>
                    <a:pt x="10267950" y="71196"/>
                  </a:lnTo>
                  <a:lnTo>
                    <a:pt x="10252329" y="29705"/>
                  </a:lnTo>
                  <a:lnTo>
                    <a:pt x="10216286" y="3886"/>
                  </a:lnTo>
                  <a:lnTo>
                    <a:pt x="10201706" y="482"/>
                  </a:lnTo>
                  <a:lnTo>
                    <a:pt x="101967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52525" y="317182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4205" y="5707"/>
                  </a:lnTo>
                  <a:lnTo>
                    <a:pt x="100697" y="22494"/>
                  </a:lnTo>
                  <a:lnTo>
                    <a:pt x="62575" y="49338"/>
                  </a:lnTo>
                  <a:lnTo>
                    <a:pt x="32106" y="84658"/>
                  </a:lnTo>
                  <a:lnTo>
                    <a:pt x="11130" y="126336"/>
                  </a:lnTo>
                  <a:lnTo>
                    <a:pt x="915" y="171823"/>
                  </a:lnTo>
                  <a:lnTo>
                    <a:pt x="0" y="190500"/>
                  </a:lnTo>
                  <a:lnTo>
                    <a:pt x="228" y="199858"/>
                  </a:lnTo>
                  <a:lnTo>
                    <a:pt x="8201" y="245795"/>
                  </a:lnTo>
                  <a:lnTo>
                    <a:pt x="27097" y="288426"/>
                  </a:lnTo>
                  <a:lnTo>
                    <a:pt x="55796" y="325208"/>
                  </a:lnTo>
                  <a:lnTo>
                    <a:pt x="92572" y="353902"/>
                  </a:lnTo>
                  <a:lnTo>
                    <a:pt x="135204" y="372800"/>
                  </a:lnTo>
                  <a:lnTo>
                    <a:pt x="181139" y="380771"/>
                  </a:lnTo>
                  <a:lnTo>
                    <a:pt x="190500" y="381000"/>
                  </a:lnTo>
                  <a:lnTo>
                    <a:pt x="199860" y="380771"/>
                  </a:lnTo>
                  <a:lnTo>
                    <a:pt x="245795" y="372800"/>
                  </a:lnTo>
                  <a:lnTo>
                    <a:pt x="288426" y="353902"/>
                  </a:lnTo>
                  <a:lnTo>
                    <a:pt x="325208" y="325208"/>
                  </a:lnTo>
                  <a:lnTo>
                    <a:pt x="353902" y="288426"/>
                  </a:lnTo>
                  <a:lnTo>
                    <a:pt x="372800" y="245795"/>
                  </a:lnTo>
                  <a:lnTo>
                    <a:pt x="380771" y="199858"/>
                  </a:lnTo>
                  <a:lnTo>
                    <a:pt x="381000" y="190500"/>
                  </a:lnTo>
                  <a:lnTo>
                    <a:pt x="380771" y="181139"/>
                  </a:lnTo>
                  <a:lnTo>
                    <a:pt x="372800" y="135197"/>
                  </a:lnTo>
                  <a:lnTo>
                    <a:pt x="353902" y="92568"/>
                  </a:lnTo>
                  <a:lnTo>
                    <a:pt x="325208" y="55791"/>
                  </a:lnTo>
                  <a:lnTo>
                    <a:pt x="288426" y="27097"/>
                  </a:lnTo>
                  <a:lnTo>
                    <a:pt x="245795" y="8199"/>
                  </a:lnTo>
                  <a:lnTo>
                    <a:pt x="199860" y="228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8249" y="3276600"/>
              <a:ext cx="219075" cy="1714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524" y="3733800"/>
              <a:ext cx="171450" cy="1714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524" y="4105275"/>
              <a:ext cx="171450" cy="171450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962025" y="4819650"/>
            <a:ext cx="10267950" cy="2019300"/>
            <a:chOff x="962025" y="4819650"/>
            <a:chExt cx="10267950" cy="2019300"/>
          </a:xfrm>
        </p:grpSpPr>
        <p:sp>
          <p:nvSpPr>
            <p:cNvPr id="16" name="object 16"/>
            <p:cNvSpPr/>
            <p:nvPr/>
          </p:nvSpPr>
          <p:spPr>
            <a:xfrm>
              <a:off x="962025" y="4819650"/>
              <a:ext cx="10267950" cy="2019300"/>
            </a:xfrm>
            <a:custGeom>
              <a:avLst/>
              <a:gdLst/>
              <a:ahLst/>
              <a:cxnLst/>
              <a:rect l="l" t="t" r="r" b="b"/>
              <a:pathLst>
                <a:path w="10267950" h="2019300">
                  <a:moveTo>
                    <a:pt x="10196753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1943100"/>
                  </a:lnTo>
                  <a:lnTo>
                    <a:pt x="0" y="1948100"/>
                  </a:lnTo>
                  <a:lnTo>
                    <a:pt x="15622" y="1989593"/>
                  </a:lnTo>
                  <a:lnTo>
                    <a:pt x="51663" y="2015410"/>
                  </a:lnTo>
                  <a:lnTo>
                    <a:pt x="71194" y="2019300"/>
                  </a:lnTo>
                  <a:lnTo>
                    <a:pt x="10196753" y="2019300"/>
                  </a:lnTo>
                  <a:lnTo>
                    <a:pt x="10238244" y="2003678"/>
                  </a:lnTo>
                  <a:lnTo>
                    <a:pt x="10264063" y="1967636"/>
                  </a:lnTo>
                  <a:lnTo>
                    <a:pt x="10267950" y="1948100"/>
                  </a:lnTo>
                  <a:lnTo>
                    <a:pt x="10267950" y="71196"/>
                  </a:lnTo>
                  <a:lnTo>
                    <a:pt x="10252329" y="29705"/>
                  </a:lnTo>
                  <a:lnTo>
                    <a:pt x="10216286" y="3886"/>
                  </a:lnTo>
                  <a:lnTo>
                    <a:pt x="10201706" y="482"/>
                  </a:lnTo>
                  <a:lnTo>
                    <a:pt x="101967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52525" y="50101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4205" y="5707"/>
                  </a:lnTo>
                  <a:lnTo>
                    <a:pt x="100697" y="22494"/>
                  </a:lnTo>
                  <a:lnTo>
                    <a:pt x="62575" y="49338"/>
                  </a:lnTo>
                  <a:lnTo>
                    <a:pt x="32106" y="84658"/>
                  </a:lnTo>
                  <a:lnTo>
                    <a:pt x="11130" y="126334"/>
                  </a:lnTo>
                  <a:lnTo>
                    <a:pt x="915" y="171823"/>
                  </a:lnTo>
                  <a:lnTo>
                    <a:pt x="0" y="190500"/>
                  </a:lnTo>
                  <a:lnTo>
                    <a:pt x="228" y="199858"/>
                  </a:lnTo>
                  <a:lnTo>
                    <a:pt x="8201" y="245795"/>
                  </a:lnTo>
                  <a:lnTo>
                    <a:pt x="27097" y="288426"/>
                  </a:lnTo>
                  <a:lnTo>
                    <a:pt x="55796" y="325208"/>
                  </a:lnTo>
                  <a:lnTo>
                    <a:pt x="92572" y="353902"/>
                  </a:lnTo>
                  <a:lnTo>
                    <a:pt x="135204" y="372800"/>
                  </a:lnTo>
                  <a:lnTo>
                    <a:pt x="181139" y="380771"/>
                  </a:lnTo>
                  <a:lnTo>
                    <a:pt x="190500" y="381000"/>
                  </a:lnTo>
                  <a:lnTo>
                    <a:pt x="199860" y="380771"/>
                  </a:lnTo>
                  <a:lnTo>
                    <a:pt x="245795" y="372800"/>
                  </a:lnTo>
                  <a:lnTo>
                    <a:pt x="288426" y="353902"/>
                  </a:lnTo>
                  <a:lnTo>
                    <a:pt x="325208" y="325208"/>
                  </a:lnTo>
                  <a:lnTo>
                    <a:pt x="353902" y="288426"/>
                  </a:lnTo>
                  <a:lnTo>
                    <a:pt x="372800" y="245795"/>
                  </a:lnTo>
                  <a:lnTo>
                    <a:pt x="380771" y="199858"/>
                  </a:lnTo>
                  <a:lnTo>
                    <a:pt x="381000" y="190500"/>
                  </a:lnTo>
                  <a:lnTo>
                    <a:pt x="380771" y="181139"/>
                  </a:lnTo>
                  <a:lnTo>
                    <a:pt x="372800" y="135197"/>
                  </a:lnTo>
                  <a:lnTo>
                    <a:pt x="353902" y="92568"/>
                  </a:lnTo>
                  <a:lnTo>
                    <a:pt x="325208" y="55791"/>
                  </a:lnTo>
                  <a:lnTo>
                    <a:pt x="288426" y="27097"/>
                  </a:lnTo>
                  <a:lnTo>
                    <a:pt x="245795" y="8199"/>
                  </a:lnTo>
                  <a:lnTo>
                    <a:pt x="199860" y="228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8249" y="5114925"/>
              <a:ext cx="219075" cy="1714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524" y="5572125"/>
              <a:ext cx="171450" cy="1714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524" y="5943600"/>
              <a:ext cx="171450" cy="1714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524" y="6315075"/>
              <a:ext cx="171450" cy="1714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425575" y="1370330"/>
            <a:ext cx="6035675" cy="1086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10"/>
              </a:spcBef>
            </a:pPr>
            <a:r>
              <a:rPr sz="1650" spc="130" dirty="0">
                <a:latin typeface="Batang"/>
                <a:cs typeface="Batang"/>
              </a:rPr>
              <a:t>정</a:t>
            </a:r>
            <a:r>
              <a:rPr sz="1700" spc="130" dirty="0">
                <a:latin typeface="Batang"/>
                <a:cs typeface="Batang"/>
              </a:rPr>
              <a:t>신</a:t>
            </a:r>
            <a:r>
              <a:rPr sz="1650" spc="130" dirty="0">
                <a:latin typeface="Batang"/>
                <a:cs typeface="Batang"/>
              </a:rPr>
              <a:t>건강</a:t>
            </a:r>
            <a:r>
              <a:rPr sz="1650" spc="-95" dirty="0">
                <a:latin typeface="Batang"/>
                <a:cs typeface="Batang"/>
              </a:rPr>
              <a:t> </a:t>
            </a:r>
            <a:r>
              <a:rPr sz="1650" spc="125" dirty="0">
                <a:latin typeface="Batang"/>
                <a:cs typeface="Batang"/>
              </a:rPr>
              <a:t>서비</a:t>
            </a:r>
            <a:r>
              <a:rPr sz="1700" spc="125" dirty="0">
                <a:latin typeface="Batang"/>
                <a:cs typeface="Batang"/>
              </a:rPr>
              <a:t>스</a:t>
            </a:r>
            <a:r>
              <a:rPr sz="1700" spc="-114" dirty="0">
                <a:latin typeface="Batang"/>
                <a:cs typeface="Batang"/>
              </a:rPr>
              <a:t> </a:t>
            </a:r>
            <a:r>
              <a:rPr sz="1700" spc="114" dirty="0">
                <a:latin typeface="Batang"/>
                <a:cs typeface="Batang"/>
              </a:rPr>
              <a:t>시</a:t>
            </a:r>
            <a:r>
              <a:rPr sz="1650" spc="114" dirty="0">
                <a:latin typeface="Batang"/>
                <a:cs typeface="Batang"/>
              </a:rPr>
              <a:t>장</a:t>
            </a:r>
            <a:r>
              <a:rPr sz="1650" spc="-95" dirty="0">
                <a:latin typeface="Batang"/>
                <a:cs typeface="Batang"/>
              </a:rPr>
              <a:t> </a:t>
            </a:r>
            <a:r>
              <a:rPr sz="1650" spc="145" dirty="0">
                <a:latin typeface="Batang"/>
                <a:cs typeface="Batang"/>
              </a:rPr>
              <a:t>내</a:t>
            </a:r>
            <a:r>
              <a:rPr sz="1650" spc="-95" dirty="0">
                <a:latin typeface="Batang"/>
                <a:cs typeface="Batang"/>
              </a:rPr>
              <a:t> </a:t>
            </a:r>
            <a:r>
              <a:rPr sz="1700" spc="85" dirty="0">
                <a:latin typeface="Microsoft Sans Serif"/>
                <a:cs typeface="Microsoft Sans Serif"/>
              </a:rPr>
              <a:t>AI</a:t>
            </a:r>
            <a:r>
              <a:rPr sz="1700" spc="20" dirty="0">
                <a:latin typeface="Microsoft Sans Serif"/>
                <a:cs typeface="Microsoft Sans Serif"/>
              </a:rPr>
              <a:t> </a:t>
            </a:r>
            <a:r>
              <a:rPr sz="1650" spc="114" dirty="0">
                <a:latin typeface="Batang"/>
                <a:cs typeface="Batang"/>
              </a:rPr>
              <a:t>기</a:t>
            </a:r>
            <a:r>
              <a:rPr sz="1700" spc="114" dirty="0">
                <a:latin typeface="Batang"/>
                <a:cs typeface="Batang"/>
              </a:rPr>
              <a:t>반</a:t>
            </a:r>
            <a:r>
              <a:rPr sz="1700" spc="-114" dirty="0">
                <a:latin typeface="Batang"/>
                <a:cs typeface="Batang"/>
              </a:rPr>
              <a:t> </a:t>
            </a:r>
            <a:r>
              <a:rPr sz="1650" spc="114" dirty="0">
                <a:latin typeface="Batang"/>
                <a:cs typeface="Batang"/>
              </a:rPr>
              <a:t>상</a:t>
            </a:r>
            <a:r>
              <a:rPr sz="1700" spc="114" dirty="0">
                <a:latin typeface="Batang"/>
                <a:cs typeface="Batang"/>
              </a:rPr>
              <a:t>담</a:t>
            </a:r>
            <a:r>
              <a:rPr sz="1700" spc="-114" dirty="0">
                <a:latin typeface="Batang"/>
                <a:cs typeface="Batang"/>
              </a:rPr>
              <a:t> </a:t>
            </a:r>
            <a:r>
              <a:rPr sz="1700" spc="125" dirty="0">
                <a:latin typeface="Batang"/>
                <a:cs typeface="Batang"/>
              </a:rPr>
              <a:t>플</a:t>
            </a:r>
            <a:r>
              <a:rPr sz="1650" spc="125" dirty="0">
                <a:latin typeface="Batang"/>
                <a:cs typeface="Batang"/>
              </a:rPr>
              <a:t>랫폼</a:t>
            </a:r>
            <a:r>
              <a:rPr sz="1650" spc="-95" dirty="0">
                <a:latin typeface="Batang"/>
                <a:cs typeface="Batang"/>
              </a:rPr>
              <a:t> </a:t>
            </a:r>
            <a:r>
              <a:rPr sz="1700" spc="125" dirty="0">
                <a:latin typeface="Batang"/>
                <a:cs typeface="Batang"/>
              </a:rPr>
              <a:t>확</a:t>
            </a:r>
            <a:r>
              <a:rPr sz="1650" spc="125" dirty="0">
                <a:latin typeface="Batang"/>
                <a:cs typeface="Batang"/>
              </a:rPr>
              <a:t>장성</a:t>
            </a:r>
            <a:r>
              <a:rPr sz="1650" spc="-95" dirty="0">
                <a:latin typeface="Batang"/>
                <a:cs typeface="Batang"/>
              </a:rPr>
              <a:t> </a:t>
            </a:r>
            <a:r>
              <a:rPr sz="1700" spc="110" dirty="0">
                <a:latin typeface="Batang"/>
                <a:cs typeface="Batang"/>
              </a:rPr>
              <a:t>확</a:t>
            </a:r>
            <a:r>
              <a:rPr sz="1600" spc="110" dirty="0">
                <a:latin typeface="Batang"/>
                <a:cs typeface="Batang"/>
              </a:rPr>
              <a:t>보</a:t>
            </a:r>
            <a:endParaRPr sz="16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50">
              <a:latin typeface="Batang"/>
              <a:cs typeface="Batang"/>
            </a:endParaRPr>
          </a:p>
          <a:p>
            <a:pPr marL="12700" marR="71755">
              <a:lnSpc>
                <a:spcPct val="180600"/>
              </a:lnSpc>
              <a:spcBef>
                <a:spcPts val="5"/>
              </a:spcBef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전문가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상담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접근이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어려운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대학생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및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청년층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대상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초기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진입으로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시장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저변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확대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상담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서비스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비용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절감으로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더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많은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사용자에게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접근성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제공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25575" y="3208654"/>
            <a:ext cx="4721225" cy="1086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10"/>
              </a:spcBef>
            </a:pPr>
            <a:r>
              <a:rPr sz="1700" spc="114" dirty="0">
                <a:latin typeface="Batang"/>
                <a:cs typeface="Batang"/>
              </a:rPr>
              <a:t>심</a:t>
            </a:r>
            <a:r>
              <a:rPr sz="1650" spc="114" dirty="0">
                <a:latin typeface="Batang"/>
                <a:cs typeface="Batang"/>
              </a:rPr>
              <a:t>리상</a:t>
            </a:r>
            <a:r>
              <a:rPr sz="1700" spc="114" dirty="0">
                <a:latin typeface="Batang"/>
                <a:cs typeface="Batang"/>
              </a:rPr>
              <a:t>담</a:t>
            </a:r>
            <a:r>
              <a:rPr sz="1700" spc="-120" dirty="0">
                <a:latin typeface="Batang"/>
                <a:cs typeface="Batang"/>
              </a:rPr>
              <a:t> </a:t>
            </a:r>
            <a:r>
              <a:rPr sz="1700" spc="85" dirty="0">
                <a:latin typeface="Batang"/>
                <a:cs typeface="Batang"/>
              </a:rPr>
              <a:t>및</a:t>
            </a:r>
            <a:r>
              <a:rPr sz="1700" spc="-114" dirty="0">
                <a:latin typeface="Batang"/>
                <a:cs typeface="Batang"/>
              </a:rPr>
              <a:t> </a:t>
            </a:r>
            <a:r>
              <a:rPr sz="1700" spc="85" dirty="0">
                <a:latin typeface="Microsoft Sans Serif"/>
                <a:cs typeface="Microsoft Sans Serif"/>
              </a:rPr>
              <a:t>AI</a:t>
            </a:r>
            <a:r>
              <a:rPr sz="1700" spc="15" dirty="0">
                <a:latin typeface="Microsoft Sans Serif"/>
                <a:cs typeface="Microsoft Sans Serif"/>
              </a:rPr>
              <a:t> </a:t>
            </a:r>
            <a:r>
              <a:rPr sz="1650" spc="114" dirty="0">
                <a:latin typeface="Batang"/>
                <a:cs typeface="Batang"/>
              </a:rPr>
              <a:t>융</a:t>
            </a:r>
            <a:r>
              <a:rPr sz="1700" spc="114" dirty="0">
                <a:latin typeface="Batang"/>
                <a:cs typeface="Batang"/>
              </a:rPr>
              <a:t>합</a:t>
            </a:r>
            <a:r>
              <a:rPr sz="1700" spc="-114" dirty="0">
                <a:latin typeface="Batang"/>
                <a:cs typeface="Batang"/>
              </a:rPr>
              <a:t> </a:t>
            </a:r>
            <a:r>
              <a:rPr sz="1600" spc="170" dirty="0">
                <a:latin typeface="Batang"/>
                <a:cs typeface="Batang"/>
              </a:rPr>
              <a:t>분</a:t>
            </a:r>
            <a:r>
              <a:rPr sz="1650" spc="170" dirty="0">
                <a:latin typeface="Batang"/>
                <a:cs typeface="Batang"/>
              </a:rPr>
              <a:t>야</a:t>
            </a:r>
            <a:r>
              <a:rPr sz="1650" spc="-95" dirty="0">
                <a:latin typeface="Batang"/>
                <a:cs typeface="Batang"/>
              </a:rPr>
              <a:t> </a:t>
            </a:r>
            <a:r>
              <a:rPr sz="1700" spc="85" dirty="0">
                <a:latin typeface="Batang"/>
                <a:cs typeface="Batang"/>
              </a:rPr>
              <a:t>학습</a:t>
            </a:r>
            <a:r>
              <a:rPr sz="1700" spc="-120" dirty="0">
                <a:latin typeface="Batang"/>
                <a:cs typeface="Batang"/>
              </a:rPr>
              <a:t> </a:t>
            </a:r>
            <a:r>
              <a:rPr sz="1650" spc="145" dirty="0">
                <a:latin typeface="Batang"/>
                <a:cs typeface="Batang"/>
              </a:rPr>
              <a:t>자료</a:t>
            </a:r>
            <a:r>
              <a:rPr sz="1650" spc="-95" dirty="0">
                <a:latin typeface="Batang"/>
                <a:cs typeface="Batang"/>
              </a:rPr>
              <a:t> </a:t>
            </a:r>
            <a:r>
              <a:rPr sz="1650" spc="145" dirty="0">
                <a:latin typeface="Batang"/>
                <a:cs typeface="Batang"/>
              </a:rPr>
              <a:t>제</a:t>
            </a:r>
            <a:r>
              <a:rPr sz="1600" spc="145" dirty="0">
                <a:latin typeface="Batang"/>
                <a:cs typeface="Batang"/>
              </a:rPr>
              <a:t>공</a:t>
            </a:r>
            <a:endParaRPr sz="16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한국어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감정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분석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데이터셋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및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모델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성능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개선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기여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350" spc="-20" dirty="0">
                <a:solidFill>
                  <a:srgbClr val="494949"/>
                </a:solidFill>
                <a:latin typeface="Century Gothic"/>
                <a:cs typeface="Century Gothic"/>
              </a:rPr>
              <a:t>AI</a:t>
            </a:r>
            <a:r>
              <a:rPr sz="1350" spc="-70" dirty="0">
                <a:solidFill>
                  <a:srgbClr val="494949"/>
                </a:solidFill>
                <a:latin typeface="Century Gothic"/>
                <a:cs typeface="Century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심리상담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윤리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지침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및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모범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사례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수립을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위한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기초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자료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제공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25575" y="5046979"/>
            <a:ext cx="5435600" cy="145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10"/>
              </a:spcBef>
            </a:pPr>
            <a:r>
              <a:rPr sz="1650" spc="110" dirty="0">
                <a:latin typeface="Batang"/>
                <a:cs typeface="Batang"/>
              </a:rPr>
              <a:t>저비용</a:t>
            </a:r>
            <a:r>
              <a:rPr sz="1700" spc="110" dirty="0">
                <a:latin typeface="Microsoft Sans Serif"/>
                <a:cs typeface="Microsoft Sans Serif"/>
              </a:rPr>
              <a:t>·</a:t>
            </a:r>
            <a:r>
              <a:rPr sz="1650" spc="110" dirty="0">
                <a:latin typeface="Batang"/>
                <a:cs typeface="Batang"/>
              </a:rPr>
              <a:t>비</a:t>
            </a:r>
            <a:r>
              <a:rPr sz="1700" spc="110" dirty="0">
                <a:latin typeface="Batang"/>
                <a:cs typeface="Batang"/>
              </a:rPr>
              <a:t>대</a:t>
            </a:r>
            <a:r>
              <a:rPr sz="1650" spc="110" dirty="0">
                <a:latin typeface="Batang"/>
                <a:cs typeface="Batang"/>
              </a:rPr>
              <a:t>면</a:t>
            </a:r>
            <a:r>
              <a:rPr sz="1650" spc="-90" dirty="0">
                <a:latin typeface="Batang"/>
                <a:cs typeface="Batang"/>
              </a:rPr>
              <a:t> </a:t>
            </a:r>
            <a:r>
              <a:rPr sz="1700" spc="114" dirty="0">
                <a:latin typeface="Batang"/>
                <a:cs typeface="Batang"/>
              </a:rPr>
              <a:t>심</a:t>
            </a:r>
            <a:r>
              <a:rPr sz="1650" spc="114" dirty="0">
                <a:latin typeface="Batang"/>
                <a:cs typeface="Batang"/>
              </a:rPr>
              <a:t>리</a:t>
            </a:r>
            <a:r>
              <a:rPr sz="1650" spc="-90" dirty="0">
                <a:latin typeface="Batang"/>
                <a:cs typeface="Batang"/>
              </a:rPr>
              <a:t> </a:t>
            </a:r>
            <a:r>
              <a:rPr sz="1650" spc="145" dirty="0">
                <a:latin typeface="Batang"/>
                <a:cs typeface="Batang"/>
              </a:rPr>
              <a:t>지원</a:t>
            </a:r>
            <a:r>
              <a:rPr sz="1650" spc="-90" dirty="0">
                <a:latin typeface="Batang"/>
                <a:cs typeface="Batang"/>
              </a:rPr>
              <a:t> </a:t>
            </a:r>
            <a:r>
              <a:rPr sz="1650" spc="125" dirty="0">
                <a:latin typeface="Batang"/>
                <a:cs typeface="Batang"/>
              </a:rPr>
              <a:t>서비</a:t>
            </a:r>
            <a:r>
              <a:rPr sz="1700" spc="125" dirty="0">
                <a:latin typeface="Batang"/>
                <a:cs typeface="Batang"/>
              </a:rPr>
              <a:t>스</a:t>
            </a:r>
            <a:r>
              <a:rPr sz="1700" spc="-110" dirty="0">
                <a:latin typeface="Batang"/>
                <a:cs typeface="Batang"/>
              </a:rPr>
              <a:t> </a:t>
            </a:r>
            <a:r>
              <a:rPr sz="1650" spc="114" dirty="0">
                <a:latin typeface="Batang"/>
                <a:cs typeface="Batang"/>
              </a:rPr>
              <a:t>기</a:t>
            </a:r>
            <a:r>
              <a:rPr sz="1700" spc="114" dirty="0">
                <a:latin typeface="Batang"/>
                <a:cs typeface="Batang"/>
              </a:rPr>
              <a:t>반</a:t>
            </a:r>
            <a:r>
              <a:rPr sz="1700" spc="-110" dirty="0">
                <a:latin typeface="Batang"/>
                <a:cs typeface="Batang"/>
              </a:rPr>
              <a:t> </a:t>
            </a:r>
            <a:r>
              <a:rPr sz="1650" spc="120" dirty="0">
                <a:latin typeface="Batang"/>
                <a:cs typeface="Batang"/>
              </a:rPr>
              <a:t>마련</a:t>
            </a:r>
            <a:endParaRPr sz="16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50">
              <a:latin typeface="Batang"/>
              <a:cs typeface="Batang"/>
            </a:endParaRPr>
          </a:p>
          <a:p>
            <a:pPr marL="12700" marR="1376680">
              <a:lnSpc>
                <a:spcPct val="180600"/>
              </a:lnSpc>
              <a:spcBef>
                <a:spcPts val="5"/>
              </a:spcBef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심리상담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문화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확산과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정신건강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관리에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대한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인식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개선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시공간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제약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없는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Century Gothic"/>
                <a:cs typeface="Century Gothic"/>
              </a:rPr>
              <a:t>24/7</a:t>
            </a:r>
            <a:r>
              <a:rPr sz="1350" spc="-90" dirty="0">
                <a:solidFill>
                  <a:srgbClr val="494949"/>
                </a:solidFill>
                <a:latin typeface="Century Gothic"/>
                <a:cs typeface="Century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지원으로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위기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상황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대응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지원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사회적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취약계층이나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심리지원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사각지대에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있는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대상자들의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접근성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향상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41075" y="6436182"/>
            <a:ext cx="77660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656565"/>
                </a:solidFill>
                <a:latin typeface="Georgia"/>
                <a:cs typeface="Georgia"/>
              </a:rPr>
              <a:t>Page</a:t>
            </a:r>
            <a:r>
              <a:rPr sz="1200" spc="95" dirty="0">
                <a:solidFill>
                  <a:srgbClr val="656565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656565"/>
                </a:solidFill>
                <a:latin typeface="Georgia"/>
                <a:cs typeface="Georgia"/>
              </a:rPr>
              <a:t>1</a:t>
            </a:r>
            <a:r>
              <a:rPr lang="en-US" sz="1200" spc="-10" dirty="0">
                <a:solidFill>
                  <a:srgbClr val="656565"/>
                </a:solidFill>
                <a:latin typeface="Georgia"/>
                <a:cs typeface="Georgia"/>
              </a:rPr>
              <a:t>5</a:t>
            </a:r>
            <a:r>
              <a:rPr sz="1200" spc="-10" dirty="0">
                <a:solidFill>
                  <a:srgbClr val="656565"/>
                </a:solidFill>
                <a:latin typeface="Georgia"/>
                <a:cs typeface="Georgia"/>
              </a:rPr>
              <a:t>/18</a:t>
            </a:r>
            <a:endParaRPr sz="12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525829"/>
            <a:ext cx="9350375" cy="60208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135"/>
              </a:spcBef>
            </a:pPr>
            <a:r>
              <a:rPr sz="3800" spc="19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후속</a:t>
            </a:r>
            <a:r>
              <a:rPr sz="3800" spc="-2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3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연구</a:t>
            </a:r>
            <a:r>
              <a:rPr sz="3800" spc="-17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18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및</a:t>
            </a:r>
            <a:r>
              <a:rPr sz="3800" spc="-2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43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서비스</a:t>
            </a:r>
            <a:r>
              <a:rPr sz="3800" spc="-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19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확장</a:t>
            </a:r>
            <a:r>
              <a:rPr sz="3800" spc="-2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16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방향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2025" y="1333499"/>
            <a:ext cx="3324225" cy="3143250"/>
            <a:chOff x="962025" y="1333499"/>
            <a:chExt cx="3324225" cy="3143250"/>
          </a:xfrm>
        </p:grpSpPr>
        <p:sp>
          <p:nvSpPr>
            <p:cNvPr id="4" name="object 4"/>
            <p:cNvSpPr/>
            <p:nvPr/>
          </p:nvSpPr>
          <p:spPr>
            <a:xfrm>
              <a:off x="962025" y="1333499"/>
              <a:ext cx="3324225" cy="3143250"/>
            </a:xfrm>
            <a:custGeom>
              <a:avLst/>
              <a:gdLst/>
              <a:ahLst/>
              <a:cxnLst/>
              <a:rect l="l" t="t" r="r" b="b"/>
              <a:pathLst>
                <a:path w="3324225" h="3143250">
                  <a:moveTo>
                    <a:pt x="3253028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3067050"/>
                  </a:lnTo>
                  <a:lnTo>
                    <a:pt x="0" y="3072053"/>
                  </a:lnTo>
                  <a:lnTo>
                    <a:pt x="15622" y="3113544"/>
                  </a:lnTo>
                  <a:lnTo>
                    <a:pt x="51663" y="3139363"/>
                  </a:lnTo>
                  <a:lnTo>
                    <a:pt x="71194" y="3143250"/>
                  </a:lnTo>
                  <a:lnTo>
                    <a:pt x="3253028" y="3143250"/>
                  </a:lnTo>
                  <a:lnTo>
                    <a:pt x="3294519" y="3127629"/>
                  </a:lnTo>
                  <a:lnTo>
                    <a:pt x="3320338" y="3091586"/>
                  </a:lnTo>
                  <a:lnTo>
                    <a:pt x="3324225" y="3072053"/>
                  </a:lnTo>
                  <a:lnTo>
                    <a:pt x="3324225" y="71196"/>
                  </a:lnTo>
                  <a:lnTo>
                    <a:pt x="3308604" y="29705"/>
                  </a:lnTo>
                  <a:lnTo>
                    <a:pt x="3272561" y="3886"/>
                  </a:lnTo>
                  <a:lnTo>
                    <a:pt x="3257981" y="482"/>
                  </a:lnTo>
                  <a:lnTo>
                    <a:pt x="3253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2525" y="15239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2" y="0"/>
                  </a:moveTo>
                  <a:lnTo>
                    <a:pt x="230327" y="0"/>
                  </a:lnTo>
                  <a:lnTo>
                    <a:pt x="222542" y="381"/>
                  </a:lnTo>
                  <a:lnTo>
                    <a:pt x="184023" y="6096"/>
                  </a:lnTo>
                  <a:lnTo>
                    <a:pt x="139788" y="21107"/>
                  </a:lnTo>
                  <a:lnTo>
                    <a:pt x="99343" y="44462"/>
                  </a:lnTo>
                  <a:lnTo>
                    <a:pt x="64228" y="75260"/>
                  </a:lnTo>
                  <a:lnTo>
                    <a:pt x="35798" y="112318"/>
                  </a:lnTo>
                  <a:lnTo>
                    <a:pt x="15140" y="154203"/>
                  </a:lnTo>
                  <a:lnTo>
                    <a:pt x="3055" y="199313"/>
                  </a:lnTo>
                  <a:lnTo>
                    <a:pt x="0" y="230327"/>
                  </a:lnTo>
                  <a:lnTo>
                    <a:pt x="0" y="245922"/>
                  </a:lnTo>
                  <a:lnTo>
                    <a:pt x="6097" y="292227"/>
                  </a:lnTo>
                  <a:lnTo>
                    <a:pt x="21108" y="336461"/>
                  </a:lnTo>
                  <a:lnTo>
                    <a:pt x="44465" y="376897"/>
                  </a:lnTo>
                  <a:lnTo>
                    <a:pt x="75257" y="412026"/>
                  </a:lnTo>
                  <a:lnTo>
                    <a:pt x="112316" y="440448"/>
                  </a:lnTo>
                  <a:lnTo>
                    <a:pt x="154203" y="461111"/>
                  </a:lnTo>
                  <a:lnTo>
                    <a:pt x="199326" y="473189"/>
                  </a:lnTo>
                  <a:lnTo>
                    <a:pt x="230327" y="476250"/>
                  </a:lnTo>
                  <a:lnTo>
                    <a:pt x="245922" y="476250"/>
                  </a:lnTo>
                  <a:lnTo>
                    <a:pt x="292227" y="470154"/>
                  </a:lnTo>
                  <a:lnTo>
                    <a:pt x="336461" y="455129"/>
                  </a:lnTo>
                  <a:lnTo>
                    <a:pt x="376897" y="431787"/>
                  </a:lnTo>
                  <a:lnTo>
                    <a:pt x="412026" y="400989"/>
                  </a:lnTo>
                  <a:lnTo>
                    <a:pt x="440448" y="363931"/>
                  </a:lnTo>
                  <a:lnTo>
                    <a:pt x="461111" y="322046"/>
                  </a:lnTo>
                  <a:lnTo>
                    <a:pt x="473189" y="276923"/>
                  </a:lnTo>
                  <a:lnTo>
                    <a:pt x="476250" y="245922"/>
                  </a:lnTo>
                  <a:lnTo>
                    <a:pt x="476250" y="238125"/>
                  </a:lnTo>
                  <a:lnTo>
                    <a:pt x="476250" y="230327"/>
                  </a:lnTo>
                  <a:lnTo>
                    <a:pt x="470154" y="184023"/>
                  </a:lnTo>
                  <a:lnTo>
                    <a:pt x="455142" y="139788"/>
                  </a:lnTo>
                  <a:lnTo>
                    <a:pt x="431787" y="99339"/>
                  </a:lnTo>
                  <a:lnTo>
                    <a:pt x="400989" y="64223"/>
                  </a:lnTo>
                  <a:lnTo>
                    <a:pt x="363931" y="35801"/>
                  </a:lnTo>
                  <a:lnTo>
                    <a:pt x="322046" y="15138"/>
                  </a:lnTo>
                  <a:lnTo>
                    <a:pt x="276923" y="3060"/>
                  </a:lnTo>
                  <a:lnTo>
                    <a:pt x="253707" y="381"/>
                  </a:lnTo>
                  <a:lnTo>
                    <a:pt x="245922" y="0"/>
                  </a:lnTo>
                  <a:close/>
                </a:path>
              </a:pathLst>
            </a:custGeom>
            <a:solidFill>
              <a:srgbClr val="DBEA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6349" y="1647824"/>
              <a:ext cx="228600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962025" y="4762500"/>
            <a:ext cx="10267950" cy="1247775"/>
            <a:chOff x="962025" y="4762500"/>
            <a:chExt cx="10267950" cy="1247775"/>
          </a:xfrm>
        </p:grpSpPr>
        <p:sp>
          <p:nvSpPr>
            <p:cNvPr id="8" name="object 8"/>
            <p:cNvSpPr/>
            <p:nvPr/>
          </p:nvSpPr>
          <p:spPr>
            <a:xfrm>
              <a:off x="962025" y="4762500"/>
              <a:ext cx="10267950" cy="1247775"/>
            </a:xfrm>
            <a:custGeom>
              <a:avLst/>
              <a:gdLst/>
              <a:ahLst/>
              <a:cxnLst/>
              <a:rect l="l" t="t" r="r" b="b"/>
              <a:pathLst>
                <a:path w="10267950" h="1247775">
                  <a:moveTo>
                    <a:pt x="10196753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1171575"/>
                  </a:lnTo>
                  <a:lnTo>
                    <a:pt x="0" y="1176575"/>
                  </a:lnTo>
                  <a:lnTo>
                    <a:pt x="15622" y="1218068"/>
                  </a:lnTo>
                  <a:lnTo>
                    <a:pt x="51663" y="1243885"/>
                  </a:lnTo>
                  <a:lnTo>
                    <a:pt x="71194" y="1247775"/>
                  </a:lnTo>
                  <a:lnTo>
                    <a:pt x="10196753" y="1247775"/>
                  </a:lnTo>
                  <a:lnTo>
                    <a:pt x="10238244" y="1232152"/>
                  </a:lnTo>
                  <a:lnTo>
                    <a:pt x="10264063" y="1196111"/>
                  </a:lnTo>
                  <a:lnTo>
                    <a:pt x="10267950" y="1176575"/>
                  </a:lnTo>
                  <a:lnTo>
                    <a:pt x="10267950" y="71196"/>
                  </a:lnTo>
                  <a:lnTo>
                    <a:pt x="10252329" y="29705"/>
                  </a:lnTo>
                  <a:lnTo>
                    <a:pt x="10216286" y="3886"/>
                  </a:lnTo>
                  <a:lnTo>
                    <a:pt x="10201706" y="482"/>
                  </a:lnTo>
                  <a:lnTo>
                    <a:pt x="10196753" y="0"/>
                  </a:lnTo>
                  <a:close/>
                </a:path>
              </a:pathLst>
            </a:custGeom>
            <a:solidFill>
              <a:srgbClr val="3B81F6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524" y="5000625"/>
              <a:ext cx="219075" cy="1905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39825" y="2164432"/>
            <a:ext cx="122555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145" dirty="0">
                <a:latin typeface="Batang"/>
                <a:cs typeface="Batang"/>
              </a:rPr>
              <a:t>상용화</a:t>
            </a:r>
            <a:r>
              <a:rPr sz="1650" spc="-90" dirty="0">
                <a:latin typeface="Batang"/>
                <a:cs typeface="Batang"/>
              </a:rPr>
              <a:t> </a:t>
            </a:r>
            <a:r>
              <a:rPr sz="1650" spc="120" dirty="0">
                <a:latin typeface="Batang"/>
                <a:cs typeface="Batang"/>
              </a:rPr>
              <a:t>방향</a:t>
            </a:r>
            <a:endParaRPr sz="1650" dirty="0">
              <a:latin typeface="Batang"/>
              <a:cs typeface="Batang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5575" y="2545429"/>
            <a:ext cx="2616200" cy="520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0" marR="5080" indent="-158750">
              <a:lnSpc>
                <a:spcPct val="125000"/>
              </a:lnSpc>
              <a:spcBef>
                <a:spcPts val="9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8415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대학</a:t>
            </a:r>
            <a:r>
              <a:rPr sz="1250" spc="-9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상담센터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sz="1300" spc="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지자체</a:t>
            </a:r>
            <a:r>
              <a:rPr sz="1250" spc="-9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Malgun Gothic"/>
                <a:cs typeface="Malgun Gothic"/>
              </a:rPr>
              <a:t>정신건강센 	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터에</a:t>
            </a:r>
            <a:r>
              <a:rPr sz="1250" spc="-10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00" spc="-40" dirty="0">
                <a:solidFill>
                  <a:srgbClr val="494949"/>
                </a:solidFill>
                <a:latin typeface="Arial"/>
                <a:cs typeface="Arial"/>
              </a:rPr>
              <a:t>API</a:t>
            </a:r>
            <a:r>
              <a:rPr sz="1300" spc="1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형태로</a:t>
            </a:r>
            <a:r>
              <a:rPr sz="1250" spc="-10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제공</a:t>
            </a:r>
            <a:endParaRPr sz="1250" dirty="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25575" y="3096722"/>
            <a:ext cx="2578100" cy="48186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1450" marR="5080" indent="-158750">
              <a:lnSpc>
                <a:spcPct val="128200"/>
              </a:lnSpc>
              <a:spcBef>
                <a:spcPts val="12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84150" algn="l"/>
              </a:tabLst>
            </a:pPr>
            <a:r>
              <a:rPr lang="en-US" altLang="ko-KR" sz="1250" dirty="0">
                <a:solidFill>
                  <a:srgbClr val="494949"/>
                </a:solidFill>
                <a:latin typeface="Malgun Gothic"/>
                <a:cs typeface="Malgun Gothic"/>
              </a:rPr>
              <a:t>‘</a:t>
            </a:r>
            <a:r>
              <a:rPr lang="ko-KR" altLang="en-US" sz="1250" dirty="0" err="1">
                <a:solidFill>
                  <a:srgbClr val="494949"/>
                </a:solidFill>
                <a:latin typeface="Malgun Gothic"/>
                <a:cs typeface="Malgun Gothic"/>
              </a:rPr>
              <a:t>상냥이</a:t>
            </a:r>
            <a:r>
              <a:rPr lang="en-US" altLang="ko-KR" sz="1250" dirty="0">
                <a:solidFill>
                  <a:srgbClr val="494949"/>
                </a:solidFill>
                <a:latin typeface="Malgun Gothic"/>
                <a:cs typeface="Malgun Gothic"/>
              </a:rPr>
              <a:t>’,’</a:t>
            </a:r>
            <a:r>
              <a:rPr lang="ko-KR" altLang="en-US" sz="1250" dirty="0">
                <a:solidFill>
                  <a:srgbClr val="494949"/>
                </a:solidFill>
                <a:latin typeface="Malgun Gothic"/>
                <a:cs typeface="Malgun Gothic"/>
              </a:rPr>
              <a:t>마음이</a:t>
            </a:r>
            <a:r>
              <a:rPr lang="en-US" altLang="ko-KR" sz="1250" dirty="0">
                <a:solidFill>
                  <a:srgbClr val="494949"/>
                </a:solidFill>
                <a:latin typeface="Malgun Gothic"/>
                <a:cs typeface="Malgun Gothic"/>
              </a:rPr>
              <a:t>’ </a:t>
            </a:r>
            <a:r>
              <a:rPr lang="ko-KR" altLang="en-US"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처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럼</a:t>
            </a:r>
            <a:r>
              <a:rPr sz="1250" spc="-10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모바일</a:t>
            </a:r>
            <a:r>
              <a:rPr sz="1250" spc="-9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앱</a:t>
            </a:r>
            <a:r>
              <a:rPr sz="1250" spc="-9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 err="1">
                <a:solidFill>
                  <a:srgbClr val="494949"/>
                </a:solidFill>
                <a:latin typeface="Malgun Gothic"/>
                <a:cs typeface="Malgun Gothic"/>
              </a:rPr>
              <a:t>통합</a:t>
            </a:r>
            <a:r>
              <a:rPr lang="en-US" sz="1250" spc="-9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0" dirty="0" err="1">
                <a:solidFill>
                  <a:srgbClr val="494949"/>
                </a:solidFill>
                <a:latin typeface="Malgun Gothic"/>
                <a:cs typeface="Malgun Gothic"/>
              </a:rPr>
              <a:t>서비스화</a:t>
            </a:r>
            <a:endParaRPr lang="en-US" sz="1250" spc="-20" dirty="0">
              <a:solidFill>
                <a:srgbClr val="494949"/>
              </a:solidFill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38650" y="1343024"/>
            <a:ext cx="3314700" cy="3143250"/>
            <a:chOff x="4438650" y="1333499"/>
            <a:chExt cx="3314700" cy="3143250"/>
          </a:xfrm>
        </p:grpSpPr>
        <p:sp>
          <p:nvSpPr>
            <p:cNvPr id="14" name="object 14"/>
            <p:cNvSpPr/>
            <p:nvPr/>
          </p:nvSpPr>
          <p:spPr>
            <a:xfrm>
              <a:off x="4438650" y="1333499"/>
              <a:ext cx="3314700" cy="3143250"/>
            </a:xfrm>
            <a:custGeom>
              <a:avLst/>
              <a:gdLst/>
              <a:ahLst/>
              <a:cxnLst/>
              <a:rect l="l" t="t" r="r" b="b"/>
              <a:pathLst>
                <a:path w="3314700" h="3143250">
                  <a:moveTo>
                    <a:pt x="3243503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3067050"/>
                  </a:lnTo>
                  <a:lnTo>
                    <a:pt x="0" y="3072053"/>
                  </a:lnTo>
                  <a:lnTo>
                    <a:pt x="15621" y="3113544"/>
                  </a:lnTo>
                  <a:lnTo>
                    <a:pt x="51663" y="3139363"/>
                  </a:lnTo>
                  <a:lnTo>
                    <a:pt x="71196" y="3143250"/>
                  </a:lnTo>
                  <a:lnTo>
                    <a:pt x="3243503" y="3143250"/>
                  </a:lnTo>
                  <a:lnTo>
                    <a:pt x="3284994" y="3127629"/>
                  </a:lnTo>
                  <a:lnTo>
                    <a:pt x="3310813" y="3091586"/>
                  </a:lnTo>
                  <a:lnTo>
                    <a:pt x="3314700" y="3072053"/>
                  </a:lnTo>
                  <a:lnTo>
                    <a:pt x="3314700" y="71196"/>
                  </a:lnTo>
                  <a:lnTo>
                    <a:pt x="3299079" y="29705"/>
                  </a:lnTo>
                  <a:lnTo>
                    <a:pt x="3263036" y="3886"/>
                  </a:lnTo>
                  <a:lnTo>
                    <a:pt x="3248456" y="482"/>
                  </a:lnTo>
                  <a:lnTo>
                    <a:pt x="32435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29150" y="15239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2" y="0"/>
                  </a:moveTo>
                  <a:lnTo>
                    <a:pt x="230327" y="0"/>
                  </a:lnTo>
                  <a:lnTo>
                    <a:pt x="222542" y="381"/>
                  </a:lnTo>
                  <a:lnTo>
                    <a:pt x="184023" y="6096"/>
                  </a:lnTo>
                  <a:lnTo>
                    <a:pt x="139788" y="21107"/>
                  </a:lnTo>
                  <a:lnTo>
                    <a:pt x="99339" y="44462"/>
                  </a:lnTo>
                  <a:lnTo>
                    <a:pt x="64223" y="75260"/>
                  </a:lnTo>
                  <a:lnTo>
                    <a:pt x="35801" y="112318"/>
                  </a:lnTo>
                  <a:lnTo>
                    <a:pt x="15138" y="154203"/>
                  </a:lnTo>
                  <a:lnTo>
                    <a:pt x="3048" y="199313"/>
                  </a:lnTo>
                  <a:lnTo>
                    <a:pt x="0" y="230327"/>
                  </a:lnTo>
                  <a:lnTo>
                    <a:pt x="0" y="245922"/>
                  </a:lnTo>
                  <a:lnTo>
                    <a:pt x="6096" y="292227"/>
                  </a:lnTo>
                  <a:lnTo>
                    <a:pt x="21107" y="336461"/>
                  </a:lnTo>
                  <a:lnTo>
                    <a:pt x="44462" y="376897"/>
                  </a:lnTo>
                  <a:lnTo>
                    <a:pt x="75260" y="412026"/>
                  </a:lnTo>
                  <a:lnTo>
                    <a:pt x="112318" y="440448"/>
                  </a:lnTo>
                  <a:lnTo>
                    <a:pt x="154203" y="461111"/>
                  </a:lnTo>
                  <a:lnTo>
                    <a:pt x="199313" y="473189"/>
                  </a:lnTo>
                  <a:lnTo>
                    <a:pt x="230327" y="476250"/>
                  </a:lnTo>
                  <a:lnTo>
                    <a:pt x="245922" y="476250"/>
                  </a:lnTo>
                  <a:lnTo>
                    <a:pt x="292227" y="470154"/>
                  </a:lnTo>
                  <a:lnTo>
                    <a:pt x="336461" y="455129"/>
                  </a:lnTo>
                  <a:lnTo>
                    <a:pt x="376897" y="431787"/>
                  </a:lnTo>
                  <a:lnTo>
                    <a:pt x="412026" y="400989"/>
                  </a:lnTo>
                  <a:lnTo>
                    <a:pt x="440448" y="363931"/>
                  </a:lnTo>
                  <a:lnTo>
                    <a:pt x="461111" y="322046"/>
                  </a:lnTo>
                  <a:lnTo>
                    <a:pt x="473189" y="276923"/>
                  </a:lnTo>
                  <a:lnTo>
                    <a:pt x="476250" y="245922"/>
                  </a:lnTo>
                  <a:lnTo>
                    <a:pt x="476250" y="238125"/>
                  </a:lnTo>
                  <a:lnTo>
                    <a:pt x="476250" y="230327"/>
                  </a:lnTo>
                  <a:lnTo>
                    <a:pt x="470154" y="184023"/>
                  </a:lnTo>
                  <a:lnTo>
                    <a:pt x="455142" y="139788"/>
                  </a:lnTo>
                  <a:lnTo>
                    <a:pt x="431787" y="99339"/>
                  </a:lnTo>
                  <a:lnTo>
                    <a:pt x="400989" y="64223"/>
                  </a:lnTo>
                  <a:lnTo>
                    <a:pt x="363931" y="35801"/>
                  </a:lnTo>
                  <a:lnTo>
                    <a:pt x="322046" y="15138"/>
                  </a:lnTo>
                  <a:lnTo>
                    <a:pt x="276923" y="3060"/>
                  </a:lnTo>
                  <a:lnTo>
                    <a:pt x="253707" y="381"/>
                  </a:lnTo>
                  <a:lnTo>
                    <a:pt x="245922" y="0"/>
                  </a:lnTo>
                  <a:close/>
                </a:path>
              </a:pathLst>
            </a:custGeom>
            <a:solidFill>
              <a:srgbClr val="E0F2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4399" y="1647824"/>
              <a:ext cx="285750" cy="2286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613325" y="2164432"/>
            <a:ext cx="1371550" cy="2705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375" dirty="0">
                <a:latin typeface="Batang"/>
                <a:cs typeface="Batang"/>
              </a:rPr>
              <a:t>고도화</a:t>
            </a:r>
            <a:r>
              <a:rPr sz="1650" spc="-90" dirty="0">
                <a:latin typeface="Batang"/>
                <a:cs typeface="Batang"/>
              </a:rPr>
              <a:t> </a:t>
            </a:r>
            <a:r>
              <a:rPr sz="1650" spc="120" dirty="0">
                <a:latin typeface="Batang"/>
                <a:cs typeface="Batang"/>
              </a:rPr>
              <a:t>방향</a:t>
            </a:r>
            <a:endParaRPr sz="1650" dirty="0">
              <a:latin typeface="Batang"/>
              <a:cs typeface="Batang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99075" y="2545429"/>
            <a:ext cx="2549525" cy="520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0" marR="5080" indent="-158750">
              <a:lnSpc>
                <a:spcPct val="125000"/>
              </a:lnSpc>
              <a:spcBef>
                <a:spcPts val="9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8415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멀티모달</a:t>
            </a:r>
            <a:r>
              <a:rPr sz="1250" spc="-9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AI</a:t>
            </a:r>
            <a:r>
              <a:rPr sz="1300" spc="2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적용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(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음성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0" dirty="0">
                <a:solidFill>
                  <a:srgbClr val="494949"/>
                </a:solidFill>
                <a:latin typeface="Malgun Gothic"/>
                <a:cs typeface="Malgun Gothic"/>
              </a:rPr>
              <a:t>감정</a:t>
            </a:r>
            <a:r>
              <a:rPr sz="1300" spc="-20" dirty="0">
                <a:solidFill>
                  <a:srgbClr val="494949"/>
                </a:solidFill>
                <a:latin typeface="Arial"/>
                <a:cs typeface="Arial"/>
              </a:rPr>
              <a:t>·</a:t>
            </a:r>
            <a:r>
              <a:rPr sz="1250" spc="-20" dirty="0">
                <a:solidFill>
                  <a:srgbClr val="494949"/>
                </a:solidFill>
                <a:latin typeface="Malgun Gothic"/>
                <a:cs typeface="Malgun Gothic"/>
              </a:rPr>
              <a:t>표정 	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인식</a:t>
            </a:r>
            <a:r>
              <a:rPr sz="1250" spc="-9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포함</a:t>
            </a:r>
            <a:r>
              <a:rPr sz="1300" spc="-25" dirty="0">
                <a:solidFill>
                  <a:srgbClr val="494949"/>
                </a:solidFill>
                <a:latin typeface="Arial"/>
                <a:cs typeface="Arial"/>
              </a:rPr>
              <a:t>)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99075" y="3107404"/>
            <a:ext cx="2673350" cy="520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0" marR="5080" indent="-158750">
              <a:lnSpc>
                <a:spcPct val="125000"/>
              </a:lnSpc>
              <a:spcBef>
                <a:spcPts val="9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8415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대화형</a:t>
            </a:r>
            <a:r>
              <a:rPr sz="1250" spc="-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00" spc="-35" dirty="0">
                <a:solidFill>
                  <a:srgbClr val="494949"/>
                </a:solidFill>
                <a:latin typeface="Arial"/>
                <a:cs typeface="Arial"/>
              </a:rPr>
              <a:t>LLM(Large</a:t>
            </a:r>
            <a:r>
              <a:rPr sz="1300" spc="-2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Language 	Model)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기반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맞춤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치료</a:t>
            </a:r>
            <a:r>
              <a:rPr sz="1250" spc="-9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시나리오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50" dirty="0">
                <a:solidFill>
                  <a:srgbClr val="494949"/>
                </a:solidFill>
                <a:latin typeface="Malgun Gothic"/>
                <a:cs typeface="Malgun Gothic"/>
              </a:rPr>
              <a:t>자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70525" y="3644900"/>
            <a:ext cx="54927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동</a:t>
            </a:r>
            <a:r>
              <a:rPr sz="1250" spc="-114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생성</a:t>
            </a:r>
            <a:endParaRPr sz="1250">
              <a:latin typeface="Malgun Gothic"/>
              <a:cs typeface="Malgun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905750" y="1333499"/>
            <a:ext cx="3324225" cy="3143250"/>
            <a:chOff x="7905750" y="1333499"/>
            <a:chExt cx="3324225" cy="3143250"/>
          </a:xfrm>
        </p:grpSpPr>
        <p:sp>
          <p:nvSpPr>
            <p:cNvPr id="22" name="object 22"/>
            <p:cNvSpPr/>
            <p:nvPr/>
          </p:nvSpPr>
          <p:spPr>
            <a:xfrm>
              <a:off x="7905750" y="1333499"/>
              <a:ext cx="3324225" cy="3143250"/>
            </a:xfrm>
            <a:custGeom>
              <a:avLst/>
              <a:gdLst/>
              <a:ahLst/>
              <a:cxnLst/>
              <a:rect l="l" t="t" r="r" b="b"/>
              <a:pathLst>
                <a:path w="3324225" h="3143250">
                  <a:moveTo>
                    <a:pt x="3253028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3067050"/>
                  </a:lnTo>
                  <a:lnTo>
                    <a:pt x="0" y="3072053"/>
                  </a:lnTo>
                  <a:lnTo>
                    <a:pt x="15621" y="3113544"/>
                  </a:lnTo>
                  <a:lnTo>
                    <a:pt x="51663" y="3139363"/>
                  </a:lnTo>
                  <a:lnTo>
                    <a:pt x="71196" y="3143250"/>
                  </a:lnTo>
                  <a:lnTo>
                    <a:pt x="3253028" y="3143250"/>
                  </a:lnTo>
                  <a:lnTo>
                    <a:pt x="3294519" y="3127629"/>
                  </a:lnTo>
                  <a:lnTo>
                    <a:pt x="3320338" y="3091586"/>
                  </a:lnTo>
                  <a:lnTo>
                    <a:pt x="3324225" y="3072053"/>
                  </a:lnTo>
                  <a:lnTo>
                    <a:pt x="3324225" y="71196"/>
                  </a:lnTo>
                  <a:lnTo>
                    <a:pt x="3308604" y="29705"/>
                  </a:lnTo>
                  <a:lnTo>
                    <a:pt x="3272561" y="3886"/>
                  </a:lnTo>
                  <a:lnTo>
                    <a:pt x="3257981" y="482"/>
                  </a:lnTo>
                  <a:lnTo>
                    <a:pt x="3253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96250" y="15239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2" y="0"/>
                  </a:moveTo>
                  <a:lnTo>
                    <a:pt x="230327" y="0"/>
                  </a:lnTo>
                  <a:lnTo>
                    <a:pt x="222542" y="381"/>
                  </a:lnTo>
                  <a:lnTo>
                    <a:pt x="184023" y="6096"/>
                  </a:lnTo>
                  <a:lnTo>
                    <a:pt x="139788" y="21107"/>
                  </a:lnTo>
                  <a:lnTo>
                    <a:pt x="99339" y="44462"/>
                  </a:lnTo>
                  <a:lnTo>
                    <a:pt x="64223" y="75260"/>
                  </a:lnTo>
                  <a:lnTo>
                    <a:pt x="35801" y="112318"/>
                  </a:lnTo>
                  <a:lnTo>
                    <a:pt x="15138" y="154203"/>
                  </a:lnTo>
                  <a:lnTo>
                    <a:pt x="3048" y="199313"/>
                  </a:lnTo>
                  <a:lnTo>
                    <a:pt x="0" y="230327"/>
                  </a:lnTo>
                  <a:lnTo>
                    <a:pt x="0" y="245922"/>
                  </a:lnTo>
                  <a:lnTo>
                    <a:pt x="6096" y="292227"/>
                  </a:lnTo>
                  <a:lnTo>
                    <a:pt x="21107" y="336461"/>
                  </a:lnTo>
                  <a:lnTo>
                    <a:pt x="44462" y="376897"/>
                  </a:lnTo>
                  <a:lnTo>
                    <a:pt x="75260" y="412026"/>
                  </a:lnTo>
                  <a:lnTo>
                    <a:pt x="112318" y="440448"/>
                  </a:lnTo>
                  <a:lnTo>
                    <a:pt x="154203" y="461111"/>
                  </a:lnTo>
                  <a:lnTo>
                    <a:pt x="199313" y="473189"/>
                  </a:lnTo>
                  <a:lnTo>
                    <a:pt x="230327" y="476250"/>
                  </a:lnTo>
                  <a:lnTo>
                    <a:pt x="245922" y="476250"/>
                  </a:lnTo>
                  <a:lnTo>
                    <a:pt x="292227" y="470154"/>
                  </a:lnTo>
                  <a:lnTo>
                    <a:pt x="336461" y="455129"/>
                  </a:lnTo>
                  <a:lnTo>
                    <a:pt x="376897" y="431787"/>
                  </a:lnTo>
                  <a:lnTo>
                    <a:pt x="412013" y="400989"/>
                  </a:lnTo>
                  <a:lnTo>
                    <a:pt x="440448" y="363931"/>
                  </a:lnTo>
                  <a:lnTo>
                    <a:pt x="461111" y="322046"/>
                  </a:lnTo>
                  <a:lnTo>
                    <a:pt x="473189" y="276923"/>
                  </a:lnTo>
                  <a:lnTo>
                    <a:pt x="476250" y="245922"/>
                  </a:lnTo>
                  <a:lnTo>
                    <a:pt x="476250" y="238125"/>
                  </a:lnTo>
                  <a:lnTo>
                    <a:pt x="476250" y="230327"/>
                  </a:lnTo>
                  <a:lnTo>
                    <a:pt x="470154" y="184023"/>
                  </a:lnTo>
                  <a:lnTo>
                    <a:pt x="455142" y="139788"/>
                  </a:lnTo>
                  <a:lnTo>
                    <a:pt x="431787" y="99339"/>
                  </a:lnTo>
                  <a:lnTo>
                    <a:pt x="400989" y="64223"/>
                  </a:lnTo>
                  <a:lnTo>
                    <a:pt x="363931" y="35801"/>
                  </a:lnTo>
                  <a:lnTo>
                    <a:pt x="322046" y="15138"/>
                  </a:lnTo>
                  <a:lnTo>
                    <a:pt x="276923" y="3060"/>
                  </a:lnTo>
                  <a:lnTo>
                    <a:pt x="253707" y="381"/>
                  </a:lnTo>
                  <a:lnTo>
                    <a:pt x="245922" y="0"/>
                  </a:lnTo>
                  <a:close/>
                </a:path>
              </a:pathLst>
            </a:custGeom>
            <a:solidFill>
              <a:srgbClr val="DC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0074" y="1647824"/>
              <a:ext cx="228600" cy="2286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086826" y="2162646"/>
            <a:ext cx="122555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125" dirty="0">
                <a:latin typeface="Batang"/>
                <a:cs typeface="Batang"/>
              </a:rPr>
              <a:t>지속</a:t>
            </a:r>
            <a:r>
              <a:rPr sz="1700" spc="125" dirty="0">
                <a:latin typeface="Batang"/>
                <a:cs typeface="Batang"/>
              </a:rPr>
              <a:t>적</a:t>
            </a:r>
            <a:r>
              <a:rPr sz="1700" spc="-114" dirty="0">
                <a:latin typeface="Batang"/>
                <a:cs typeface="Batang"/>
              </a:rPr>
              <a:t> </a:t>
            </a:r>
            <a:r>
              <a:rPr sz="1650" spc="80" dirty="0">
                <a:latin typeface="Batang"/>
                <a:cs typeface="Batang"/>
              </a:rPr>
              <a:t>발</a:t>
            </a:r>
            <a:r>
              <a:rPr sz="1700" spc="80" dirty="0">
                <a:latin typeface="Batang"/>
                <a:cs typeface="Batang"/>
              </a:rPr>
              <a:t>전</a:t>
            </a:r>
            <a:endParaRPr sz="1700">
              <a:latin typeface="Batang"/>
              <a:cs typeface="Batang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10" dirty="0"/>
              <a:t>16</a:t>
            </a:fld>
            <a:r>
              <a:rPr spc="-10" dirty="0"/>
              <a:t>/18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372576" y="2543810"/>
            <a:ext cx="2654300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0" marR="5080" indent="-158750">
              <a:lnSpc>
                <a:spcPct val="130000"/>
              </a:lnSpc>
              <a:spcBef>
                <a:spcPts val="9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8415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사용자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피드백</a:t>
            </a:r>
            <a:r>
              <a:rPr sz="1250" spc="-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기반</a:t>
            </a:r>
            <a:r>
              <a:rPr sz="1250" spc="-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주기적</a:t>
            </a:r>
            <a:r>
              <a:rPr sz="1250" spc="-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모델</a:t>
            </a:r>
            <a:r>
              <a:rPr sz="1250" spc="-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50" dirty="0">
                <a:solidFill>
                  <a:srgbClr val="494949"/>
                </a:solidFill>
                <a:latin typeface="Malgun Gothic"/>
                <a:cs typeface="Malgun Gothic"/>
              </a:rPr>
              <a:t>재 	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학습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72576" y="3107404"/>
            <a:ext cx="2673350" cy="520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0" marR="5080" indent="-158750">
              <a:lnSpc>
                <a:spcPct val="125000"/>
              </a:lnSpc>
              <a:spcBef>
                <a:spcPts val="9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8415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윤리적</a:t>
            </a:r>
            <a:r>
              <a:rPr sz="1250" spc="-6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AI(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데이터</a:t>
            </a:r>
            <a:r>
              <a:rPr sz="1250" spc="-5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Malgun Gothic"/>
                <a:cs typeface="Malgun Gothic"/>
              </a:rPr>
              <a:t>보호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·</a:t>
            </a:r>
            <a:r>
              <a:rPr sz="1250" spc="-10" dirty="0">
                <a:solidFill>
                  <a:srgbClr val="494949"/>
                </a:solidFill>
                <a:latin typeface="Malgun Gothic"/>
                <a:cs typeface="Malgun Gothic"/>
              </a:rPr>
              <a:t>비판적</a:t>
            </a:r>
            <a:r>
              <a:rPr sz="1250" spc="-6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발언 	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필터링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)</a:t>
            </a:r>
            <a:r>
              <a:rPr sz="1300" spc="1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체계</a:t>
            </a:r>
            <a:r>
              <a:rPr sz="1250" spc="-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강화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72576" y="3658696"/>
            <a:ext cx="2625725" cy="530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1450" marR="5080" indent="-158750">
              <a:lnSpc>
                <a:spcPct val="128200"/>
              </a:lnSpc>
              <a:spcBef>
                <a:spcPts val="12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84150" algn="l"/>
              </a:tabLst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장기</a:t>
            </a:r>
            <a:r>
              <a:rPr sz="1250" spc="-10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추적</a:t>
            </a:r>
            <a:r>
              <a:rPr sz="1250" spc="-9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Malgun Gothic"/>
                <a:cs typeface="Malgun Gothic"/>
              </a:rPr>
              <a:t>연구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(6</a:t>
            </a:r>
            <a:r>
              <a:rPr sz="1250" spc="-10" dirty="0">
                <a:solidFill>
                  <a:srgbClr val="494949"/>
                </a:solidFill>
                <a:latin typeface="Malgun Gothic"/>
                <a:cs typeface="Malgun Gothic"/>
              </a:rPr>
              <a:t>개월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~1</a:t>
            </a:r>
            <a:r>
              <a:rPr sz="1250" spc="-10" dirty="0">
                <a:solidFill>
                  <a:srgbClr val="494949"/>
                </a:solidFill>
                <a:latin typeface="Malgun Gothic"/>
                <a:cs typeface="Malgun Gothic"/>
              </a:rPr>
              <a:t>년</a:t>
            </a:r>
            <a:r>
              <a:rPr sz="1250" spc="-10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0" dirty="0">
                <a:solidFill>
                  <a:srgbClr val="494949"/>
                </a:solidFill>
                <a:latin typeface="Malgun Gothic"/>
                <a:cs typeface="Malgun Gothic"/>
              </a:rPr>
              <a:t>단위</a:t>
            </a:r>
            <a:r>
              <a:rPr sz="1300" spc="-20" dirty="0">
                <a:solidFill>
                  <a:srgbClr val="494949"/>
                </a:solidFill>
                <a:latin typeface="Arial"/>
                <a:cs typeface="Arial"/>
              </a:rPr>
              <a:t>)</a:t>
            </a:r>
            <a:r>
              <a:rPr sz="1250" spc="-20" dirty="0">
                <a:solidFill>
                  <a:srgbClr val="494949"/>
                </a:solidFill>
                <a:latin typeface="Malgun Gothic"/>
                <a:cs typeface="Malgun Gothic"/>
              </a:rPr>
              <a:t>로 	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치료</a:t>
            </a:r>
            <a:r>
              <a:rPr sz="1250" spc="-9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지속</a:t>
            </a:r>
            <a:r>
              <a:rPr sz="1250" spc="-9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효과</a:t>
            </a:r>
            <a:r>
              <a:rPr sz="1250" spc="-9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검증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9825" y="4970326"/>
            <a:ext cx="9779000" cy="8280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110"/>
              </a:spcBef>
            </a:pPr>
            <a:r>
              <a:rPr sz="1400" spc="95" dirty="0">
                <a:solidFill>
                  <a:srgbClr val="2462EB"/>
                </a:solidFill>
                <a:latin typeface="Batang"/>
                <a:cs typeface="Batang"/>
              </a:rPr>
              <a:t>장기적</a:t>
            </a:r>
            <a:r>
              <a:rPr sz="1400" spc="-90" dirty="0">
                <a:solidFill>
                  <a:srgbClr val="2462EB"/>
                </a:solidFill>
                <a:latin typeface="Batang"/>
                <a:cs typeface="Batang"/>
              </a:rPr>
              <a:t> </a:t>
            </a:r>
            <a:r>
              <a:rPr sz="1400" spc="60" dirty="0">
                <a:solidFill>
                  <a:srgbClr val="2462EB"/>
                </a:solidFill>
                <a:latin typeface="Batang"/>
                <a:cs typeface="Batang"/>
              </a:rPr>
              <a:t>비전</a:t>
            </a:r>
            <a:endParaRPr sz="140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50">
              <a:latin typeface="Batang"/>
              <a:cs typeface="Batang"/>
            </a:endParaRPr>
          </a:p>
          <a:p>
            <a:pPr marL="12700" marR="5080">
              <a:lnSpc>
                <a:spcPct val="130000"/>
              </a:lnSpc>
            </a:pPr>
            <a:r>
              <a:rPr sz="1200" spc="55" dirty="0">
                <a:solidFill>
                  <a:srgbClr val="374050"/>
                </a:solidFill>
                <a:latin typeface="Cambria"/>
                <a:cs typeface="Cambria"/>
              </a:rPr>
              <a:t>AI</a:t>
            </a:r>
            <a:r>
              <a:rPr sz="1200" spc="145" dirty="0">
                <a:solidFill>
                  <a:srgbClr val="374050"/>
                </a:solidFill>
                <a:latin typeface="Cambria"/>
                <a:cs typeface="Cambria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심리상담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기술의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발전과</a:t>
            </a:r>
            <a:r>
              <a:rPr sz="125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임상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검증이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축적됨에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따라</a:t>
            </a:r>
            <a:r>
              <a:rPr sz="1200" dirty="0">
                <a:solidFill>
                  <a:srgbClr val="374050"/>
                </a:solidFill>
                <a:latin typeface="Cambria"/>
                <a:cs typeface="Cambria"/>
              </a:rPr>
              <a:t>,</a:t>
            </a:r>
            <a:r>
              <a:rPr sz="1200" spc="125" dirty="0">
                <a:solidFill>
                  <a:srgbClr val="374050"/>
                </a:solidFill>
                <a:latin typeface="Cambria"/>
                <a:cs typeface="Cambria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종합적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정신건강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관리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플랫폼으로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확장하여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spc="55" dirty="0">
                <a:solidFill>
                  <a:srgbClr val="374050"/>
                </a:solidFill>
                <a:latin typeface="Malgun Gothic"/>
                <a:cs typeface="Malgun Gothic"/>
              </a:rPr>
              <a:t>예방</a:t>
            </a:r>
            <a:r>
              <a:rPr sz="1200" spc="55" dirty="0">
                <a:solidFill>
                  <a:srgbClr val="374050"/>
                </a:solidFill>
                <a:latin typeface="Cambria"/>
                <a:cs typeface="Cambria"/>
              </a:rPr>
              <a:t>-</a:t>
            </a:r>
            <a:r>
              <a:rPr sz="1250" spc="55" dirty="0">
                <a:solidFill>
                  <a:srgbClr val="374050"/>
                </a:solidFill>
                <a:latin typeface="Malgun Gothic"/>
                <a:cs typeface="Malgun Gothic"/>
              </a:rPr>
              <a:t>진단</a:t>
            </a:r>
            <a:r>
              <a:rPr sz="1200" spc="55" dirty="0">
                <a:solidFill>
                  <a:srgbClr val="374050"/>
                </a:solidFill>
                <a:latin typeface="Cambria"/>
                <a:cs typeface="Cambria"/>
              </a:rPr>
              <a:t>-</a:t>
            </a:r>
            <a:r>
              <a:rPr sz="1250" spc="55" dirty="0">
                <a:solidFill>
                  <a:srgbClr val="374050"/>
                </a:solidFill>
                <a:latin typeface="Malgun Gothic"/>
                <a:cs typeface="Malgun Gothic"/>
              </a:rPr>
              <a:t>치료</a:t>
            </a:r>
            <a:r>
              <a:rPr sz="1200" spc="55" dirty="0">
                <a:solidFill>
                  <a:srgbClr val="374050"/>
                </a:solidFill>
                <a:latin typeface="Cambria"/>
                <a:cs typeface="Cambria"/>
              </a:rPr>
              <a:t>-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관리의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전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과정을</a:t>
            </a:r>
            <a:r>
              <a:rPr sz="1250" spc="-6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374050"/>
                </a:solidFill>
                <a:latin typeface="Malgun Gothic"/>
                <a:cs typeface="Malgun Gothic"/>
              </a:rPr>
              <a:t>지원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하는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통합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솔루션으로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발전할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374050"/>
                </a:solidFill>
                <a:latin typeface="Malgun Gothic"/>
                <a:cs typeface="Malgun Gothic"/>
              </a:rPr>
              <a:t>것으로</a:t>
            </a:r>
            <a:r>
              <a:rPr sz="1250" spc="-6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250" spc="-10" dirty="0">
                <a:solidFill>
                  <a:srgbClr val="374050"/>
                </a:solidFill>
                <a:latin typeface="Malgun Gothic"/>
                <a:cs typeface="Malgun Gothic"/>
              </a:rPr>
              <a:t>기대됩니다</a:t>
            </a:r>
            <a:r>
              <a:rPr sz="1200" spc="-10" dirty="0">
                <a:solidFill>
                  <a:srgbClr val="374050"/>
                </a:solidFill>
                <a:latin typeface="Cambria"/>
                <a:cs typeface="Cambria"/>
              </a:rPr>
              <a:t>.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325" y="525829"/>
            <a:ext cx="5206999" cy="60208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800" spc="24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한계점</a:t>
            </a:r>
            <a:r>
              <a:rPr sz="3800" spc="-2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18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및</a:t>
            </a:r>
            <a:r>
              <a:rPr sz="3800" spc="-2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1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개선</a:t>
            </a:r>
            <a:r>
              <a:rPr sz="3800" spc="-2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2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가능성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2025" y="1285874"/>
            <a:ext cx="4991100" cy="2314575"/>
            <a:chOff x="962025" y="1285874"/>
            <a:chExt cx="4991100" cy="2314575"/>
          </a:xfrm>
        </p:grpSpPr>
        <p:sp>
          <p:nvSpPr>
            <p:cNvPr id="4" name="object 4"/>
            <p:cNvSpPr/>
            <p:nvPr/>
          </p:nvSpPr>
          <p:spPr>
            <a:xfrm>
              <a:off x="962025" y="1285874"/>
              <a:ext cx="4991100" cy="2314575"/>
            </a:xfrm>
            <a:custGeom>
              <a:avLst/>
              <a:gdLst/>
              <a:ahLst/>
              <a:cxnLst/>
              <a:rect l="l" t="t" r="r" b="b"/>
              <a:pathLst>
                <a:path w="4991100" h="2314575">
                  <a:moveTo>
                    <a:pt x="4919903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2238375"/>
                  </a:lnTo>
                  <a:lnTo>
                    <a:pt x="0" y="2243378"/>
                  </a:lnTo>
                  <a:lnTo>
                    <a:pt x="15622" y="2284869"/>
                  </a:lnTo>
                  <a:lnTo>
                    <a:pt x="51663" y="2310688"/>
                  </a:lnTo>
                  <a:lnTo>
                    <a:pt x="71194" y="2314575"/>
                  </a:lnTo>
                  <a:lnTo>
                    <a:pt x="4919903" y="2314575"/>
                  </a:lnTo>
                  <a:lnTo>
                    <a:pt x="4961394" y="2298954"/>
                  </a:lnTo>
                  <a:lnTo>
                    <a:pt x="4987213" y="2262911"/>
                  </a:lnTo>
                  <a:lnTo>
                    <a:pt x="4991100" y="2243378"/>
                  </a:lnTo>
                  <a:lnTo>
                    <a:pt x="4991100" y="71196"/>
                  </a:lnTo>
                  <a:lnTo>
                    <a:pt x="4975479" y="29705"/>
                  </a:lnTo>
                  <a:lnTo>
                    <a:pt x="4939436" y="3886"/>
                  </a:lnTo>
                  <a:lnTo>
                    <a:pt x="4924856" y="482"/>
                  </a:lnTo>
                  <a:lnTo>
                    <a:pt x="4919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2525" y="1914524"/>
              <a:ext cx="4610100" cy="19050"/>
            </a:xfrm>
            <a:custGeom>
              <a:avLst/>
              <a:gdLst/>
              <a:ahLst/>
              <a:cxnLst/>
              <a:rect l="l" t="t" r="r" b="b"/>
              <a:pathLst>
                <a:path w="4610100" h="19050">
                  <a:moveTo>
                    <a:pt x="46101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4610100" y="19050"/>
                  </a:lnTo>
                  <a:lnTo>
                    <a:pt x="461010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2524" y="1533524"/>
              <a:ext cx="228600" cy="2286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63675" y="1495896"/>
            <a:ext cx="122555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145" dirty="0">
                <a:latin typeface="Batang"/>
                <a:cs typeface="Batang"/>
              </a:rPr>
              <a:t>현재</a:t>
            </a:r>
            <a:r>
              <a:rPr sz="1650" spc="-95" dirty="0">
                <a:latin typeface="Batang"/>
                <a:cs typeface="Batang"/>
              </a:rPr>
              <a:t> </a:t>
            </a:r>
            <a:r>
              <a:rPr sz="1650" spc="100" dirty="0">
                <a:latin typeface="Batang"/>
                <a:cs typeface="Batang"/>
              </a:rPr>
              <a:t>한계</a:t>
            </a:r>
            <a:r>
              <a:rPr sz="1700" spc="100" dirty="0">
                <a:latin typeface="Batang"/>
                <a:cs typeface="Batang"/>
              </a:rPr>
              <a:t>점</a:t>
            </a:r>
            <a:endParaRPr sz="1700">
              <a:latin typeface="Batang"/>
              <a:cs typeface="Batang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5575" y="2073275"/>
            <a:ext cx="3482975" cy="89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전문가와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연계를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필요로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하는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보조적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역할</a:t>
            </a:r>
            <a:endParaRPr sz="1350">
              <a:latin typeface="Malgun Gothic"/>
              <a:cs typeface="Malgun Gothic"/>
            </a:endParaRPr>
          </a:p>
          <a:p>
            <a:pPr marL="175895" indent="-163195">
              <a:lnSpc>
                <a:spcPct val="100000"/>
              </a:lnSpc>
              <a:spcBef>
                <a:spcPts val="100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복잡한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심리적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문제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해결에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제한적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기능</a:t>
            </a:r>
            <a:endParaRPr sz="1350">
              <a:latin typeface="Malgun Gothic"/>
              <a:cs typeface="Malgun Gothic"/>
            </a:endParaRPr>
          </a:p>
          <a:p>
            <a:pPr marL="175895" indent="-163195">
              <a:lnSpc>
                <a:spcPct val="100000"/>
              </a:lnSpc>
              <a:spcBef>
                <a:spcPts val="100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데이터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기반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응답의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한계와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윤리적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0" dirty="0">
                <a:solidFill>
                  <a:srgbClr val="494949"/>
                </a:solidFill>
                <a:latin typeface="Malgun Gothic"/>
                <a:cs typeface="Malgun Gothic"/>
              </a:rPr>
              <a:t>고려사항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38875" y="1285874"/>
            <a:ext cx="4991100" cy="2314575"/>
            <a:chOff x="6238875" y="1285874"/>
            <a:chExt cx="4991100" cy="2314575"/>
          </a:xfrm>
        </p:grpSpPr>
        <p:sp>
          <p:nvSpPr>
            <p:cNvPr id="10" name="object 10"/>
            <p:cNvSpPr/>
            <p:nvPr/>
          </p:nvSpPr>
          <p:spPr>
            <a:xfrm>
              <a:off x="6238875" y="1285874"/>
              <a:ext cx="4991100" cy="2314575"/>
            </a:xfrm>
            <a:custGeom>
              <a:avLst/>
              <a:gdLst/>
              <a:ahLst/>
              <a:cxnLst/>
              <a:rect l="l" t="t" r="r" b="b"/>
              <a:pathLst>
                <a:path w="4991100" h="2314575">
                  <a:moveTo>
                    <a:pt x="4919903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2238375"/>
                  </a:lnTo>
                  <a:lnTo>
                    <a:pt x="0" y="2243378"/>
                  </a:lnTo>
                  <a:lnTo>
                    <a:pt x="15621" y="2284869"/>
                  </a:lnTo>
                  <a:lnTo>
                    <a:pt x="51663" y="2310688"/>
                  </a:lnTo>
                  <a:lnTo>
                    <a:pt x="71196" y="2314575"/>
                  </a:lnTo>
                  <a:lnTo>
                    <a:pt x="4919903" y="2314575"/>
                  </a:lnTo>
                  <a:lnTo>
                    <a:pt x="4961394" y="2298954"/>
                  </a:lnTo>
                  <a:lnTo>
                    <a:pt x="4987213" y="2262911"/>
                  </a:lnTo>
                  <a:lnTo>
                    <a:pt x="4991100" y="2243378"/>
                  </a:lnTo>
                  <a:lnTo>
                    <a:pt x="4991100" y="71196"/>
                  </a:lnTo>
                  <a:lnTo>
                    <a:pt x="4975479" y="29705"/>
                  </a:lnTo>
                  <a:lnTo>
                    <a:pt x="4939436" y="3886"/>
                  </a:lnTo>
                  <a:lnTo>
                    <a:pt x="4924856" y="482"/>
                  </a:lnTo>
                  <a:lnTo>
                    <a:pt x="4919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29375" y="1914524"/>
              <a:ext cx="4610100" cy="19050"/>
            </a:xfrm>
            <a:custGeom>
              <a:avLst/>
              <a:gdLst/>
              <a:ahLst/>
              <a:cxnLst/>
              <a:rect l="l" t="t" r="r" b="b"/>
              <a:pathLst>
                <a:path w="4610100" h="19050">
                  <a:moveTo>
                    <a:pt x="46101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4610100" y="19050"/>
                  </a:lnTo>
                  <a:lnTo>
                    <a:pt x="461010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9374" y="1533524"/>
              <a:ext cx="257175" cy="2286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769100" y="1494556"/>
            <a:ext cx="1797050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290" dirty="0">
                <a:latin typeface="Batang"/>
                <a:cs typeface="Batang"/>
              </a:rPr>
              <a:t>주요</a:t>
            </a:r>
            <a:r>
              <a:rPr sz="1600" spc="-20" dirty="0">
                <a:latin typeface="Batang"/>
                <a:cs typeface="Batang"/>
              </a:rPr>
              <a:t> </a:t>
            </a:r>
            <a:r>
              <a:rPr sz="1600" spc="114" dirty="0">
                <a:latin typeface="Batang"/>
                <a:cs typeface="Batang"/>
              </a:rPr>
              <a:t>강점</a:t>
            </a:r>
            <a:r>
              <a:rPr sz="1600" spc="-114" dirty="0">
                <a:latin typeface="Batang"/>
                <a:cs typeface="Batang"/>
              </a:rPr>
              <a:t> </a:t>
            </a:r>
            <a:r>
              <a:rPr sz="1600" spc="85" dirty="0">
                <a:latin typeface="Batang"/>
                <a:cs typeface="Batang"/>
              </a:rPr>
              <a:t>및</a:t>
            </a:r>
            <a:r>
              <a:rPr sz="1600" spc="-120" dirty="0">
                <a:latin typeface="Batang"/>
                <a:cs typeface="Batang"/>
              </a:rPr>
              <a:t> </a:t>
            </a:r>
            <a:r>
              <a:rPr sz="1600" spc="120" dirty="0">
                <a:latin typeface="Batang"/>
                <a:cs typeface="Batang"/>
              </a:rPr>
              <a:t>가치</a:t>
            </a:r>
            <a:endParaRPr sz="1600" dirty="0">
              <a:latin typeface="Batang"/>
              <a:cs typeface="Batang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2425" y="2073275"/>
            <a:ext cx="3730625" cy="1231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100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심리상담을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향한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심리적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장벽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낮추기</a:t>
            </a:r>
            <a:endParaRPr sz="1350" dirty="0">
              <a:latin typeface="Malgun Gothic"/>
              <a:cs typeface="Malgun Gothic"/>
            </a:endParaRPr>
          </a:p>
          <a:p>
            <a:pPr marL="175895" indent="-163195">
              <a:lnSpc>
                <a:spcPct val="100000"/>
              </a:lnSpc>
              <a:spcBef>
                <a:spcPts val="100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상담에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대한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접근성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향상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및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사회적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편견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해소</a:t>
            </a:r>
            <a:endParaRPr sz="1350" dirty="0">
              <a:latin typeface="Malgun Gothic"/>
              <a:cs typeface="Malgun Gothic"/>
            </a:endParaRPr>
          </a:p>
          <a:p>
            <a:pPr marL="175895" indent="-163195">
              <a:lnSpc>
                <a:spcPct val="100000"/>
              </a:lnSpc>
              <a:spcBef>
                <a:spcPts val="100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시공간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제약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없이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가볍게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심리상담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가능</a:t>
            </a:r>
            <a:endParaRPr sz="1350" dirty="0">
              <a:latin typeface="Malgun Gothic"/>
              <a:cs typeface="Malgun Gothic"/>
            </a:endParaRPr>
          </a:p>
          <a:p>
            <a:pPr marL="175895" indent="-163195">
              <a:lnSpc>
                <a:spcPct val="100000"/>
              </a:lnSpc>
              <a:spcBef>
                <a:spcPts val="1005"/>
              </a:spcBef>
              <a:buClr>
                <a:srgbClr val="6B717F"/>
              </a:buClr>
              <a:buSzPts val="250"/>
              <a:buFont typeface="Times New Roman"/>
              <a:buChar char="•"/>
              <a:tabLst>
                <a:tab pos="175895" algn="l"/>
              </a:tabLst>
            </a:pP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익명성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보장을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통한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솔직한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감정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표현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94949"/>
                </a:solidFill>
                <a:latin typeface="Malgun Gothic"/>
                <a:cs typeface="Malgun Gothic"/>
              </a:rPr>
              <a:t>환경</a:t>
            </a:r>
            <a:r>
              <a:rPr sz="1350" spc="-1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Malgun Gothic"/>
                <a:cs typeface="Malgun Gothic"/>
              </a:rPr>
              <a:t>제공</a:t>
            </a:r>
            <a:endParaRPr sz="1350" dirty="0">
              <a:latin typeface="Malgun Gothic"/>
              <a:cs typeface="Malgun Gothic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43350" y="3971925"/>
            <a:ext cx="476250" cy="3810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359150" y="4549775"/>
            <a:ext cx="16446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4B5462"/>
                </a:solidFill>
                <a:latin typeface="Malgun Gothic"/>
                <a:cs typeface="Malgun Gothic"/>
              </a:rPr>
              <a:t>전문적</a:t>
            </a:r>
            <a:r>
              <a:rPr sz="1350" spc="-175" dirty="0">
                <a:solidFill>
                  <a:srgbClr val="4B5462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B5462"/>
                </a:solidFill>
                <a:latin typeface="Malgun Gothic"/>
                <a:cs typeface="Malgun Gothic"/>
              </a:rPr>
              <a:t>상담의</a:t>
            </a:r>
            <a:r>
              <a:rPr sz="1350" spc="-175" dirty="0">
                <a:solidFill>
                  <a:srgbClr val="4B5462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B5462"/>
                </a:solidFill>
                <a:latin typeface="Malgun Gothic"/>
                <a:cs typeface="Malgun Gothic"/>
              </a:rPr>
              <a:t>보완재</a:t>
            </a:r>
            <a:endParaRPr sz="1350">
              <a:latin typeface="Malgun Gothic"/>
              <a:cs typeface="Malgun Gothic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72175" y="3971925"/>
            <a:ext cx="428625" cy="3810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549900" y="4549775"/>
            <a:ext cx="12636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4B5462"/>
                </a:solidFill>
                <a:latin typeface="Malgun Gothic"/>
                <a:cs typeface="Malgun Gothic"/>
              </a:rPr>
              <a:t>심리상담</a:t>
            </a:r>
            <a:r>
              <a:rPr sz="1350" spc="-175" dirty="0">
                <a:solidFill>
                  <a:srgbClr val="4B5462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B5462"/>
                </a:solidFill>
                <a:latin typeface="Malgun Gothic"/>
                <a:cs typeface="Malgun Gothic"/>
              </a:rPr>
              <a:t>진입점</a:t>
            </a:r>
            <a:endParaRPr sz="1350">
              <a:latin typeface="Malgun Gothic"/>
              <a:cs typeface="Malgun Gothic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5750" y="3971925"/>
            <a:ext cx="381000" cy="3810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359650" y="4549775"/>
            <a:ext cx="14732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4B5462"/>
                </a:solidFill>
                <a:latin typeface="Malgun Gothic"/>
                <a:cs typeface="Malgun Gothic"/>
              </a:rPr>
              <a:t>개인정보</a:t>
            </a:r>
            <a:r>
              <a:rPr sz="1350" spc="-175" dirty="0">
                <a:solidFill>
                  <a:srgbClr val="4B5462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B5462"/>
                </a:solidFill>
                <a:latin typeface="Malgun Gothic"/>
                <a:cs typeface="Malgun Gothic"/>
              </a:rPr>
              <a:t>보호</a:t>
            </a:r>
            <a:r>
              <a:rPr sz="1350" spc="-175" dirty="0">
                <a:solidFill>
                  <a:srgbClr val="4B5462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B5462"/>
                </a:solidFill>
                <a:latin typeface="Malgun Gothic"/>
                <a:cs typeface="Malgun Gothic"/>
              </a:rPr>
              <a:t>강화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5"/>
              </a:lnSpc>
            </a:pPr>
            <a:r>
              <a:rPr dirty="0"/>
              <a:t>Page</a:t>
            </a:r>
            <a:r>
              <a:rPr spc="95" dirty="0"/>
              <a:t> </a:t>
            </a:r>
            <a:fld id="{81D60167-4931-47E6-BA6A-407CBD079E47}" type="slidenum">
              <a:rPr spc="-10" dirty="0"/>
              <a:t>17</a:t>
            </a:fld>
            <a:r>
              <a:rPr spc="-10" dirty="0"/>
              <a:t>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15925"/>
            <a:ext cx="4918075" cy="60208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800" spc="52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참고</a:t>
            </a:r>
            <a:r>
              <a:rPr sz="3800" spc="-1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35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문헌</a:t>
            </a:r>
            <a:r>
              <a:rPr sz="3800" spc="-19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180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및</a:t>
            </a:r>
            <a:r>
              <a:rPr sz="3800" spc="-22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 </a:t>
            </a:r>
            <a:r>
              <a:rPr sz="3800" spc="495" dirty="0">
                <a:latin typeface="한컴산뜻돋움" panose="02000000000000000000" pitchFamily="2" charset="-127"/>
                <a:ea typeface="한컴산뜻돋움" panose="02000000000000000000" pitchFamily="2" charset="-127"/>
              </a:rPr>
              <a:t>자료</a:t>
            </a:r>
            <a:endParaRPr sz="38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62025" y="2000250"/>
            <a:ext cx="10267950" cy="9525"/>
          </a:xfrm>
          <a:custGeom>
            <a:avLst/>
            <a:gdLst/>
            <a:ahLst/>
            <a:cxnLst/>
            <a:rect l="l" t="t" r="r" b="b"/>
            <a:pathLst>
              <a:path w="10267950" h="9525">
                <a:moveTo>
                  <a:pt x="10267950" y="0"/>
                </a:moveTo>
                <a:lnTo>
                  <a:pt x="0" y="0"/>
                </a:lnTo>
                <a:lnTo>
                  <a:pt x="0" y="9525"/>
                </a:lnTo>
                <a:lnTo>
                  <a:pt x="10267950" y="9525"/>
                </a:lnTo>
                <a:lnTo>
                  <a:pt x="10267950" y="0"/>
                </a:lnTo>
                <a:close/>
              </a:path>
            </a:pathLst>
          </a:custGeom>
          <a:solidFill>
            <a:srgbClr val="E5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62025" y="2476500"/>
            <a:ext cx="10267950" cy="9525"/>
          </a:xfrm>
          <a:custGeom>
            <a:avLst/>
            <a:gdLst/>
            <a:ahLst/>
            <a:cxnLst/>
            <a:rect l="l" t="t" r="r" b="b"/>
            <a:pathLst>
              <a:path w="10267950" h="9525">
                <a:moveTo>
                  <a:pt x="10267950" y="0"/>
                </a:moveTo>
                <a:lnTo>
                  <a:pt x="0" y="0"/>
                </a:lnTo>
                <a:lnTo>
                  <a:pt x="0" y="9525"/>
                </a:lnTo>
                <a:lnTo>
                  <a:pt x="10267950" y="9525"/>
                </a:lnTo>
                <a:lnTo>
                  <a:pt x="10267950" y="0"/>
                </a:lnTo>
                <a:close/>
              </a:path>
            </a:pathLst>
          </a:custGeom>
          <a:solidFill>
            <a:srgbClr val="E5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62025" y="4562475"/>
            <a:ext cx="10267950" cy="9525"/>
          </a:xfrm>
          <a:custGeom>
            <a:avLst/>
            <a:gdLst/>
            <a:ahLst/>
            <a:cxnLst/>
            <a:rect l="l" t="t" r="r" b="b"/>
            <a:pathLst>
              <a:path w="10267950" h="9525">
                <a:moveTo>
                  <a:pt x="10267950" y="0"/>
                </a:moveTo>
                <a:lnTo>
                  <a:pt x="0" y="0"/>
                </a:lnTo>
                <a:lnTo>
                  <a:pt x="0" y="9525"/>
                </a:lnTo>
                <a:lnTo>
                  <a:pt x="10267950" y="9525"/>
                </a:lnTo>
                <a:lnTo>
                  <a:pt x="10267950" y="0"/>
                </a:lnTo>
                <a:close/>
              </a:path>
            </a:pathLst>
          </a:custGeom>
          <a:solidFill>
            <a:srgbClr val="E5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62025" y="6400800"/>
            <a:ext cx="10267950" cy="9525"/>
          </a:xfrm>
          <a:custGeom>
            <a:avLst/>
            <a:gdLst/>
            <a:ahLst/>
            <a:cxnLst/>
            <a:rect l="l" t="t" r="r" b="b"/>
            <a:pathLst>
              <a:path w="10267950" h="9525">
                <a:moveTo>
                  <a:pt x="10267950" y="0"/>
                </a:moveTo>
                <a:lnTo>
                  <a:pt x="0" y="0"/>
                </a:lnTo>
                <a:lnTo>
                  <a:pt x="0" y="9525"/>
                </a:lnTo>
                <a:lnTo>
                  <a:pt x="10267950" y="9525"/>
                </a:lnTo>
                <a:lnTo>
                  <a:pt x="10267950" y="0"/>
                </a:lnTo>
                <a:close/>
              </a:path>
            </a:pathLst>
          </a:custGeom>
          <a:solidFill>
            <a:srgbClr val="E5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962024" y="1148188"/>
            <a:ext cx="342900" cy="342900"/>
            <a:chOff x="962025" y="1142999"/>
            <a:chExt cx="342900" cy="342900"/>
          </a:xfrm>
        </p:grpSpPr>
        <p:sp>
          <p:nvSpPr>
            <p:cNvPr id="8" name="object 8"/>
            <p:cNvSpPr/>
            <p:nvPr/>
          </p:nvSpPr>
          <p:spPr>
            <a:xfrm>
              <a:off x="962025" y="1142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29781" y="5134"/>
                  </a:lnTo>
                  <a:lnTo>
                    <a:pt x="90626" y="20245"/>
                  </a:lnTo>
                  <a:lnTo>
                    <a:pt x="56317" y="44405"/>
                  </a:lnTo>
                  <a:lnTo>
                    <a:pt x="28892" y="76200"/>
                  </a:lnTo>
                  <a:lnTo>
                    <a:pt x="10017" y="113702"/>
                  </a:lnTo>
                  <a:lnTo>
                    <a:pt x="822" y="154647"/>
                  </a:lnTo>
                  <a:lnTo>
                    <a:pt x="0" y="171450"/>
                  </a:lnTo>
                  <a:lnTo>
                    <a:pt x="205" y="179870"/>
                  </a:lnTo>
                  <a:lnTo>
                    <a:pt x="7380" y="221218"/>
                  </a:lnTo>
                  <a:lnTo>
                    <a:pt x="24385" y="259582"/>
                  </a:lnTo>
                  <a:lnTo>
                    <a:pt x="50214" y="292684"/>
                  </a:lnTo>
                  <a:lnTo>
                    <a:pt x="83313" y="318512"/>
                  </a:lnTo>
                  <a:lnTo>
                    <a:pt x="121679" y="335522"/>
                  </a:lnTo>
                  <a:lnTo>
                    <a:pt x="163027" y="342695"/>
                  </a:lnTo>
                  <a:lnTo>
                    <a:pt x="171450" y="342900"/>
                  </a:lnTo>
                  <a:lnTo>
                    <a:pt x="179872" y="342695"/>
                  </a:lnTo>
                  <a:lnTo>
                    <a:pt x="221219" y="335522"/>
                  </a:lnTo>
                  <a:lnTo>
                    <a:pt x="259584" y="318512"/>
                  </a:lnTo>
                  <a:lnTo>
                    <a:pt x="292685" y="292684"/>
                  </a:lnTo>
                  <a:lnTo>
                    <a:pt x="318512" y="259582"/>
                  </a:lnTo>
                  <a:lnTo>
                    <a:pt x="335522" y="221218"/>
                  </a:lnTo>
                  <a:lnTo>
                    <a:pt x="342695" y="179870"/>
                  </a:lnTo>
                  <a:lnTo>
                    <a:pt x="342900" y="171450"/>
                  </a:lnTo>
                  <a:lnTo>
                    <a:pt x="342695" y="163029"/>
                  </a:lnTo>
                  <a:lnTo>
                    <a:pt x="335522" y="121681"/>
                  </a:lnTo>
                  <a:lnTo>
                    <a:pt x="318512" y="83317"/>
                  </a:lnTo>
                  <a:lnTo>
                    <a:pt x="292685" y="50215"/>
                  </a:lnTo>
                  <a:lnTo>
                    <a:pt x="259584" y="24387"/>
                  </a:lnTo>
                  <a:lnTo>
                    <a:pt x="221219" y="7377"/>
                  </a:lnTo>
                  <a:lnTo>
                    <a:pt x="179872" y="20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7274" y="1228724"/>
              <a:ext cx="152400" cy="17145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025" y="1676403"/>
            <a:ext cx="123824" cy="20954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025" y="2162175"/>
            <a:ext cx="123824" cy="2000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025" y="2638428"/>
            <a:ext cx="123824" cy="20954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962025" y="3044825"/>
            <a:ext cx="342900" cy="342900"/>
            <a:chOff x="962025" y="3190875"/>
            <a:chExt cx="342900" cy="342900"/>
          </a:xfrm>
        </p:grpSpPr>
        <p:sp>
          <p:nvSpPr>
            <p:cNvPr id="14" name="object 14"/>
            <p:cNvSpPr/>
            <p:nvPr/>
          </p:nvSpPr>
          <p:spPr>
            <a:xfrm>
              <a:off x="962025" y="319087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29781" y="5134"/>
                  </a:lnTo>
                  <a:lnTo>
                    <a:pt x="90626" y="20245"/>
                  </a:lnTo>
                  <a:lnTo>
                    <a:pt x="56317" y="44405"/>
                  </a:lnTo>
                  <a:lnTo>
                    <a:pt x="28892" y="76200"/>
                  </a:lnTo>
                  <a:lnTo>
                    <a:pt x="10017" y="113702"/>
                  </a:lnTo>
                  <a:lnTo>
                    <a:pt x="822" y="154647"/>
                  </a:lnTo>
                  <a:lnTo>
                    <a:pt x="0" y="171450"/>
                  </a:lnTo>
                  <a:lnTo>
                    <a:pt x="205" y="179870"/>
                  </a:lnTo>
                  <a:lnTo>
                    <a:pt x="7380" y="221218"/>
                  </a:lnTo>
                  <a:lnTo>
                    <a:pt x="24385" y="259582"/>
                  </a:lnTo>
                  <a:lnTo>
                    <a:pt x="50214" y="292684"/>
                  </a:lnTo>
                  <a:lnTo>
                    <a:pt x="83313" y="318512"/>
                  </a:lnTo>
                  <a:lnTo>
                    <a:pt x="121679" y="335522"/>
                  </a:lnTo>
                  <a:lnTo>
                    <a:pt x="163027" y="342693"/>
                  </a:lnTo>
                  <a:lnTo>
                    <a:pt x="171450" y="342900"/>
                  </a:lnTo>
                  <a:lnTo>
                    <a:pt x="179872" y="342693"/>
                  </a:lnTo>
                  <a:lnTo>
                    <a:pt x="221219" y="335522"/>
                  </a:lnTo>
                  <a:lnTo>
                    <a:pt x="259584" y="318512"/>
                  </a:lnTo>
                  <a:lnTo>
                    <a:pt x="292685" y="292684"/>
                  </a:lnTo>
                  <a:lnTo>
                    <a:pt x="318512" y="259582"/>
                  </a:lnTo>
                  <a:lnTo>
                    <a:pt x="335522" y="221218"/>
                  </a:lnTo>
                  <a:lnTo>
                    <a:pt x="342695" y="179870"/>
                  </a:lnTo>
                  <a:lnTo>
                    <a:pt x="342900" y="171450"/>
                  </a:lnTo>
                  <a:lnTo>
                    <a:pt x="342695" y="163029"/>
                  </a:lnTo>
                  <a:lnTo>
                    <a:pt x="335522" y="121681"/>
                  </a:lnTo>
                  <a:lnTo>
                    <a:pt x="318512" y="83317"/>
                  </a:lnTo>
                  <a:lnTo>
                    <a:pt x="292685" y="50215"/>
                  </a:lnTo>
                  <a:lnTo>
                    <a:pt x="259584" y="24387"/>
                  </a:lnTo>
                  <a:lnTo>
                    <a:pt x="221219" y="7377"/>
                  </a:lnTo>
                  <a:lnTo>
                    <a:pt x="179872" y="20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7749" y="3276600"/>
              <a:ext cx="171450" cy="17145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025" y="3724275"/>
            <a:ext cx="123825" cy="723900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3762375" y="4219575"/>
            <a:ext cx="457200" cy="219075"/>
          </a:xfrm>
          <a:custGeom>
            <a:avLst/>
            <a:gdLst/>
            <a:ahLst/>
            <a:cxnLst/>
            <a:rect l="l" t="t" r="r" b="b"/>
            <a:pathLst>
              <a:path w="457200" h="219075">
                <a:moveTo>
                  <a:pt x="4241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180975"/>
                </a:lnTo>
                <a:lnTo>
                  <a:pt x="0" y="186029"/>
                </a:lnTo>
                <a:lnTo>
                  <a:pt x="28194" y="218109"/>
                </a:lnTo>
                <a:lnTo>
                  <a:pt x="33045" y="219075"/>
                </a:lnTo>
                <a:lnTo>
                  <a:pt x="424154" y="219075"/>
                </a:lnTo>
                <a:lnTo>
                  <a:pt x="456234" y="190881"/>
                </a:lnTo>
                <a:lnTo>
                  <a:pt x="457200" y="186029"/>
                </a:lnTo>
                <a:lnTo>
                  <a:pt x="457200" y="33045"/>
                </a:lnTo>
                <a:lnTo>
                  <a:pt x="429006" y="965"/>
                </a:lnTo>
                <a:lnTo>
                  <a:pt x="424154" y="0"/>
                </a:lnTo>
                <a:close/>
              </a:path>
            </a:pathLst>
          </a:custGeom>
          <a:solidFill>
            <a:srgbClr val="EFF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48250" y="4219575"/>
            <a:ext cx="419100" cy="219075"/>
          </a:xfrm>
          <a:custGeom>
            <a:avLst/>
            <a:gdLst/>
            <a:ahLst/>
            <a:cxnLst/>
            <a:rect l="l" t="t" r="r" b="b"/>
            <a:pathLst>
              <a:path w="419100" h="219075">
                <a:moveTo>
                  <a:pt x="3860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180975"/>
                </a:lnTo>
                <a:lnTo>
                  <a:pt x="0" y="186029"/>
                </a:lnTo>
                <a:lnTo>
                  <a:pt x="28194" y="218109"/>
                </a:lnTo>
                <a:lnTo>
                  <a:pt x="33045" y="219075"/>
                </a:lnTo>
                <a:lnTo>
                  <a:pt x="386054" y="219075"/>
                </a:lnTo>
                <a:lnTo>
                  <a:pt x="418134" y="190881"/>
                </a:lnTo>
                <a:lnTo>
                  <a:pt x="419100" y="186029"/>
                </a:lnTo>
                <a:lnTo>
                  <a:pt x="419100" y="33045"/>
                </a:lnTo>
                <a:lnTo>
                  <a:pt x="390906" y="965"/>
                </a:lnTo>
                <a:lnTo>
                  <a:pt x="386054" y="0"/>
                </a:lnTo>
                <a:close/>
              </a:path>
            </a:pathLst>
          </a:custGeom>
          <a:solidFill>
            <a:srgbClr val="EFF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2025" y="4724400"/>
            <a:ext cx="123824" cy="47625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987425" y="5330825"/>
            <a:ext cx="342900" cy="342900"/>
            <a:chOff x="962025" y="5543550"/>
            <a:chExt cx="342900" cy="342900"/>
          </a:xfrm>
        </p:grpSpPr>
        <p:sp>
          <p:nvSpPr>
            <p:cNvPr id="21" name="object 21"/>
            <p:cNvSpPr/>
            <p:nvPr/>
          </p:nvSpPr>
          <p:spPr>
            <a:xfrm>
              <a:off x="962025" y="55435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29781" y="5134"/>
                  </a:lnTo>
                  <a:lnTo>
                    <a:pt x="90626" y="20239"/>
                  </a:lnTo>
                  <a:lnTo>
                    <a:pt x="56317" y="44404"/>
                  </a:lnTo>
                  <a:lnTo>
                    <a:pt x="28892" y="76194"/>
                  </a:lnTo>
                  <a:lnTo>
                    <a:pt x="10017" y="113698"/>
                  </a:lnTo>
                  <a:lnTo>
                    <a:pt x="822" y="154644"/>
                  </a:lnTo>
                  <a:lnTo>
                    <a:pt x="0" y="171450"/>
                  </a:lnTo>
                  <a:lnTo>
                    <a:pt x="205" y="179871"/>
                  </a:lnTo>
                  <a:lnTo>
                    <a:pt x="7380" y="221219"/>
                  </a:lnTo>
                  <a:lnTo>
                    <a:pt x="24385" y="259582"/>
                  </a:lnTo>
                  <a:lnTo>
                    <a:pt x="50214" y="292680"/>
                  </a:lnTo>
                  <a:lnTo>
                    <a:pt x="83313" y="318511"/>
                  </a:lnTo>
                  <a:lnTo>
                    <a:pt x="121679" y="335517"/>
                  </a:lnTo>
                  <a:lnTo>
                    <a:pt x="163027" y="342693"/>
                  </a:lnTo>
                  <a:lnTo>
                    <a:pt x="171450" y="342900"/>
                  </a:lnTo>
                  <a:lnTo>
                    <a:pt x="179872" y="342693"/>
                  </a:lnTo>
                  <a:lnTo>
                    <a:pt x="221219" y="335517"/>
                  </a:lnTo>
                  <a:lnTo>
                    <a:pt x="259584" y="318511"/>
                  </a:lnTo>
                  <a:lnTo>
                    <a:pt x="292685" y="292680"/>
                  </a:lnTo>
                  <a:lnTo>
                    <a:pt x="318512" y="259582"/>
                  </a:lnTo>
                  <a:lnTo>
                    <a:pt x="335522" y="221219"/>
                  </a:lnTo>
                  <a:lnTo>
                    <a:pt x="342695" y="179871"/>
                  </a:lnTo>
                  <a:lnTo>
                    <a:pt x="342900" y="171450"/>
                  </a:lnTo>
                  <a:lnTo>
                    <a:pt x="342695" y="163027"/>
                  </a:lnTo>
                  <a:lnTo>
                    <a:pt x="335522" y="121679"/>
                  </a:lnTo>
                  <a:lnTo>
                    <a:pt x="318512" y="83313"/>
                  </a:lnTo>
                  <a:lnTo>
                    <a:pt x="292685" y="50214"/>
                  </a:lnTo>
                  <a:lnTo>
                    <a:pt x="259584" y="24381"/>
                  </a:lnTo>
                  <a:lnTo>
                    <a:pt x="221219" y="7375"/>
                  </a:lnTo>
                  <a:lnTo>
                    <a:pt x="179872" y="204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7274" y="5629275"/>
              <a:ext cx="152400" cy="171450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62025" y="6076950"/>
            <a:ext cx="123824" cy="20954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187450" y="1164530"/>
            <a:ext cx="9788525" cy="50914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30"/>
              </a:spcBef>
            </a:pPr>
            <a:r>
              <a:rPr sz="1650" spc="145" dirty="0">
                <a:latin typeface="Batang"/>
                <a:cs typeface="Batang"/>
              </a:rPr>
              <a:t>데이터셋</a:t>
            </a:r>
            <a:r>
              <a:rPr sz="1650" spc="-90" dirty="0">
                <a:latin typeface="Batang"/>
                <a:cs typeface="Batang"/>
              </a:rPr>
              <a:t> </a:t>
            </a:r>
            <a:r>
              <a:rPr sz="1650" spc="120" dirty="0">
                <a:latin typeface="Batang"/>
                <a:cs typeface="Batang"/>
              </a:rPr>
              <a:t>관련</a:t>
            </a:r>
            <a:endParaRPr sz="16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50" dirty="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한국어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자연어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처리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데이터셋</a:t>
            </a:r>
            <a:r>
              <a:rPr sz="1250" spc="-8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목록</a:t>
            </a:r>
            <a:r>
              <a:rPr sz="1250" spc="-8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(LittleFox</a:t>
            </a:r>
            <a:r>
              <a:rPr sz="1300" spc="-1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494949"/>
                </a:solidFill>
                <a:latin typeface="Arial"/>
                <a:cs typeface="Arial"/>
              </a:rPr>
              <a:t>NLP</a:t>
            </a:r>
            <a:r>
              <a:rPr sz="1300" spc="1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Malgun Gothic"/>
                <a:cs typeface="Malgun Gothic"/>
              </a:rPr>
              <a:t>데이터셋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)</a:t>
            </a:r>
            <a:endParaRPr sz="1300" dirty="0">
              <a:latin typeface="Arial"/>
              <a:cs typeface="Arial"/>
            </a:endParaRPr>
          </a:p>
          <a:p>
            <a:pPr marL="12700" marR="7891145">
              <a:lnSpc>
                <a:spcPct val="243600"/>
              </a:lnSpc>
              <a:spcBef>
                <a:spcPts val="25"/>
              </a:spcBef>
            </a:pP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AI</a:t>
            </a:r>
            <a:r>
              <a:rPr sz="1300" spc="-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Hub</a:t>
            </a:r>
            <a:r>
              <a:rPr sz="1300" spc="-3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감정분석</a:t>
            </a:r>
            <a:r>
              <a:rPr sz="1250" spc="-11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0" dirty="0">
                <a:solidFill>
                  <a:srgbClr val="494949"/>
                </a:solidFill>
                <a:latin typeface="Malgun Gothic"/>
                <a:cs typeface="Malgun Gothic"/>
              </a:rPr>
              <a:t>데이터셋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한국어</a:t>
            </a:r>
            <a:r>
              <a:rPr sz="1250" spc="-9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대화</a:t>
            </a:r>
            <a:r>
              <a:rPr sz="1250" spc="-7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코퍼스</a:t>
            </a:r>
            <a:endParaRPr sz="125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50" dirty="0">
              <a:latin typeface="Malgun Gothic"/>
              <a:cs typeface="Malgun Gothic"/>
            </a:endParaRPr>
          </a:p>
          <a:p>
            <a:pPr marL="231775">
              <a:lnSpc>
                <a:spcPct val="100000"/>
              </a:lnSpc>
            </a:pPr>
            <a:r>
              <a:rPr sz="1700" spc="55" dirty="0">
                <a:latin typeface="Lucida Sans"/>
                <a:cs typeface="Lucida Sans"/>
              </a:rPr>
              <a:t>AI</a:t>
            </a:r>
            <a:r>
              <a:rPr sz="1700" spc="-70" dirty="0">
                <a:latin typeface="Lucida Sans"/>
                <a:cs typeface="Lucida Sans"/>
              </a:rPr>
              <a:t> </a:t>
            </a:r>
            <a:r>
              <a:rPr sz="1700" spc="130" dirty="0">
                <a:latin typeface="Batang"/>
                <a:cs typeface="Batang"/>
              </a:rPr>
              <a:t>심</a:t>
            </a:r>
            <a:r>
              <a:rPr sz="1650" spc="130" dirty="0">
                <a:latin typeface="Batang"/>
                <a:cs typeface="Batang"/>
              </a:rPr>
              <a:t>리치료</a:t>
            </a:r>
            <a:r>
              <a:rPr sz="1650" spc="-90" dirty="0">
                <a:latin typeface="Batang"/>
                <a:cs typeface="Batang"/>
              </a:rPr>
              <a:t> </a:t>
            </a:r>
            <a:r>
              <a:rPr sz="1650" spc="145" dirty="0">
                <a:latin typeface="Batang"/>
                <a:cs typeface="Batang"/>
              </a:rPr>
              <a:t>관련</a:t>
            </a:r>
            <a:r>
              <a:rPr sz="1650" spc="-95" dirty="0">
                <a:latin typeface="Batang"/>
                <a:cs typeface="Batang"/>
              </a:rPr>
              <a:t> </a:t>
            </a:r>
            <a:r>
              <a:rPr sz="1650" spc="120" dirty="0">
                <a:latin typeface="Batang"/>
                <a:cs typeface="Batang"/>
              </a:rPr>
              <a:t>연구</a:t>
            </a:r>
            <a:endParaRPr sz="16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 marL="12700" marR="5080">
              <a:lnSpc>
                <a:spcPct val="120200"/>
              </a:lnSpc>
            </a:pPr>
            <a:r>
              <a:rPr sz="1300" spc="-20" dirty="0">
                <a:solidFill>
                  <a:srgbClr val="494949"/>
                </a:solidFill>
                <a:latin typeface="Arial"/>
                <a:cs typeface="Arial"/>
              </a:rPr>
              <a:t>Journal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60" dirty="0">
                <a:solidFill>
                  <a:srgbClr val="494949"/>
                </a:solidFill>
                <a:latin typeface="Arial"/>
                <a:cs typeface="Arial"/>
              </a:rPr>
              <a:t>of</a:t>
            </a:r>
            <a:r>
              <a:rPr sz="1300" spc="-4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94949"/>
                </a:solidFill>
                <a:latin typeface="Arial"/>
                <a:cs typeface="Arial"/>
              </a:rPr>
              <a:t>Medical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Internet</a:t>
            </a:r>
            <a:r>
              <a:rPr sz="1300" spc="-50" dirty="0">
                <a:solidFill>
                  <a:srgbClr val="494949"/>
                </a:solidFill>
                <a:latin typeface="Arial"/>
                <a:cs typeface="Arial"/>
              </a:rPr>
              <a:t> Research</a:t>
            </a:r>
            <a:r>
              <a:rPr sz="1300" spc="-6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(2023):</a:t>
            </a:r>
            <a:r>
              <a:rPr sz="1300" spc="-4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"Effects</a:t>
            </a:r>
            <a:r>
              <a:rPr sz="1300" spc="-1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60" dirty="0">
                <a:solidFill>
                  <a:srgbClr val="494949"/>
                </a:solidFill>
                <a:latin typeface="Arial"/>
                <a:cs typeface="Arial"/>
              </a:rPr>
              <a:t>of</a:t>
            </a:r>
            <a:r>
              <a:rPr sz="1300" spc="-4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494949"/>
                </a:solidFill>
                <a:latin typeface="Arial"/>
                <a:cs typeface="Arial"/>
              </a:rPr>
              <a:t>an</a:t>
            </a:r>
            <a:r>
              <a:rPr sz="1300" spc="-6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Artificial</a:t>
            </a:r>
            <a:r>
              <a:rPr sz="1300" spc="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94949"/>
                </a:solidFill>
                <a:latin typeface="Arial"/>
                <a:cs typeface="Arial"/>
              </a:rPr>
              <a:t>Intelligence</a:t>
            </a:r>
            <a:r>
              <a:rPr sz="1300" spc="-4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Platform</a:t>
            </a:r>
            <a:r>
              <a:rPr sz="1300" spc="-6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for</a:t>
            </a:r>
            <a:r>
              <a:rPr sz="1300" spc="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94949"/>
                </a:solidFill>
                <a:latin typeface="Arial"/>
                <a:cs typeface="Arial"/>
              </a:rPr>
              <a:t>Behavioral</a:t>
            </a:r>
            <a:r>
              <a:rPr sz="1300" spc="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Interventions</a:t>
            </a:r>
            <a:r>
              <a:rPr sz="1300" spc="-1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on</a:t>
            </a:r>
            <a:r>
              <a:rPr sz="1300" spc="-6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494949"/>
                </a:solidFill>
                <a:latin typeface="Arial"/>
                <a:cs typeface="Arial"/>
              </a:rPr>
              <a:t>Depression</a:t>
            </a:r>
            <a:r>
              <a:rPr sz="1300" spc="-6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94949"/>
                </a:solidFill>
                <a:latin typeface="Arial"/>
                <a:cs typeface="Arial"/>
              </a:rPr>
              <a:t>and 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Anxiety</a:t>
            </a:r>
            <a:r>
              <a:rPr sz="1300" spc="-3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Symptoms"</a:t>
            </a:r>
            <a:endParaRPr sz="1300" dirty="0">
              <a:latin typeface="Arial"/>
              <a:cs typeface="Arial"/>
            </a:endParaRPr>
          </a:p>
          <a:p>
            <a:pPr marL="219710" indent="-111760">
              <a:lnSpc>
                <a:spcPct val="100000"/>
              </a:lnSpc>
              <a:spcBef>
                <a:spcPts val="790"/>
              </a:spcBef>
              <a:buChar char="•"/>
              <a:tabLst>
                <a:tab pos="219710" algn="l"/>
              </a:tabLst>
            </a:pPr>
            <a:r>
              <a:rPr sz="1150" dirty="0">
                <a:solidFill>
                  <a:srgbClr val="6B717F"/>
                </a:solidFill>
                <a:latin typeface="Microsoft Sans Serif"/>
                <a:cs typeface="Microsoft Sans Serif"/>
              </a:rPr>
              <a:t>AI</a:t>
            </a:r>
            <a:r>
              <a:rPr sz="1150" spc="-25" dirty="0">
                <a:solidFill>
                  <a:srgbClr val="6B717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B717F"/>
                </a:solidFill>
                <a:latin typeface="Malgun Gothic"/>
                <a:cs typeface="Malgun Gothic"/>
              </a:rPr>
              <a:t>지원</a:t>
            </a:r>
            <a:r>
              <a:rPr sz="1200" spc="-110" dirty="0">
                <a:solidFill>
                  <a:srgbClr val="6B717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6B717F"/>
                </a:solidFill>
                <a:latin typeface="Malgun Gothic"/>
                <a:cs typeface="Malgun Gothic"/>
              </a:rPr>
              <a:t>치료</a:t>
            </a:r>
            <a:r>
              <a:rPr sz="1200" spc="-110" dirty="0">
                <a:solidFill>
                  <a:srgbClr val="6B717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6B717F"/>
                </a:solidFill>
                <a:latin typeface="Malgun Gothic"/>
                <a:cs typeface="Malgun Gothic"/>
              </a:rPr>
              <a:t>그룹에서</a:t>
            </a:r>
            <a:r>
              <a:rPr sz="1200" spc="-110" dirty="0">
                <a:solidFill>
                  <a:srgbClr val="6B717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6B717F"/>
                </a:solidFill>
                <a:latin typeface="Malgun Gothic"/>
                <a:cs typeface="Malgun Gothic"/>
              </a:rPr>
              <a:t>우울</a:t>
            </a:r>
            <a:r>
              <a:rPr sz="1200" spc="-110" dirty="0">
                <a:solidFill>
                  <a:srgbClr val="6B717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6B717F"/>
                </a:solidFill>
                <a:latin typeface="Malgun Gothic"/>
                <a:cs typeface="Malgun Gothic"/>
              </a:rPr>
              <a:t>감소율</a:t>
            </a:r>
            <a:r>
              <a:rPr sz="1200" spc="365" dirty="0">
                <a:solidFill>
                  <a:srgbClr val="6B717F"/>
                </a:solidFill>
                <a:latin typeface="Malgun Gothic"/>
                <a:cs typeface="Malgun Gothic"/>
              </a:rPr>
              <a:t> </a:t>
            </a:r>
            <a:r>
              <a:rPr sz="1150" dirty="0">
                <a:solidFill>
                  <a:srgbClr val="2462EB"/>
                </a:solidFill>
                <a:latin typeface="Georgia"/>
                <a:cs typeface="Georgia"/>
              </a:rPr>
              <a:t>34%</a:t>
            </a:r>
            <a:r>
              <a:rPr sz="1150" spc="125" dirty="0">
                <a:solidFill>
                  <a:srgbClr val="2462EB"/>
                </a:solidFill>
                <a:latin typeface="Georgia"/>
                <a:cs typeface="Georgia"/>
              </a:rPr>
              <a:t>  </a:t>
            </a:r>
            <a:r>
              <a:rPr sz="1150" dirty="0">
                <a:solidFill>
                  <a:srgbClr val="6B717F"/>
                </a:solidFill>
                <a:latin typeface="Microsoft Sans Serif"/>
                <a:cs typeface="Microsoft Sans Serif"/>
              </a:rPr>
              <a:t>vs</a:t>
            </a:r>
            <a:r>
              <a:rPr sz="1150" spc="-25" dirty="0">
                <a:solidFill>
                  <a:srgbClr val="6B717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B717F"/>
                </a:solidFill>
                <a:latin typeface="Malgun Gothic"/>
                <a:cs typeface="Malgun Gothic"/>
              </a:rPr>
              <a:t>전통치료</a:t>
            </a:r>
            <a:r>
              <a:rPr sz="1200" spc="365" dirty="0">
                <a:solidFill>
                  <a:srgbClr val="6B717F"/>
                </a:solidFill>
                <a:latin typeface="Malgun Gothic"/>
                <a:cs typeface="Malgun Gothic"/>
              </a:rPr>
              <a:t> </a:t>
            </a:r>
            <a:r>
              <a:rPr sz="1150" spc="-25" dirty="0">
                <a:solidFill>
                  <a:srgbClr val="2462EB"/>
                </a:solidFill>
                <a:latin typeface="Georgia"/>
                <a:cs typeface="Georgia"/>
              </a:rPr>
              <a:t>20%</a:t>
            </a:r>
            <a:endParaRPr sz="115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Clr>
                <a:srgbClr val="6B717F"/>
              </a:buClr>
              <a:buFont typeface="Microsoft Sans Serif"/>
              <a:buChar char="•"/>
            </a:pPr>
            <a:endParaRPr sz="1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300" spc="-35" dirty="0">
                <a:solidFill>
                  <a:srgbClr val="494949"/>
                </a:solidFill>
                <a:latin typeface="Arial"/>
                <a:cs typeface="Arial"/>
              </a:rPr>
              <a:t>JMIR</a:t>
            </a:r>
            <a:r>
              <a:rPr sz="1300" spc="2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94949"/>
                </a:solidFill>
                <a:latin typeface="Arial"/>
                <a:cs typeface="Arial"/>
              </a:rPr>
              <a:t>Mental</a:t>
            </a:r>
            <a:r>
              <a:rPr sz="1300" spc="1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Health</a:t>
            </a:r>
            <a:r>
              <a:rPr sz="1300" spc="-5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94949"/>
                </a:solidFill>
                <a:latin typeface="Arial"/>
                <a:cs typeface="Arial"/>
              </a:rPr>
              <a:t>(2018):</a:t>
            </a:r>
            <a:r>
              <a:rPr sz="1300" spc="-40" dirty="0">
                <a:solidFill>
                  <a:srgbClr val="494949"/>
                </a:solidFill>
                <a:latin typeface="Arial"/>
                <a:cs typeface="Arial"/>
              </a:rPr>
              <a:t> "Using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94949"/>
                </a:solidFill>
                <a:latin typeface="Arial"/>
                <a:cs typeface="Arial"/>
              </a:rPr>
              <a:t>Psychological</a:t>
            </a:r>
            <a:r>
              <a:rPr sz="1300" spc="1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Artificial</a:t>
            </a:r>
            <a:r>
              <a:rPr sz="1300" spc="1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94949"/>
                </a:solidFill>
                <a:latin typeface="Arial"/>
                <a:cs typeface="Arial"/>
              </a:rPr>
              <a:t>Intelligence</a:t>
            </a:r>
            <a:r>
              <a:rPr sz="1300" spc="-3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494949"/>
                </a:solidFill>
                <a:latin typeface="Arial"/>
                <a:cs typeface="Arial"/>
              </a:rPr>
              <a:t>(Tess)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4949"/>
                </a:solidFill>
                <a:latin typeface="Arial"/>
                <a:cs typeface="Arial"/>
              </a:rPr>
              <a:t>to</a:t>
            </a:r>
            <a:r>
              <a:rPr sz="1300" spc="-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94949"/>
                </a:solidFill>
                <a:latin typeface="Arial"/>
                <a:cs typeface="Arial"/>
              </a:rPr>
              <a:t>Relieve</a:t>
            </a:r>
            <a:r>
              <a:rPr sz="1300" spc="-3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94949"/>
                </a:solidFill>
                <a:latin typeface="Arial"/>
                <a:cs typeface="Arial"/>
              </a:rPr>
              <a:t>Symptoms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60" dirty="0">
                <a:solidFill>
                  <a:srgbClr val="494949"/>
                </a:solidFill>
                <a:latin typeface="Arial"/>
                <a:cs typeface="Arial"/>
              </a:rPr>
              <a:t>of</a:t>
            </a:r>
            <a:r>
              <a:rPr sz="1300" spc="-3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494949"/>
                </a:solidFill>
                <a:latin typeface="Arial"/>
                <a:cs typeface="Arial"/>
              </a:rPr>
              <a:t>Depression</a:t>
            </a:r>
            <a:r>
              <a:rPr sz="1300" spc="-5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494949"/>
                </a:solidFill>
                <a:latin typeface="Arial"/>
                <a:cs typeface="Arial"/>
              </a:rPr>
              <a:t>and</a:t>
            </a:r>
            <a:r>
              <a:rPr sz="1300" spc="-10" dirty="0">
                <a:solidFill>
                  <a:srgbClr val="494949"/>
                </a:solidFill>
                <a:latin typeface="Arial"/>
                <a:cs typeface="Arial"/>
              </a:rPr>
              <a:t> Anxiety"</a:t>
            </a:r>
            <a:endParaRPr sz="1300" dirty="0">
              <a:latin typeface="Arial"/>
              <a:cs typeface="Arial"/>
            </a:endParaRPr>
          </a:p>
          <a:p>
            <a:pPr marL="219710" indent="-111760">
              <a:lnSpc>
                <a:spcPct val="100000"/>
              </a:lnSpc>
              <a:spcBef>
                <a:spcPts val="715"/>
              </a:spcBef>
              <a:buChar char="•"/>
              <a:tabLst>
                <a:tab pos="219710" algn="l"/>
              </a:tabLst>
            </a:pPr>
            <a:r>
              <a:rPr sz="1150" dirty="0">
                <a:solidFill>
                  <a:srgbClr val="6B717F"/>
                </a:solidFill>
                <a:latin typeface="Microsoft Sans Serif"/>
                <a:cs typeface="Microsoft Sans Serif"/>
              </a:rPr>
              <a:t>AI</a:t>
            </a:r>
            <a:r>
              <a:rPr sz="1150" spc="-25" dirty="0">
                <a:solidFill>
                  <a:srgbClr val="6B717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B717F"/>
                </a:solidFill>
                <a:latin typeface="Malgun Gothic"/>
                <a:cs typeface="Malgun Gothic"/>
              </a:rPr>
              <a:t>챗봇이</a:t>
            </a:r>
            <a:r>
              <a:rPr sz="1200" spc="-114" dirty="0">
                <a:solidFill>
                  <a:srgbClr val="6B717F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6B717F"/>
                </a:solidFill>
                <a:latin typeface="Malgun Gothic"/>
                <a:cs typeface="Malgun Gothic"/>
              </a:rPr>
              <a:t>불안</a:t>
            </a:r>
            <a:r>
              <a:rPr sz="1150" spc="-10" dirty="0">
                <a:solidFill>
                  <a:srgbClr val="6B717F"/>
                </a:solidFill>
                <a:latin typeface="Microsoft Sans Serif"/>
                <a:cs typeface="Microsoft Sans Serif"/>
              </a:rPr>
              <a:t>·</a:t>
            </a:r>
            <a:r>
              <a:rPr sz="1200" spc="-10" dirty="0">
                <a:solidFill>
                  <a:srgbClr val="6B717F"/>
                </a:solidFill>
                <a:latin typeface="Malgun Gothic"/>
                <a:cs typeface="Malgun Gothic"/>
              </a:rPr>
              <a:t>우울</a:t>
            </a:r>
            <a:r>
              <a:rPr sz="1200" spc="-110" dirty="0">
                <a:solidFill>
                  <a:srgbClr val="6B717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6B717F"/>
                </a:solidFill>
                <a:latin typeface="Malgun Gothic"/>
                <a:cs typeface="Malgun Gothic"/>
              </a:rPr>
              <a:t>완화에</a:t>
            </a:r>
            <a:r>
              <a:rPr sz="1200" spc="-114" dirty="0">
                <a:solidFill>
                  <a:srgbClr val="6B717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6B717F"/>
                </a:solidFill>
                <a:latin typeface="Malgun Gothic"/>
                <a:cs typeface="Malgun Gothic"/>
              </a:rPr>
              <a:t>통계적으로</a:t>
            </a:r>
            <a:r>
              <a:rPr sz="1200" spc="-110" dirty="0">
                <a:solidFill>
                  <a:srgbClr val="6B717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6B717F"/>
                </a:solidFill>
                <a:latin typeface="Malgun Gothic"/>
                <a:cs typeface="Malgun Gothic"/>
              </a:rPr>
              <a:t>유의한</a:t>
            </a:r>
            <a:r>
              <a:rPr sz="1200" spc="-114" dirty="0">
                <a:solidFill>
                  <a:srgbClr val="6B717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6B717F"/>
                </a:solidFill>
                <a:latin typeface="Malgun Gothic"/>
                <a:cs typeface="Malgun Gothic"/>
              </a:rPr>
              <a:t>효과</a:t>
            </a:r>
            <a:endParaRPr sz="12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200" dirty="0">
              <a:latin typeface="Malgun Gothic"/>
              <a:cs typeface="Malgun Gothic"/>
            </a:endParaRPr>
          </a:p>
          <a:p>
            <a:pPr marL="231775">
              <a:lnSpc>
                <a:spcPct val="100000"/>
              </a:lnSpc>
            </a:pPr>
            <a:r>
              <a:rPr sz="1650" spc="145" dirty="0">
                <a:latin typeface="Batang"/>
                <a:cs typeface="Batang"/>
              </a:rPr>
              <a:t>기타</a:t>
            </a:r>
            <a:r>
              <a:rPr sz="1650" spc="-95" dirty="0">
                <a:latin typeface="Batang"/>
                <a:cs typeface="Batang"/>
              </a:rPr>
              <a:t> </a:t>
            </a:r>
            <a:r>
              <a:rPr sz="1700" spc="195" dirty="0">
                <a:latin typeface="Batang"/>
                <a:cs typeface="Batang"/>
              </a:rPr>
              <a:t>참</a:t>
            </a:r>
            <a:r>
              <a:rPr sz="1300" spc="195" dirty="0">
                <a:latin typeface="Batang"/>
                <a:cs typeface="Batang"/>
              </a:rPr>
              <a:t>고</a:t>
            </a:r>
            <a:r>
              <a:rPr sz="1650" spc="195" dirty="0">
                <a:latin typeface="Batang"/>
                <a:cs typeface="Batang"/>
              </a:rPr>
              <a:t>자료</a:t>
            </a:r>
            <a:endParaRPr sz="16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</a:pPr>
            <a:endParaRPr sz="150" dirty="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0" dirty="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국내</a:t>
            </a:r>
            <a:r>
              <a:rPr sz="1250" spc="-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대학생</a:t>
            </a:r>
            <a:r>
              <a:rPr sz="1250" spc="-6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정신건강</a:t>
            </a:r>
            <a:r>
              <a:rPr sz="1250" spc="-6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실태조사</a:t>
            </a:r>
            <a:r>
              <a:rPr sz="1250" spc="-5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Malgun Gothic"/>
                <a:cs typeface="Malgun Gothic"/>
              </a:rPr>
              <a:t>보고서</a:t>
            </a:r>
            <a:endParaRPr sz="1250" dirty="0">
              <a:latin typeface="Malgun Gothic"/>
              <a:cs typeface="Malgun Gothic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025" y="6562725"/>
            <a:ext cx="123824" cy="20002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187450" y="6521450"/>
            <a:ext cx="256857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인공지능</a:t>
            </a:r>
            <a:r>
              <a:rPr sz="1250" spc="-70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심리상담</a:t>
            </a:r>
            <a:r>
              <a:rPr sz="1250" spc="-5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dirty="0">
                <a:solidFill>
                  <a:srgbClr val="494949"/>
                </a:solidFill>
                <a:latin typeface="Malgun Gothic"/>
                <a:cs typeface="Malgun Gothic"/>
              </a:rPr>
              <a:t>윤리</a:t>
            </a:r>
            <a:r>
              <a:rPr sz="1250" spc="-55" dirty="0">
                <a:solidFill>
                  <a:srgbClr val="494949"/>
                </a:solidFill>
                <a:latin typeface="Malgun Gothic"/>
                <a:cs typeface="Malgun Gothic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Malgun Gothic"/>
                <a:cs typeface="Malgun Gothic"/>
              </a:rPr>
              <a:t>가이드라인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150600" y="6436182"/>
            <a:ext cx="76708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656565"/>
                </a:solidFill>
                <a:latin typeface="Georgia"/>
                <a:cs typeface="Georgia"/>
              </a:rPr>
              <a:t>Page</a:t>
            </a:r>
            <a:r>
              <a:rPr sz="1200" spc="95" dirty="0">
                <a:solidFill>
                  <a:srgbClr val="656565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656565"/>
                </a:solidFill>
                <a:latin typeface="Georgia"/>
                <a:cs typeface="Georgia"/>
              </a:rPr>
              <a:t>1</a:t>
            </a:r>
            <a:r>
              <a:rPr lang="en-US" sz="1200" spc="-10" dirty="0">
                <a:solidFill>
                  <a:srgbClr val="656565"/>
                </a:solidFill>
                <a:latin typeface="Georgia"/>
                <a:cs typeface="Georgia"/>
              </a:rPr>
              <a:t>8</a:t>
            </a:r>
            <a:r>
              <a:rPr sz="1200" spc="-10" dirty="0">
                <a:solidFill>
                  <a:srgbClr val="656565"/>
                </a:solidFill>
                <a:latin typeface="Georgia"/>
                <a:cs typeface="Georgia"/>
              </a:rPr>
              <a:t>/18</a:t>
            </a:r>
            <a:endParaRPr sz="12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1869</Words>
  <Application>Microsoft Office PowerPoint</Application>
  <PresentationFormat>사용자 지정</PresentationFormat>
  <Paragraphs>652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40" baseType="lpstr">
      <vt:lpstr>Microsoft YaHei</vt:lpstr>
      <vt:lpstr>Yu Gothic</vt:lpstr>
      <vt:lpstr>Malgun Gothic</vt:lpstr>
      <vt:lpstr>Batang</vt:lpstr>
      <vt:lpstr>한컴산뜻돋움</vt:lpstr>
      <vt:lpstr>함초롬바탕</vt:lpstr>
      <vt:lpstr>Arial</vt:lpstr>
      <vt:lpstr>Arial Narrow</vt:lpstr>
      <vt:lpstr>Book Antiqua</vt:lpstr>
      <vt:lpstr>Calibri</vt:lpstr>
      <vt:lpstr>Californian FB</vt:lpstr>
      <vt:lpstr>Cambria</vt:lpstr>
      <vt:lpstr>Century Gothic</vt:lpstr>
      <vt:lpstr>Comic Sans MS</vt:lpstr>
      <vt:lpstr>Franklin Gothic Demi</vt:lpstr>
      <vt:lpstr>Georgia</vt:lpstr>
      <vt:lpstr>Gill Sans MT</vt:lpstr>
      <vt:lpstr>Lucida Sans</vt:lpstr>
      <vt:lpstr>Microsoft Sans Serif</vt:lpstr>
      <vt:lpstr>Times New Roman</vt:lpstr>
      <vt:lpstr>Trebuchet MS</vt:lpstr>
      <vt:lpstr>Office Theme</vt:lpstr>
      <vt:lpstr>AI 활용 심리치료 서비스</vt:lpstr>
      <vt:lpstr> 프로젝트 배경 및 필요성</vt:lpstr>
      <vt:lpstr> 프로젝트 목표 및 기대효과</vt:lpstr>
      <vt:lpstr>  핵심 아이디어 및 접근 방법</vt:lpstr>
      <vt:lpstr>적용 AI 기술 개요</vt:lpstr>
      <vt:lpstr>모델 구조 및 알고리즘 설계</vt:lpstr>
      <vt:lpstr>데이터 수집 및 윤리적 고려사항</vt:lpstr>
      <vt:lpstr>구현 도구 및 개발 환경</vt:lpstr>
      <vt:lpstr>프로젝트 일정표</vt:lpstr>
      <vt:lpstr>팀 역할분담</vt:lpstr>
      <vt:lpstr>위험 요소 및 대응 방안</vt:lpstr>
      <vt:lpstr>성능 평가 지표 설정</vt:lpstr>
      <vt:lpstr>사용자 테스트 또는 설문 계획</vt:lpstr>
      <vt:lpstr>결과 분석 및 개선 방안 제시</vt:lpstr>
      <vt:lpstr>기대효과 요약</vt:lpstr>
      <vt:lpstr>후속 연구 및 서비스 확장 방향</vt:lpstr>
      <vt:lpstr>한계점 및 개선 가능성</vt:lpstr>
      <vt:lpstr>참고 문헌 및 자료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활용 심리치료 서비스</dc:title>
  <cp:lastModifiedBy>102</cp:lastModifiedBy>
  <cp:revision>12</cp:revision>
  <dcterms:created xsi:type="dcterms:W3CDTF">2025-11-11T05:28:27Z</dcterms:created>
  <dcterms:modified xsi:type="dcterms:W3CDTF">2025-11-11T06:13:05Z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2025-11-11T00:00:00Z</vt:filetime>
  </property>
  <property fmtid="{D5CDD505-2E9C-101B-9397-08002B2CF9AE}" pid="3" name="LastSaved">
    <vt:filetime>2025-11-11T00:00:00Z</vt:filetime>
  </property>
  <property fmtid="{D5CDD505-2E9C-101B-9397-08002B2CF9AE}" pid="4" name="Producer">
    <vt:lpwstr>GPL Ghostscript 9.26</vt:lpwstr>
  </property>
</Properties>
</file>